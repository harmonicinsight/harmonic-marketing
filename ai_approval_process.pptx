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"/>
              </a:defRPr>
            </a:pPr>
            <a:r>
              <a:t>AI時代の承認プロセス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8CAE4"/>
                </a:solidFill>
                <a:latin typeface="Meiryo"/>
              </a:defRPr>
            </a:pPr>
            <a:r>
              <a:t>人×AIの協働で実現する、速く・正確で・透明な承認ワークフロー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17520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eiryo"/>
              </a:defRPr>
            </a:pPr>
            <a:r>
              <a:t>― 経費精算の事例から学ぶ、AI承認の一般フレームワーク 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従来の承認プロセスの課題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19456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Meiryo"/>
              </a:defRPr>
            </a:pPr>
            <a:r>
              <a:t>遅延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承認者の不在・多忙で</a:t>
            </a:r>
            <a:br/>
            <a:r>
              <a:t>プロセスが停滞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1945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eiryo"/>
              </a:defRPr>
            </a:pPr>
            <a:r>
              <a:t>属人化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判断基準が承認者ごとに</a:t>
            </a:r>
            <a:br/>
            <a:r>
              <a:t>ばらつき品質が不安定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21945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eiryo"/>
              </a:defRPr>
            </a:pPr>
            <a:r>
              <a:t>形骸化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件数が多く確認が</a:t>
            </a:r>
            <a:br/>
            <a:r>
              <a:t>形式的になりがち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219456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Meiryo"/>
              </a:defRPr>
            </a:pPr>
            <a:r>
              <a:t>不透明性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なぜ承認/却下されたか</a:t>
            </a:r>
            <a:br/>
            <a:r>
              <a:t>理由が残らない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Meiryo"/>
              </a:defRPr>
            </a:pPr>
            <a:r>
              <a:t>これらの課題は業種・規模を問わず、あらゆる承認プロセスに共通する構造的問題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AI承認の基本アーキテクチャ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920240" cy="76200"/>
          </a:xfrm>
          <a:prstGeom prst="roundRect">
            <a:avLst>
              <a:gd name="adj" fmla="val 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280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7280"/>
                </a:solidFill>
                <a:latin typeface="Meiryo"/>
              </a:defRPr>
            </a:pPr>
            <a:r>
              <a:t>申請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従業員が</a:t>
            </a:r>
            <a:br/>
            <a:r>
              <a:t>申請を提出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788920"/>
            <a:ext cx="274320" cy="36576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201168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1920240" cy="762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C7"/>
                </a:solidFill>
                <a:latin typeface="Meiryo"/>
              </a:defRPr>
            </a:pPr>
            <a:r>
              <a:t>AIチェック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ルール・AIが</a:t>
            </a:r>
            <a:br/>
            <a:r>
              <a:t>自動検証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09160" y="2788920"/>
            <a:ext cx="274320" cy="36576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201168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011680"/>
            <a:ext cx="192024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eiryo"/>
              </a:defRPr>
            </a:pPr>
            <a:r>
              <a:t>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OK / NG</a:t>
            </a:r>
            <a:br/>
            <a:r>
              <a:t>自動振り分け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95160" y="2788920"/>
            <a:ext cx="274320" cy="36576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201168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2011680"/>
            <a:ext cx="192024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Meiryo"/>
              </a:defRPr>
            </a:pPr>
            <a:r>
              <a:t>自動承認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基準適合なら</a:t>
            </a:r>
            <a:br/>
            <a:r>
              <a:t>即時承認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281160" y="2788920"/>
            <a:ext cx="274320" cy="36576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01168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011680"/>
            <a:ext cx="192024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4688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eiryo"/>
              </a:defRPr>
            </a:pPr>
            <a:r>
              <a:t>人間レビュー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要確認案件は</a:t>
            </a:r>
            <a:br/>
            <a:r>
              <a:t>担当者へ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572000"/>
            <a:ext cx="9418320" cy="137160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Meiryo"/>
              </a:defRPr>
            </a:pPr>
            <a:r>
              <a:t>核心：Human-in-the-Loop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1663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AIが処理できる定型判断は自動化し、例外・判断が必要なケースのみ人間にエスカレーション。</a:t>
            </a:r>
            <a:br/>
            <a:r>
              <a:t>完全自動化ではなく「AIと人の最適な分担」がポイント。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AIが担う承認チェック機能（一般化）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Meiryo"/>
              </a:defRPr>
            </a:pPr>
            <a:r>
              <a:t>ルール準拠チェック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社内規定・法規制への</a:t>
            </a:r>
            <a:br/>
            <a:r>
              <a:t>適合を自動検証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3200400" cy="594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48132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eiryo"/>
              </a:defRPr>
            </a:pPr>
            <a:r>
              <a:t>規定、ポリシー、</a:t>
            </a:r>
            <a:br/>
            <a:r>
              <a:t>法令との照合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Meiryo"/>
              </a:defRPr>
            </a:pPr>
            <a:r>
              <a:t>書類・データ完全性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必要書類の添付漏れ、</a:t>
            </a:r>
            <a:br/>
            <a:r>
              <a:t>必須項目の記入漏れ検出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468880"/>
            <a:ext cx="3200400" cy="594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48716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eiryo"/>
              </a:defRPr>
            </a:pPr>
            <a:r>
              <a:t>領収書、契約書、</a:t>
            </a:r>
            <a:br/>
            <a:r>
              <a:t>証明書類の確認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Meiryo"/>
              </a:defRPr>
            </a:pPr>
            <a:r>
              <a:t>整合性・妥当性検証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474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金額・日付・分類の</a:t>
            </a:r>
            <a:br/>
            <a:r>
              <a:t>論理的整合性を確認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474720"/>
            <a:ext cx="3200400" cy="594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4930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eiryo"/>
              </a:defRPr>
            </a:pPr>
            <a:r>
              <a:t>科目、数値範囲、</a:t>
            </a:r>
            <a:br/>
            <a:r>
              <a:t>日付矛盾の検出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80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Meiryo"/>
              </a:defRPr>
            </a:pPr>
            <a:r>
              <a:t>コンプライアンス確認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480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法的要件・外部基準</a:t>
            </a:r>
            <a:br/>
            <a:r>
              <a:t>への準拠を検証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4480560"/>
            <a:ext cx="3200400" cy="594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4988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eiryo"/>
              </a:defRPr>
            </a:pPr>
            <a:r>
              <a:t>インボイス番号、</a:t>
            </a:r>
            <a:br/>
            <a:r>
              <a:t>税務要件の確認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5321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Meiryo"/>
              </a:defRPr>
            </a:pPr>
            <a:r>
              <a:t>異常検知・リスク評価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486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過去データとの比較で</a:t>
            </a:r>
            <a:br/>
            <a:r>
              <a:t>異常値・不正パターンを検出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5486400"/>
            <a:ext cx="3200400" cy="594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550468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eiryo"/>
              </a:defRPr>
            </a:pPr>
            <a:r>
              <a:t>統計的外れ値、</a:t>
            </a:r>
            <a:br/>
            <a:r>
              <a:t>重複申請の検知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AI承認導入の3原則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Meiryo"/>
              </a:defRPr>
            </a:pPr>
            <a:r>
              <a:t>透明性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8"/>
                </a:solidFill>
                <a:latin typeface="Meiryo"/>
              </a:defRPr>
            </a:pPr>
            <a:r>
              <a:t>AIの判断理由を必ず可視化する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NG理由をコメントとして表示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判断に使用したルールを明示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監査証跡（Audit Trail）を自動記録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Meiryo"/>
              </a:defRPr>
            </a:pPr>
            <a:r>
              <a:t>段階性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Gradual Adoption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200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8"/>
                </a:solidFill>
                <a:latin typeface="Meiryo"/>
              </a:defRPr>
            </a:pPr>
            <a:r>
              <a:t>小さく始めて段階的に拡大する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まず定型的な承認から自動化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480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成功実績を積み対象領域を拡大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人間の監視レベルを徐々に調整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64592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Meiryo"/>
              </a:defRPr>
            </a:pPr>
            <a:r>
              <a:t>協働性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Human-AI 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4F8"/>
                </a:solidFill>
                <a:latin typeface="Meiryo"/>
              </a:defRPr>
            </a:pPr>
            <a:r>
              <a:t>AIと人間の役割を明確に分担する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AIは定型チェック・一次判断を担当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480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人間は例外対応・最終判断に集中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4F8"/>
                </a:solidFill>
                <a:latin typeface="Meiryo"/>
              </a:defRPr>
            </a:pPr>
            <a:r>
              <a:t>• 全従業員がAIの処理内容を理解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適用領域の広がり ― 経費精算を超えて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8470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導入済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Meiryo"/>
              </a:defRPr>
            </a:pPr>
            <a:r>
              <a:t>経費精算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領収書・規定チェック</a:t>
            </a:r>
            <a:br/>
            <a:r>
              <a:t>→ 自動承認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39" y="18288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8470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拡張可能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Meiryo"/>
              </a:defRPr>
            </a:pPr>
            <a:r>
              <a:t>稟議・決裁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金額・権限に応じた</a:t>
            </a:r>
            <a:br/>
            <a:r>
              <a:t>ルートを自動判定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41280" y="18288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18470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拡張可能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Meiryo"/>
              </a:defRPr>
            </a:pPr>
            <a:r>
              <a:t>契約審査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条項リスク分析</a:t>
            </a:r>
            <a:br/>
            <a:r>
              <a:t>→ 法務エスカレーション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0" y="429768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拡張可能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Meiryo"/>
              </a:defRPr>
            </a:pPr>
            <a:r>
              <a:t>人事申請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勤怠・休暇の規定</a:t>
            </a:r>
            <a:br/>
            <a:r>
              <a:t>適合を自動確認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1148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39" y="429768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39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拡張可能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Meiryo"/>
              </a:defRPr>
            </a:pPr>
            <a:r>
              <a:t>調達・発注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5029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予算残・取引先評価</a:t>
            </a:r>
            <a:br/>
            <a:r>
              <a:t>を自動検証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1148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241280" y="429768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4315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拡張可能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Meiryo"/>
              </a:defRPr>
            </a:pPr>
            <a:r>
              <a:t>コード/リリース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029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品質基準・テスト結果</a:t>
            </a:r>
            <a:br/>
            <a:r>
              <a:t>の自動ゲーティング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導入ロードマップ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13716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1828800"/>
            <a:ext cx="457200" cy="45720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3108960" cy="34747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Meiryo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アセスメント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Meiryo"/>
              </a:defRPr>
            </a:pPr>
            <a:r>
              <a:t>1〜2ヶ月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現行承認フローの可視化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自動化対象の選定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ルール・規定の整理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1828800"/>
            <a:ext cx="457200" cy="45720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743200"/>
            <a:ext cx="3108960" cy="34747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Meiryo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PoC・パイロット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Meiryo"/>
              </a:defRPr>
            </a:pPr>
            <a:r>
              <a:t>2〜3ヶ月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小規模部門で試行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AIモデルのチューニング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ユーザーフィードバック収集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1828800"/>
            <a:ext cx="457200" cy="45720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743200"/>
            <a:ext cx="3108960" cy="34747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Meiryo"/>
              </a:defRPr>
            </a:pPr>
            <a: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eiryo"/>
              </a:defRPr>
            </a:pPr>
            <a:r>
              <a:t>本番展開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Meiryo"/>
              </a:defRPr>
            </a:pPr>
            <a:r>
              <a:t>1〜2ヶ月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全社展開・教育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モニタリング体制構築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• 継続的改善サイクル確立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まとめ：AI承認がもたらす変革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560320" cy="635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Meiryo"/>
              </a:defRPr>
            </a:pPr>
            <a:r>
              <a:t>スピード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承認リードタイムを</a:t>
            </a:r>
            <a:br/>
            <a:r>
              <a:t>最大90%短縮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74320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743200"/>
            <a:ext cx="256032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Meiryo"/>
              </a:defRPr>
            </a:pPr>
            <a:r>
              <a:t>正確性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749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ヒューマンエラーを</a:t>
            </a:r>
            <a:br/>
            <a:r>
              <a:t>大幅に削減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743200"/>
            <a:ext cx="2560320" cy="635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Meiryo"/>
              </a:defRPr>
            </a:pPr>
            <a:r>
              <a:t>透明性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全判断の根拠が</a:t>
            </a:r>
            <a:br/>
            <a:r>
              <a:t>記録・追跡可能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74320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743200"/>
            <a:ext cx="2560320" cy="635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eiryo"/>
              </a:defRPr>
            </a:pPr>
            <a:r>
              <a:t>スケーラビリティ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49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件数増加にも</a:t>
            </a:r>
            <a:br/>
            <a:r>
              <a:t>コスト比例せず対応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212080"/>
            <a:ext cx="7589520" cy="91440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534924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CAE4"/>
                </a:solidFill>
                <a:latin typeface="Meiryo"/>
              </a:defRPr>
            </a:pPr>
            <a:r>
              <a:t>AIは承認者を置き換えるのではなく、承認者がより価値の高い判断に集中できる環境をつくる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