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"/>
              </a:defRPr>
            </a:pPr>
            <a:r>
              <a:t>AIエージェントの進化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8CAE4"/>
                </a:solidFill>
                <a:latin typeface="Meiryo"/>
              </a:defRPr>
            </a:pPr>
            <a:r>
              <a:t>RPAの次に来るもの ― 企業が本当に必要とするAI自動化とは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840480"/>
            <a:ext cx="3017520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Meiryo"/>
              </a:defRPr>
            </a:pPr>
            <a:r>
              <a:t>― 汎用AIツールから業務特化型AIオフィスへ 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従来型自動化（RPA）の限界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4480" y="2194560"/>
            <a:ext cx="914400" cy="914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  <a:latin typeface="Meiryo"/>
              </a:defRPr>
            </a:pPr>
            <a:r>
              <a:t>脆弱性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UI変更で</a:t>
            </a:r>
            <a:br/>
            <a:r>
              <a:t>シナリオが壊れる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219456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Meiryo"/>
              </a:defRPr>
            </a:pPr>
            <a:r>
              <a:t>高コスト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開発・保守に</a:t>
            </a:r>
            <a:br/>
            <a:r>
              <a:t>専門人材が必要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0" y="2194560"/>
            <a:ext cx="914400" cy="914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  <a:latin typeface="Meiryo"/>
              </a:defRPr>
            </a:pPr>
            <a:r>
              <a:t>柔軟性の欠如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例外処理に</a:t>
            </a:r>
            <a:br/>
            <a:r>
              <a:t>対応できない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8288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0" y="219456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Meiryo"/>
              </a:defRPr>
            </a:pPr>
            <a:r>
              <a:t>スケールの壁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業務が増えるほど</a:t>
            </a:r>
            <a:br/>
            <a:r>
              <a:t>シナリオも増加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Meiryo"/>
              </a:defRPr>
            </a:pPr>
            <a:r>
              <a:t>RPAは「画面操作の記録・再生」であり、業務の本質的な理解には至らない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AIエージェントの4つの基本機能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76200"/>
          </a:xfrm>
          <a:prstGeom prst="roundRect">
            <a:avLst>
              <a:gd name="adj" fmla="val 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011680"/>
            <a:ext cx="914400" cy="91440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1488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C7"/>
                </a:solidFill>
                <a:latin typeface="Meiryo"/>
              </a:defRPr>
            </a:pPr>
            <a:r>
              <a:t>知覚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eiryo"/>
              </a:defRPr>
            </a:pPr>
            <a:r>
              <a:t>Perception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テキスト・画像・データなど</a:t>
            </a:r>
            <a:br/>
            <a:r>
              <a:t>多様な入力を取得・理解する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64592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645920"/>
            <a:ext cx="2560320" cy="762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201168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1488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  <a:latin typeface="Meiryo"/>
              </a:defRPr>
            </a:pPr>
            <a:r>
              <a:t>推論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eiryo"/>
              </a:defRPr>
            </a:pPr>
            <a:r>
              <a:t>Reasoning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大規模言語モデル（LLM）が</a:t>
            </a:r>
            <a:br/>
            <a:r>
              <a:t>文脈を踏まえて思考する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4592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645920"/>
            <a:ext cx="2560320" cy="762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23760" y="201168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1488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Meiryo"/>
              </a:defRPr>
            </a:pPr>
            <a:r>
              <a:t>計画・実行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eiryo"/>
              </a:defRPr>
            </a:pPr>
            <a:r>
              <a:t>Planning &amp;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ツールやAPIを使って</a:t>
            </a:r>
            <a:br/>
            <a:r>
              <a:t>具体的なアクションを実行する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645920"/>
            <a:ext cx="2560320" cy="34747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35440" y="1645920"/>
            <a:ext cx="2560320" cy="762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58400" y="201168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21488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Meiryo"/>
              </a:defRPr>
            </a:pPr>
            <a:r>
              <a:t>学習・記憶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566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eiryo"/>
              </a:defRPr>
            </a:pPr>
            <a:r>
              <a:t>Memory &amp;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023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4F8"/>
                </a:solidFill>
                <a:latin typeface="Meiryo"/>
              </a:defRPr>
            </a:pPr>
            <a:r>
              <a:t>過去のやり取りを保持し</a:t>
            </a:r>
            <a:br/>
            <a:r>
              <a:t>次の判断に活かす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71600" y="5486400"/>
            <a:ext cx="9418320" cy="91440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6235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8CAE4"/>
                </a:solidFill>
                <a:latin typeface="Meiryo"/>
              </a:defRPr>
            </a:pPr>
            <a:r>
              <a:t>RPAは「操作の再生」、AIエージェントは「判断を伴う自律行動」― ここが根本的な違い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AIエージェントの2つのアプローチ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762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Meiryo"/>
              </a:defRPr>
            </a:pPr>
            <a:r>
              <a:t>GUI操作型（画面認識型）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  PC画面のスクリーンショットを撮影して認識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  マウス・キーボード操作をシミュレーション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  仮想デスクトップ上で動作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9767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  既存UIをそのまま利用可能（導入が容易）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  画面変更に弱い・動作が比較的遅い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029200" cy="438912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5029200" cy="762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Meiryo"/>
              </a:defRPr>
            </a:pPr>
            <a:r>
              <a:t>API統合型（システム連携型）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517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  ファイルシステムやAPIに直接アクセス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004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  バックグラウンドで高速処理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74903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  隔離された仮想環境でセキュアに実行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29767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  プラグインや外部サービスとの連携が容易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846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  API非対応のシステムには適用困難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6217920"/>
            <a:ext cx="9418320" cy="45720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62636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8CAE4"/>
                </a:solidFill>
                <a:latin typeface="Meiryo"/>
              </a:defRPr>
            </a:pPr>
            <a:r>
              <a:t>企業向けにはAPI統合型が主流になりつつあるが、レガシーシステムではGUI型も有効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ソフトウェア業界への衝撃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8CAE4"/>
                </a:solidFill>
                <a:latin typeface="Meiryo"/>
              </a:defRPr>
            </a:pPr>
            <a:r>
              <a:t>AIエージェントが「ソフトウェアのビジネスモデル」を根本から揺さぶっている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188720"/>
          </a:xfrm>
          <a:prstGeom prst="roundRect">
            <a:avLst>
              <a:gd name="adj" fmla="val 3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76200" cy="1188720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Meiryo"/>
              </a:defRPr>
            </a:pPr>
            <a:r>
              <a:t>UIの価値低下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48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AIがAPIで直接操作するなら</a:t>
            </a:r>
            <a:br/>
            <a:r>
              <a:t>リッチなUIは不要になる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19456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eiryo"/>
              </a:defRPr>
            </a:pPr>
            <a:r>
              <a:t>SaaS企業の差別化ポイントが揺らぐ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0698480" cy="1188720"/>
          </a:xfrm>
          <a:prstGeom prst="roundRect">
            <a:avLst>
              <a:gd name="adj" fmla="val 3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76200" cy="118872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Meiryo"/>
              </a:defRPr>
            </a:pPr>
            <a:r>
              <a:t>「席数課金」の崩壊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6118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AIエージェントは人間ではないが</a:t>
            </a:r>
            <a:br/>
            <a:r>
              <a:t>ソフトウェアを利用する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65760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749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eiryo"/>
              </a:defRPr>
            </a:pPr>
            <a:r>
              <a:t>ユーザー数ベースの価格体系が破綻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698480" cy="1188720"/>
          </a:xfrm>
          <a:prstGeom prst="roundRect">
            <a:avLst>
              <a:gd name="adj" fmla="val 3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76200" cy="118872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074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B5CF6"/>
                </a:solidFill>
                <a:latin typeface="Meiryo"/>
              </a:defRPr>
            </a:pPr>
            <a:r>
              <a:t>統合プラットフォーム化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0749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4F8"/>
                </a:solidFill>
                <a:latin typeface="Meiryo"/>
              </a:defRPr>
            </a:pPr>
            <a:r>
              <a:t>個別SaaSを束ねる</a:t>
            </a:r>
            <a:br/>
            <a:r>
              <a:t>AIオーケストレーターの台頭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512064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5212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eiryo"/>
              </a:defRPr>
            </a:pPr>
            <a:r>
              <a:t>単機能SaaSの存在意義が問われる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Meiryo"/>
              </a:defRPr>
            </a:pPr>
            <a:r>
              <a:t>「SaaSpocalypse」― AIエージェントの台頭でSaaS企業の時価総額が急落する現象が既に起きている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eiryo"/>
              </a:defRPr>
            </a:pPr>
            <a:r>
              <a:t>マルチエージェント ― チームで働くAI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828800"/>
            <a:ext cx="3931920" cy="1371600"/>
          </a:xfrm>
          <a:prstGeom prst="roundRect">
            <a:avLst>
              <a:gd name="adj" fmla="val 500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オーケストレーター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560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eiryo"/>
              </a:defRPr>
            </a:pPr>
            <a:r>
              <a:t>タスクを分割し各エージェントに振り分け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2286000" cy="635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eiryo"/>
              </a:defRPr>
            </a:pPr>
            <a:r>
              <a:t>調査エージェント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情報収集・</a:t>
            </a:r>
            <a:br/>
            <a:r>
              <a:t>リサーチ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384048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3840480"/>
            <a:ext cx="2286000" cy="635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eiryo"/>
              </a:defRPr>
            </a:pPr>
            <a:r>
              <a:t>分析エージェント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663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データ分析・</a:t>
            </a:r>
            <a:br/>
            <a:r>
              <a:t>レポート作成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84048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3840480"/>
            <a:ext cx="2286000" cy="635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eiryo"/>
              </a:defRPr>
            </a:pPr>
            <a:r>
              <a:t>実行エージェント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663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API操作・</a:t>
            </a:r>
            <a:br/>
            <a:r>
              <a:t>ファイル処理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384048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09760" y="3840480"/>
            <a:ext cx="2286000" cy="635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Meiryo"/>
              </a:defRPr>
            </a:pPr>
            <a:r>
              <a:t>検証エージェント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4663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F4F8"/>
                </a:solidFill>
                <a:latin typeface="Meiryo"/>
              </a:defRPr>
            </a:pPr>
            <a:r>
              <a:t>品質チェック・</a:t>
            </a:r>
            <a:br/>
            <a:r>
              <a:t>レビュー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828800" y="3246120"/>
            <a:ext cx="274320" cy="457200"/>
          </a:xfrm>
          <a:prstGeom prst="down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4754880" y="3246120"/>
            <a:ext cx="274320" cy="457200"/>
          </a:xfrm>
          <a:prstGeom prst="down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7680960" y="3246120"/>
            <a:ext cx="274320" cy="457200"/>
          </a:xfrm>
          <a:prstGeom prst="down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10607040" y="3246120"/>
            <a:ext cx="274320" cy="457200"/>
          </a:xfrm>
          <a:prstGeom prst="down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371600" y="5760720"/>
            <a:ext cx="9418320" cy="73152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58521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8CAE4"/>
                </a:solidFill>
                <a:latin typeface="Meiryo"/>
              </a:defRPr>
            </a:pPr>
            <a:r>
              <a:t>1つのAIが全部やるのではなく、専門化されたAIがチームとして協働する</a:t>
            </a:r>
            <a:br/>
            <a:r>
              <a:t>― これが次世代のAIワークフロー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eiryo"/>
              </a:defRPr>
            </a:pPr>
            <a:r>
              <a:t>提言：汎用AIツールではなく「AIオフィス」を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63500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Meiryo"/>
              </a:defRPr>
            </a:pPr>
            <a:r>
              <a:t>汎用AIツールの課題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  毎回プロンプトを考える必要がある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  業務知識がないため出力品質にバラつき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  社内ルール・文脈を都度説明する手間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51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  使いこなせる人と使えない人の格差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46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  セキュリティ・ガバナンスの管理が困難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5029200" cy="635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Meiryo"/>
              </a:defRPr>
            </a:pPr>
            <a:r>
              <a:t>AIオフィスのあるべき姿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468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  業務ごとにプロンプトがプリセット済み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063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  社内ナレッジ・ルールが組み込まれている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657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  誰でも同じ品質のアウトプットを得られる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251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  承認フロー・権限管理と統合されている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846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4F8"/>
                </a:solidFill>
                <a:latin typeface="Meiryo"/>
              </a:defRPr>
            </a:pPr>
            <a:r>
              <a:t>  業務プロセスに沿ったUIで迷わない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806440" y="3474720"/>
            <a:ext cx="548640" cy="548640"/>
          </a:xfrm>
          <a:prstGeom prst="rightArrow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8CAE4"/>
                </a:solidFill>
                <a:latin typeface="Meiryo"/>
              </a:defRPr>
            </a:pPr>
            <a:r>
              <a:t>必要なのは「何でもできるAI」ではなく「業務を知っているAI」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eiryo"/>
              </a:defRPr>
            </a:pPr>
            <a:r>
              <a:t>まとめ：これからのエンタープライズAI戦略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60320" cy="63500"/>
          </a:xfrm>
          <a:prstGeom prst="roundRect">
            <a:avLst>
              <a:gd name="adj" fmla="val 0"/>
            </a:avLst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C7"/>
                </a:solidFill>
                <a:latin typeface="Meiryo"/>
              </a:defRPr>
            </a:pPr>
            <a:r>
              <a:t>RPA → AIエージェント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操作の再生から</a:t>
            </a:r>
            <a:br/>
            <a:r>
              <a:t>判断を伴う自律行動へ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286000"/>
            <a:ext cx="2560320" cy="635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Meiryo"/>
              </a:defRPr>
            </a:pPr>
            <a:r>
              <a:t>API統合が鍵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3832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UIではなくシステム間連携</a:t>
            </a:r>
            <a:br/>
            <a:r>
              <a:t>で真の自動化を実現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2560320" cy="6350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5CF6"/>
                </a:solidFill>
                <a:latin typeface="Meiryo"/>
              </a:defRPr>
            </a:pPr>
            <a:r>
              <a:t>マルチエージェント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832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専門化されたAIが</a:t>
            </a:r>
            <a:br/>
            <a:r>
              <a:t>チームで協働する時代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2860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2286000"/>
            <a:ext cx="2560320" cy="635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651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Meiryo"/>
              </a:defRPr>
            </a:pPr>
            <a:r>
              <a:t>AIオフィス構想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3832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8"/>
                </a:solidFill>
                <a:latin typeface="Meiryo"/>
              </a:defRPr>
            </a:pPr>
            <a:r>
              <a:t>汎用ツールではなく</a:t>
            </a:r>
            <a:br/>
            <a:r>
              <a:t>業務特化型AIを構築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029200"/>
            <a:ext cx="8503920" cy="1371600"/>
          </a:xfrm>
          <a:prstGeom prst="roundRect">
            <a:avLst>
              <a:gd name="adj" fmla="val 3000"/>
            </a:avLst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52120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8CAE4"/>
                </a:solidFill>
                <a:latin typeface="Meiryo"/>
              </a:defRPr>
            </a:pPr>
            <a:r>
              <a:t>AIは道具（ツール）から同僚（コワーカー）へ進化している。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7607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0F4F8"/>
                </a:solidFill>
                <a:latin typeface="Meiryo"/>
              </a:defRPr>
            </a:pPr>
            <a:r>
              <a:t>しかし企業が求めるのは「万能な同僚」ではなく</a:t>
            </a:r>
            <a:br/>
            <a:r>
              <a:t>「自社の業務を熟知した専門チーム」である。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