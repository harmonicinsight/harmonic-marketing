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eiryo"/>
              </a:defRPr>
            </a:pPr>
            <a:r>
              <a:t>DX成功の方程式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8CAE4"/>
                </a:solidFill>
                <a:latin typeface="Meiryo"/>
              </a:defRPr>
            </a:pPr>
            <a:r>
              <a:t>受験とダイエットに学ぶ、DXツール導入後の「本当の勝負」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840480"/>
            <a:ext cx="3017520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Meiryo"/>
              </a:defRPr>
            </a:pPr>
            <a:r>
              <a:t>― ツールを買っただけでは、合格も減量もできない 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DXの現状 ― よくある失敗パターン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219456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Meiryo"/>
              </a:defRPr>
            </a:pPr>
            <a:r>
              <a:t>導入して満足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ツールを導入した</a:t>
            </a:r>
            <a:br/>
            <a:r>
              <a:t>時点でゴールだと</a:t>
            </a:r>
            <a:br/>
            <a:r>
              <a:t>錯覚してしまう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19456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eiryo"/>
              </a:defRPr>
            </a:pPr>
            <a:r>
              <a:t>運用が定着しない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現場が使わない、</a:t>
            </a:r>
            <a:br/>
            <a:r>
              <a:t>旧来のやり方に</a:t>
            </a:r>
            <a:br/>
            <a:r>
              <a:t>戻ってしまう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0" y="219456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eiryo"/>
              </a:defRPr>
            </a:pPr>
            <a:r>
              <a:t>効果が測れない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KPIが曖昧で</a:t>
            </a:r>
            <a:br/>
            <a:r>
              <a:t>成果を証明</a:t>
            </a:r>
            <a:br/>
            <a:r>
              <a:t>できない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288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0" y="219456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Meiryo"/>
              </a:defRPr>
            </a:pPr>
            <a:r>
              <a:t>経営に響かない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結局、売上も利益も</a:t>
            </a:r>
            <a:br/>
            <a:r>
              <a:t>変わらず投資対効果</a:t>
            </a:r>
            <a:br/>
            <a:r>
              <a:t>不明のまま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Meiryo"/>
              </a:defRPr>
            </a:pPr>
            <a:r>
              <a:t>DXの失敗の多くは「ツールの問題」ではなく「運用と測定の問題」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DXを「受験」に例えると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5CF6"/>
                </a:solidFill>
                <a:latin typeface="Meiryo"/>
              </a:defRPr>
            </a:pPr>
            <a:r>
              <a:t>受験の世界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77440"/>
            <a:ext cx="2194560" cy="5486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414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合格（ゴール）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4414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志望校への合格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00400"/>
            <a:ext cx="2194560" cy="548640"/>
          </a:xfrm>
          <a:prstGeom prst="roundRect">
            <a:avLst>
              <a:gd name="adj" fmla="val 30000"/>
            </a:avLst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644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テキスト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644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参考書・問題集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023360"/>
            <a:ext cx="2194560" cy="5486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0873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模試・定期テスト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0873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実力を定期的に測定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846320"/>
            <a:ext cx="2194560" cy="548640"/>
          </a:xfrm>
          <a:prstGeom prst="roundRect">
            <a:avLst>
              <a:gd name="adj" fmla="val 3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9103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学習管理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9103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日々の勉強習慣の継続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6304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6C7"/>
                </a:solidFill>
                <a:latin typeface="Meiryo"/>
              </a:defRPr>
            </a:pPr>
            <a:r>
              <a:t>DXの世界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2377440"/>
            <a:ext cx="2194560" cy="5486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4414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合格（ゴール）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414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売上・利益の向上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3200400"/>
            <a:ext cx="2194560" cy="548640"/>
          </a:xfrm>
          <a:prstGeom prst="roundRect">
            <a:avLst>
              <a:gd name="adj" fmla="val 30000"/>
            </a:avLst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2644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DXツール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2644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SaaS・クラウド・AI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023360"/>
            <a:ext cx="2194560" cy="5486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0873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効果測定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0873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KPIの定期モニタリング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4846320"/>
            <a:ext cx="2194560" cy="548640"/>
          </a:xfrm>
          <a:prstGeom prst="roundRect">
            <a:avLst>
              <a:gd name="adj" fmla="val 3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9103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運用定着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9103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日々のツール活用と改善</a:t>
            </a:r>
          </a:p>
        </p:txBody>
      </p:sp>
      <p:sp>
        <p:nvSpPr>
          <p:cNvPr id="32" name="Left-Right Arrow 31"/>
          <p:cNvSpPr/>
          <p:nvPr/>
        </p:nvSpPr>
        <p:spPr>
          <a:xfrm>
            <a:off x="5577840" y="3474720"/>
            <a:ext cx="1005840" cy="457200"/>
          </a:xfrm>
          <a:prstGeom prst="left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71600" y="548640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55778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8CAE4"/>
                </a:solidFill>
                <a:latin typeface="Meiryo"/>
              </a:defRPr>
            </a:pPr>
            <a:r>
              <a:t>テキスト（ツール）を買っただけでは合格（売上向上）できない。模試（効果測定）と学習管理（運用定着）が不可欠。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DXを「ダイエット」に例えると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8CAE4"/>
                </a:solidFill>
                <a:latin typeface="Meiryo"/>
              </a:defRPr>
            </a:pPr>
            <a:r>
              <a:t>受験は合否（0 or 1）だが、ダイエットは数値の継続改善 ― DXのKPIにより近い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828800" cy="64008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ゴール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3736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体重の削減・体型改善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73736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売上向上・コスト削減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1828800" cy="640080"/>
          </a:xfrm>
          <a:prstGeom prst="roundRect">
            <a:avLst>
              <a:gd name="adj" fmla="val 30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ツール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65176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6974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ランニングマシン</a:t>
            </a:r>
            <a:br/>
            <a:r>
              <a:t>トレーニンググッズ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265176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6974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SaaS・RPA</a:t>
            </a:r>
            <a:br/>
            <a:r>
              <a:t>クラウドツール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1828800" cy="64008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測定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56616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6118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体重計・体組成計</a:t>
            </a:r>
            <a:br/>
            <a:r>
              <a:t>定期的な計測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356616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6118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KPIダッシュボード</a:t>
            </a:r>
            <a:br/>
            <a:r>
              <a:t>月次レビュー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80560"/>
            <a:ext cx="1828800" cy="64008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継続の仕組み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48056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5262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トレーナー・記録アプリ</a:t>
            </a:r>
            <a:br/>
            <a:r>
              <a:t>仲間との共有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448056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5262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推進チーム・定例会議</a:t>
            </a:r>
            <a:br/>
            <a:r>
              <a:t>利用状況の可視化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94960"/>
            <a:ext cx="1828800" cy="64008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86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よくある失敗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34640" y="539496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54406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器具を買って満足</a:t>
            </a:r>
            <a:br/>
            <a:r>
              <a:t>三日坊主で挫折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539496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54406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ツールを導入して満足</a:t>
            </a:r>
            <a:br/>
            <a:r>
              <a:t>現場に定着しない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1417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eiryo"/>
              </a:defRPr>
            </a:pPr>
            <a:r>
              <a:t>ダイエット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1417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C7"/>
                </a:solidFill>
                <a:latin typeface="Meiryo"/>
              </a:defRPr>
            </a:pPr>
            <a:r>
              <a:t>DX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71600" y="6309360"/>
            <a:ext cx="9418320" cy="54864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0" y="6126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eiryo"/>
              </a:defRPr>
            </a:pPr>
            <a:r>
              <a:t>「買って満足」― ダイエット器具もDXツールも、使い続けなければただの置き物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DX成功の方程式 ― 3つの要素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Meiryo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C7"/>
                </a:solidFill>
                <a:latin typeface="Meiryo"/>
              </a:defRPr>
            </a:pPr>
            <a:r>
              <a:t>ツール導入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eiryo"/>
              </a:defRPr>
            </a:pPr>
            <a:r>
              <a:t>Tool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8"/>
                </a:solidFill>
                <a:latin typeface="Meiryo"/>
              </a:defRPr>
            </a:pPr>
            <a:r>
              <a:t>適切なDXツールの選定と導入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業務課題に合ったツール選定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77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既存システムとの連携設計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現場の声を反映した要件定義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12079"/>
            <a:ext cx="3017520" cy="822960"/>
          </a:xfrm>
          <a:prstGeom prst="roundRect">
            <a:avLst>
              <a:gd name="adj" fmla="val 5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303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eiryo"/>
              </a:defRPr>
            </a:pPr>
            <a:r>
              <a:t>受験: テキスト購入</a:t>
            </a:r>
            <a:br/>
            <a:r>
              <a:t>ダイエット: 器具購入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463040"/>
            <a:ext cx="3383280" cy="48463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eiryo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011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Meiryo"/>
              </a:defRPr>
            </a:pPr>
            <a:r>
              <a:t>効果測定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eiryo"/>
              </a:defRPr>
            </a:pPr>
            <a:r>
              <a:t>Measurement &amp;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8"/>
                </a:solidFill>
                <a:latin typeface="Meiryo"/>
              </a:defRPr>
            </a:pPr>
            <a:r>
              <a:t>定期的なKPIモニタリングと実力判定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474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売上・利益への影響を数値で追跡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977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ツール利用率・活用度の可視化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480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月次/四半期での定点観測レビュー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39" y="5212079"/>
            <a:ext cx="3017520" cy="822960"/>
          </a:xfrm>
          <a:prstGeom prst="roundRect">
            <a:avLst>
              <a:gd name="adj" fmla="val 5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599" y="5303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eiryo"/>
              </a:defRPr>
            </a:pPr>
            <a:r>
              <a:t>受験: 模試・定期テスト</a:t>
            </a:r>
            <a:br/>
            <a:r>
              <a:t>ダイエット: 体重測定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463040"/>
            <a:ext cx="3383280" cy="48463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eiryo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011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Meiryo"/>
              </a:defRPr>
            </a:pPr>
            <a:r>
              <a:t>運用定着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eiryo"/>
              </a:defRPr>
            </a:pPr>
            <a:r>
              <a:t>Operational Excellence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8"/>
                </a:solidFill>
                <a:latin typeface="Meiryo"/>
              </a:defRPr>
            </a:pPr>
            <a:r>
              <a:t>日々の活用を習慣化し怠けを防ぐ仕組み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474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利用状況の自動アラート設定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977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推進チームによる伴走サポート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480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成功事例の社内共有と表彰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5212079"/>
            <a:ext cx="3017520" cy="822960"/>
          </a:xfrm>
          <a:prstGeom prst="roundRect">
            <a:avLst>
              <a:gd name="adj" fmla="val 5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5303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eiryo"/>
              </a:defRPr>
            </a:pPr>
            <a:r>
              <a:t>受験: 学習計画・管理</a:t>
            </a:r>
            <a:br/>
            <a:r>
              <a:t>ダイエット: トレーナー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なぜ「測定」と「運用」が軽視されるのか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6576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762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0" y="19202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9659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Meiryo"/>
              </a:defRPr>
            </a:pPr>
            <a:r>
              <a:t>導入が「成果」に</a:t>
            </a:r>
            <a:br/>
            <a:r>
              <a:t>見えてしまう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IR報告や社内報告で「○○を導入しました」</a:t>
            </a:r>
            <a:br/>
            <a:r>
              <a:t>と言えば、それ自体が実績に見える。</a:t>
            </a:r>
            <a:br/>
            <a:r>
              <a:t>導入＝ゴールという錯覚が生まれやすい。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383280" cy="36576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383280" cy="7620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59" y="192024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59" y="19659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7432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Meiryo"/>
              </a:defRPr>
            </a:pPr>
            <a:r>
              <a:t>測定は地味で</a:t>
            </a:r>
            <a:br/>
            <a:r>
              <a:t>面倒な作業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6576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KPI設計、データ収集、分析、レビュー。</a:t>
            </a:r>
            <a:br/>
            <a:r>
              <a:t>華やかさがなく、コストもかかる。</a:t>
            </a:r>
            <a:br/>
            <a:r>
              <a:t>「後でやろう」と後回しにされがち。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383280" cy="36576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645920"/>
            <a:ext cx="3383280" cy="762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0" y="192024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9659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7432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Meiryo"/>
              </a:defRPr>
            </a:pPr>
            <a:r>
              <a:t>人は本質的に</a:t>
            </a:r>
            <a:br/>
            <a:r>
              <a:t>怠ける生き物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6576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受験生もダイエッターも同じ。</a:t>
            </a:r>
            <a:br/>
            <a:r>
              <a:t>監視と動機づけの仕組みがなければ、</a:t>
            </a:r>
            <a:br/>
            <a:r>
              <a:t>日々の運用は自然と形骸化する。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66928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57607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Meiryo"/>
              </a:defRPr>
            </a:pPr>
            <a:r>
              <a:t>受験でテキストを買って満足する人、ダイエット器具を買って満足する人 ― DXも全く同じ構造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DX成功のためのモニタリング体制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11680" cy="762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C7"/>
                </a:solidFill>
                <a:latin typeface="Meiryo"/>
              </a:defRPr>
            </a:pPr>
            <a:r>
              <a:t>KPI設定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売上・利益への影響を</a:t>
            </a:r>
            <a:br/>
            <a:r>
              <a:t>測定可能な指標に落とす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4600" y="2514600"/>
            <a:ext cx="182880" cy="32004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64592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645920"/>
            <a:ext cx="2011680" cy="762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eiryo"/>
              </a:defRPr>
            </a:pPr>
            <a:r>
              <a:t>定期測定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週次/月次で</a:t>
            </a:r>
            <a:br/>
            <a:r>
              <a:t>ダッシュボードを確認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00600" y="2514600"/>
            <a:ext cx="182880" cy="32004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64592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1645920"/>
            <a:ext cx="2011680" cy="762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eiryo"/>
              </a:defRPr>
            </a:pPr>
            <a:r>
              <a:t>利用状況の</a:t>
            </a:r>
            <a:br/>
            <a:r>
              <a:t>可視化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834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誰が・どれだけ</a:t>
            </a:r>
            <a:br/>
            <a:r>
              <a:t>ツールを使っているか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86600" y="2514600"/>
            <a:ext cx="182880" cy="32004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0" y="164592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1645920"/>
            <a:ext cx="2011680" cy="762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Meiryo"/>
              </a:defRPr>
            </a:pPr>
            <a:r>
              <a:t>改善アクション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834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データに基づく</a:t>
            </a:r>
            <a:br/>
            <a:r>
              <a:t>運用改善を実行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72600" y="2514600"/>
            <a:ext cx="182880" cy="32004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164592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1645920"/>
            <a:ext cx="2011680" cy="76200"/>
          </a:xfrm>
          <a:prstGeom prst="roundRect">
            <a:avLst>
              <a:gd name="adj" fmla="val 0"/>
            </a:avLst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8CAE4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8CAE4"/>
                </a:solidFill>
                <a:latin typeface="Meiryo"/>
              </a:defRPr>
            </a:pPr>
            <a:r>
              <a:t>効果の報告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834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経営層へ数値で</a:t>
            </a:r>
            <a:br/>
            <a:r>
              <a:t>投資対効果を報告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8CAE4"/>
                </a:solidFill>
                <a:latin typeface="Meiryo"/>
              </a:defRPr>
            </a:pPr>
            <a:r>
              <a:t>アナロジーで理解する「モニタリングの本質」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54880"/>
            <a:ext cx="3383280" cy="146304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4754880"/>
            <a:ext cx="3383280" cy="635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Meiryo"/>
              </a:defRPr>
            </a:pPr>
            <a:r>
              <a:t>受験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2578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模試を受けずに本番に臨む受験生はいない。</a:t>
            </a:r>
            <a:br/>
            <a:r>
              <a:t>定期テストで弱点を把握し、学習計画を修正する。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59" y="4754880"/>
            <a:ext cx="3383280" cy="146304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80559" y="4754880"/>
            <a:ext cx="3383280" cy="635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79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eiryo"/>
              </a:defRPr>
            </a:pPr>
            <a:r>
              <a:t>ダイエット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79" y="52578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体重計に乗らないダイエットは成功しない。</a:t>
            </a:r>
            <a:br/>
            <a:r>
              <a:t>毎日の計測と記録が行動変容の原動力になる。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4754880"/>
            <a:ext cx="3383280" cy="146304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29600" y="4754880"/>
            <a:ext cx="3383280" cy="635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Meiryo"/>
              </a:defRPr>
            </a:pPr>
            <a:r>
              <a:t>DX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2578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KPIを追わないDXは投資の垂れ流し。</a:t>
            </a:r>
            <a:br/>
            <a:r>
              <a:t>定期的な効果測定が改善サイクルを回す。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まとめ：DX成功の方程式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64592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210312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2402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C7"/>
                </a:solidFill>
                <a:latin typeface="Meiryo"/>
              </a:defRPr>
            </a:pPr>
            <a:r>
              <a:t>DXツール導入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1945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210312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22402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Meiryo"/>
              </a:defRPr>
            </a:pPr>
            <a:r>
              <a:t>効果測定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1945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10312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2402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eiryo"/>
              </a:defRPr>
            </a:pPr>
            <a:r>
              <a:t>運用定着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10312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22402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C4899"/>
                </a:solidFill>
                <a:latin typeface="Meiryo"/>
              </a:defRPr>
            </a:pPr>
            <a:r>
              <a:t>売上・利益向上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2560320" cy="635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C7"/>
                </a:solidFill>
                <a:latin typeface="Meiryo"/>
              </a:defRPr>
            </a:pPr>
            <a:r>
              <a:t>DXツールはあくまで「手段」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テキストやランニングマシンと同じ。</a:t>
            </a:r>
            <a:br/>
            <a:r>
              <a:t>持っているだけでは何も変わらない。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93192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3931920"/>
            <a:ext cx="2560320" cy="635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4206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Meiryo"/>
              </a:defRPr>
            </a:pPr>
            <a:r>
              <a:t>定期測定なくして改善なし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846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模試や体重計がなければ、</a:t>
            </a:r>
            <a:br/>
            <a:r>
              <a:t>自分の現在地がわからない。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93192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3931920"/>
            <a:ext cx="2560320" cy="635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206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Meiryo"/>
              </a:defRPr>
            </a:pPr>
            <a:r>
              <a:t>「怠け」を前提とした仕組みづくり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846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人は放っておけば怠ける。</a:t>
            </a:r>
            <a:br/>
            <a:r>
              <a:t>モニタリングと伴走が必要。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393192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35440" y="3931920"/>
            <a:ext cx="2560320" cy="63500"/>
          </a:xfrm>
          <a:prstGeom prst="roundRect">
            <a:avLst>
              <a:gd name="adj" fmla="val 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4206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C4899"/>
                </a:solidFill>
                <a:latin typeface="Meiryo"/>
              </a:defRPr>
            </a:pPr>
            <a:r>
              <a:t>最終ゴールは売上と利益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846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IR向けの「導入実績」ではなく、</a:t>
            </a:r>
            <a:br/>
            <a:r>
              <a:t>実際のビジネス成果で評価する。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6217920"/>
            <a:ext cx="7589520" cy="45720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626364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8CAE4"/>
                </a:solidFill>
                <a:latin typeface="Meiryo"/>
              </a:defRPr>
            </a:pPr>
            <a:r>
              <a:t>DXの本当の勝負は、導入の「後」にある。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