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eiryo"/>
              </a:defRPr>
            </a:pPr>
            <a:r>
              <a:t>DX成功の方程式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48CAE4"/>
                </a:solidFill>
                <a:latin typeface="Meiryo"/>
              </a:defRPr>
            </a:pPr>
            <a:r>
              <a:t>受験とダイエットに学ぶ、DXツール導入後の「本当の勝負」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840480"/>
            <a:ext cx="3017520" cy="508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eiryo"/>
              </a:defRPr>
            </a:pPr>
            <a:r>
              <a:t>― ツールを買っただけでは、合格も減量もできない 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DXの現状 ― よくある失敗パターン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F4444"/>
                </a:solidFill>
                <a:latin typeface="Meiryo"/>
              </a:defRPr>
            </a:pPr>
            <a:r>
              <a:t>導入して満足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F4F8"/>
                </a:solidFill>
                <a:latin typeface="Meiryo"/>
              </a:defRPr>
            </a:pPr>
            <a:r>
              <a:t>ツールを導入した</a:t>
            </a:r>
            <a:br/>
            <a:r>
              <a:t>時点でゴールだと</a:t>
            </a:r>
            <a:br/>
            <a:r>
              <a:t>錯覚してしまう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291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Meiryo"/>
              </a:defRPr>
            </a:pPr>
            <a:r>
              <a:t>運用が定着しない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9319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F4F8"/>
                </a:solidFill>
                <a:latin typeface="Meiryo"/>
              </a:defRPr>
            </a:pPr>
            <a:r>
              <a:t>現場が使わない、</a:t>
            </a:r>
            <a:br/>
            <a:r>
              <a:t>旧来のやり方に</a:t>
            </a:r>
            <a:br/>
            <a:r>
              <a:t>戻ってしまう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91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Meiryo"/>
              </a:defRPr>
            </a:pPr>
            <a:r>
              <a:t>効果が測れない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319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F4F8"/>
                </a:solidFill>
                <a:latin typeface="Meiryo"/>
              </a:defRPr>
            </a:pPr>
            <a:r>
              <a:t>KPIが曖昧で</a:t>
            </a:r>
            <a:br/>
            <a:r>
              <a:t>成果を証明</a:t>
            </a:r>
            <a:br/>
            <a:r>
              <a:t>できない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828800"/>
            <a:ext cx="2560320" cy="32004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2918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F4444"/>
                </a:solidFill>
                <a:latin typeface="Meiryo"/>
              </a:defRPr>
            </a:pPr>
            <a:r>
              <a:t>経営に響かない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9319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F4F8"/>
                </a:solidFill>
                <a:latin typeface="Meiryo"/>
              </a:defRPr>
            </a:pPr>
            <a:r>
              <a:t>結局、売上も利益も</a:t>
            </a:r>
            <a:br/>
            <a:r>
              <a:t>変わらず投資対効果</a:t>
            </a:r>
            <a:br/>
            <a:r>
              <a:t>不明のまま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Meiryo"/>
              </a:defRPr>
            </a:pPr>
            <a:r>
              <a:t>DXの失敗の多くは「ツールの問題」ではなく「運用と測定の問題」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DXを「受験」に例えると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57200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8B5CF6"/>
                </a:solidFill>
                <a:latin typeface="Meiryo"/>
              </a:defRPr>
            </a:pPr>
            <a:r>
              <a:t>受験の世界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37744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4414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合格（ゴール）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4414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志望校への合格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20040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テキスト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2644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参考書・問題集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02336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087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模試・定期テスト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087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実力を定期的に測定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84632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9103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学習管理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910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日々の勉強習慣の継続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63040"/>
            <a:ext cx="5303520" cy="457200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C7"/>
                </a:solidFill>
                <a:latin typeface="Meiryo"/>
              </a:defRPr>
            </a:pPr>
            <a:r>
              <a:t>DXの世界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237744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4414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合格（ゴール）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4414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売上・利益の向上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20040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2644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DXツール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2644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SaaS・クラウド・AI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402336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087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効果測定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087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KPIの定期モニタリング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484632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9103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eiryo"/>
              </a:defRPr>
            </a:pPr>
            <a:r>
              <a:t>運用定着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4910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Meiryo"/>
              </a:defRPr>
            </a:pPr>
            <a:r>
              <a:t>日々のツール活用と改善</a:t>
            </a:r>
          </a:p>
        </p:txBody>
      </p:sp>
      <p:sp>
        <p:nvSpPr>
          <p:cNvPr id="32" name="Left-Right Arrow 31"/>
          <p:cNvSpPr/>
          <p:nvPr/>
        </p:nvSpPr>
        <p:spPr>
          <a:xfrm>
            <a:off x="5577840" y="3474720"/>
            <a:ext cx="1005840" cy="457200"/>
          </a:xfrm>
          <a:prstGeom prst="left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71600" y="5486400"/>
            <a:ext cx="9418320" cy="73152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5778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8CAE4"/>
                </a:solidFill>
                <a:latin typeface="Meiryo"/>
              </a:defRPr>
            </a:pPr>
            <a:r>
              <a:t>テキスト（ツール）を買っただけでは合格（売上向上）できない。模試（効果測定）と学習管理（運用定着）が不可欠。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DXを「ダイエット」に例えると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8CAE4"/>
                </a:solidFill>
                <a:latin typeface="Meiryo"/>
              </a:defRPr>
            </a:pPr>
            <a:r>
              <a:t>受験は合否（0 or 1）だが、ダイエットは数値の継続改善 ― DXのKPIにより近い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828800" cy="640080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ゴール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373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体重の削減・体型改善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7373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7830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売上向上・コスト削減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1828800" cy="640080"/>
          </a:xfrm>
          <a:prstGeom prst="roundRect">
            <a:avLst>
              <a:gd name="adj" fmla="val 30000"/>
            </a:avLst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ツール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6517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6974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ランニングマシン</a:t>
            </a:r>
            <a:br/>
            <a:r>
              <a:t>トレーニンググッズ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26517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974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SaaS・RPA</a:t>
            </a:r>
            <a:br/>
            <a:r>
              <a:t>クラウドツール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66160"/>
            <a:ext cx="1828800" cy="64008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57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測定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5661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体重計・体組成計</a:t>
            </a:r>
            <a:br/>
            <a:r>
              <a:t>定期的な計測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60" y="35661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KPIダッシュボード</a:t>
            </a:r>
            <a:br/>
            <a:r>
              <a:t>月次レビュー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480560"/>
            <a:ext cx="1828800" cy="640080"/>
          </a:xfrm>
          <a:prstGeom prst="roundRect">
            <a:avLst>
              <a:gd name="adj" fmla="val 3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72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継続の仕組み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4805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526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トレーナー・記録アプリ</a:t>
            </a:r>
            <a:br/>
            <a:r>
              <a:t>仲間との共有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44805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4526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推進チーム・定例会議</a:t>
            </a:r>
            <a:br/>
            <a:r>
              <a:t>利用状況の可視化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394960"/>
            <a:ext cx="1828800" cy="640080"/>
          </a:xfrm>
          <a:prstGeom prst="roundRect">
            <a:avLst>
              <a:gd name="adj" fmla="val 3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86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よくある失敗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4640" y="53949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54406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器具を買って満足</a:t>
            </a:r>
            <a:br/>
            <a:r>
              <a:t>三日坊主で挫折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5394960"/>
            <a:ext cx="4114800" cy="64008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54406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ツールを導入して満足</a:t>
            </a:r>
            <a:br/>
            <a:r>
              <a:t>現場に定着しない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1417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Meiryo"/>
              </a:defRPr>
            </a:pPr>
            <a:r>
              <a:t>ダイエット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1417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Meiryo"/>
              </a:defRPr>
            </a:pPr>
            <a:r>
              <a:t>DX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71600" y="6309360"/>
            <a:ext cx="9418320" cy="54864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0" y="6126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eiryo"/>
              </a:defRPr>
            </a:pPr>
            <a:r>
              <a:t>「買って満足」― ダイエット器具もDXツールも、使い続けなければただの置き物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DX成功の方程式 ― 3つの要素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84632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C7"/>
                </a:solidFill>
                <a:latin typeface="Meiryo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C7"/>
                </a:solidFill>
                <a:latin typeface="Meiryo"/>
              </a:defRPr>
            </a:pPr>
            <a:r>
              <a:t>ツール導入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Tool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適切なDXツールの選定と導入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業務課題に合ったツール選定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既存システムとの連携設計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現場の声を反映した要件定義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12079"/>
            <a:ext cx="3017520" cy="822960"/>
          </a:xfrm>
          <a:prstGeom prst="roundRect">
            <a:avLst>
              <a:gd name="adj" fmla="val 5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3035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eiryo"/>
              </a:defRPr>
            </a:pPr>
            <a:r>
              <a:t>受験: テキスト購入</a:t>
            </a:r>
            <a:br/>
            <a:r>
              <a:t>ダイエット: 器具購入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1463040"/>
            <a:ext cx="3383280" cy="484632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eiryo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Meiryo"/>
              </a:defRPr>
            </a:pPr>
            <a:r>
              <a:t>効果測定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Measurement &amp;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834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定期的なKPIモニタリングと実力判定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売上・利益への影響を数値で追跡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3977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ツール利用率・活用度の可視化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4805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月次/四半期での定点観測レビュー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39" y="5212079"/>
            <a:ext cx="3017520" cy="822960"/>
          </a:xfrm>
          <a:prstGeom prst="roundRect">
            <a:avLst>
              <a:gd name="adj" fmla="val 5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599" y="53035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eiryo"/>
              </a:defRPr>
            </a:pPr>
            <a:r>
              <a:t>受験: 模試・定期テスト</a:t>
            </a:r>
            <a:br/>
            <a:r>
              <a:t>ダイエット: 体重測定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463040"/>
            <a:ext cx="3383280" cy="484632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eiryo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Meiryo"/>
              </a:defRPr>
            </a:pPr>
            <a:r>
              <a:t>運用定着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Operational Excellence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834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日々の活用を習慣化し怠けを防ぐ仕組み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利用状況の自動アラート設定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977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推進チームによる伴走サポート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4805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• 成功事例の社内共有と表彰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0" y="5212079"/>
            <a:ext cx="3017520" cy="822960"/>
          </a:xfrm>
          <a:prstGeom prst="roundRect">
            <a:avLst>
              <a:gd name="adj" fmla="val 5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53035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Meiryo"/>
              </a:defRPr>
            </a:pPr>
            <a:r>
              <a:t>受験: 学習計画・管理</a:t>
            </a:r>
            <a:br/>
            <a:r>
              <a:t>ダイエット: トレーナー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なぜ「測定」と「運用」が軽視されるのか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65760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76200"/>
          </a:xfrm>
          <a:prstGeom prst="roundRect">
            <a:avLst>
              <a:gd name="adj" fmla="val 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03120" y="19202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Meiryo"/>
              </a:defRPr>
            </a:pPr>
            <a:r>
              <a:t>導入が「成果」に</a:t>
            </a:r>
            <a:br/>
            <a:r>
              <a:t>見えてしまう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4F8"/>
                </a:solidFill>
                <a:latin typeface="Meiryo"/>
              </a:defRPr>
            </a:pPr>
            <a:r>
              <a:t>IR報告や社内報告で「○○を導入しました」</a:t>
            </a:r>
            <a:br/>
            <a:r>
              <a:t>と言えば、それ自体が実績に見える。</a:t>
            </a:r>
            <a:br/>
            <a:r>
              <a:t>導入＝ゴールという錯覚が生まれやすい。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365760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59" y="1645920"/>
            <a:ext cx="3383280" cy="762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52159" y="192024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59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432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F4444"/>
                </a:solidFill>
                <a:latin typeface="Meiryo"/>
              </a:defRPr>
            </a:pPr>
            <a:r>
              <a:t>測定は地味で</a:t>
            </a:r>
            <a:br/>
            <a:r>
              <a:t>面倒な作業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657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4F8"/>
                </a:solidFill>
                <a:latin typeface="Meiryo"/>
              </a:defRPr>
            </a:pPr>
            <a:r>
              <a:t>KPI設計、データ収集、分析、レビュー。</a:t>
            </a:r>
            <a:br/>
            <a:r>
              <a:t>華やかさがなく、コストもかかる。</a:t>
            </a:r>
            <a:br/>
            <a:r>
              <a:t>「後でやろう」と後回しにされがち。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645920"/>
            <a:ext cx="3383280" cy="365760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645920"/>
            <a:ext cx="3383280" cy="762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0" y="19202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9659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7432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B5CF6"/>
                </a:solidFill>
                <a:latin typeface="Meiryo"/>
              </a:defRPr>
            </a:pPr>
            <a:r>
              <a:t>人は本質的に</a:t>
            </a:r>
            <a:br/>
            <a:r>
              <a:t>怠ける生き物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657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0F4F8"/>
                </a:solidFill>
                <a:latin typeface="Meiryo"/>
              </a:defRPr>
            </a:pPr>
            <a:r>
              <a:t>受験生もダイエッターも同じ。</a:t>
            </a:r>
            <a:br/>
            <a:r>
              <a:t>監視と動機づけの仕組みがなければ、</a:t>
            </a:r>
            <a:br/>
            <a:r>
              <a:t>日々の運用は自然と形骸化する。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5669280"/>
            <a:ext cx="9418320" cy="73152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57607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Meiryo"/>
              </a:defRPr>
            </a:pPr>
            <a:r>
              <a:t>受験でテキストを買って満足する人、ダイエット器具を買って満足する人 ― DXも全く同じ構造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eiryo"/>
              </a:defRPr>
            </a:pPr>
            <a:r>
              <a:t>DX成功のためのモニタリング体制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011680" cy="76200"/>
          </a:xfrm>
          <a:prstGeom prst="roundRect">
            <a:avLst>
              <a:gd name="adj" fmla="val 0"/>
            </a:avLst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C7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Meiryo"/>
              </a:defRPr>
            </a:pPr>
            <a:r>
              <a:t>KPI設定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売上・利益への影響を</a:t>
            </a:r>
            <a:br/>
            <a:r>
              <a:t>測定可能な指標に落とす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14600" y="2514600"/>
            <a:ext cx="182880" cy="320040"/>
          </a:xfrm>
          <a:prstGeom prst="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645920"/>
            <a:ext cx="201168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0" y="1645920"/>
            <a:ext cx="2011680" cy="76200"/>
          </a:xfrm>
          <a:prstGeom prst="roundRect">
            <a:avLst>
              <a:gd name="adj" fmla="val 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103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Meiryo"/>
              </a:defRPr>
            </a:pPr>
            <a:r>
              <a:t>定期測定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346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週次/月次で</a:t>
            </a:r>
            <a:br/>
            <a:r>
              <a:t>ダッシュボードを確認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00600" y="2514600"/>
            <a:ext cx="182880" cy="320040"/>
          </a:xfrm>
          <a:prstGeom prst="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201168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645920"/>
            <a:ext cx="2011680" cy="76200"/>
          </a:xfrm>
          <a:prstGeom prst="roundRect">
            <a:avLst>
              <a:gd name="adj" fmla="val 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103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  <a:latin typeface="Meiryo"/>
              </a:defRPr>
            </a:pPr>
            <a:r>
              <a:t>利用状況の</a:t>
            </a:r>
            <a:br/>
            <a:r>
              <a:t>可視化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8346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誰が・どれだけ</a:t>
            </a:r>
            <a:br/>
            <a:r>
              <a:t>ツールを使っているか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86600" y="2514600"/>
            <a:ext cx="182880" cy="320040"/>
          </a:xfrm>
          <a:prstGeom prst="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0" y="1645920"/>
            <a:ext cx="201168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645920"/>
            <a:ext cx="2011680" cy="762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103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Meiryo"/>
              </a:defRPr>
            </a:pPr>
            <a:r>
              <a:t>改善アクション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28346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データに基づく</a:t>
            </a:r>
            <a:br/>
            <a:r>
              <a:t>運用改善を実行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72600" y="2514600"/>
            <a:ext cx="182880" cy="320040"/>
          </a:xfrm>
          <a:prstGeom prst="rightArrow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0" y="1645920"/>
            <a:ext cx="2011680" cy="2286000"/>
          </a:xfrm>
          <a:prstGeom prst="roundRect">
            <a:avLst>
              <a:gd name="adj" fmla="val 5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0" y="1645920"/>
            <a:ext cx="2011680" cy="76200"/>
          </a:xfrm>
          <a:prstGeom prst="roundRect">
            <a:avLst>
              <a:gd name="adj" fmla="val 0"/>
            </a:avLst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8CAE4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2103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8CAE4"/>
                </a:solidFill>
                <a:latin typeface="Meiryo"/>
              </a:defRPr>
            </a:pPr>
            <a:r>
              <a:t>効果の報告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8346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経営層へ数値で</a:t>
            </a:r>
            <a:br/>
            <a:r>
              <a:t>投資対効果を報告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8CAE4"/>
                </a:solidFill>
                <a:latin typeface="Meiryo"/>
              </a:defRPr>
            </a:pPr>
            <a:r>
              <a:t>アナロジーで理解する「モニタリングの本質」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" y="4754880"/>
            <a:ext cx="3383280" cy="635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eiryo"/>
              </a:defRPr>
            </a:pPr>
            <a:r>
              <a:t>受験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2578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模試を受けずに本番に臨む受験生はいない。</a:t>
            </a:r>
            <a:br/>
            <a:r>
              <a:t>定期テストで弱点を把握し、学習計画を修正する。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59" y="4754880"/>
            <a:ext cx="3383280" cy="146304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80559" y="4754880"/>
            <a:ext cx="3383280" cy="63500"/>
          </a:xfrm>
          <a:prstGeom prst="roundRect">
            <a:avLst>
              <a:gd name="adj" fmla="val 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79" y="4892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eiryo"/>
              </a:defRPr>
            </a:pPr>
            <a:r>
              <a:t>ダイエット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79" y="52578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体重計に乗らないダイエットは成功しない。</a:t>
            </a:r>
            <a:br/>
            <a:r>
              <a:t>毎日の計測と記録が行動変容の原動力になる。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0" y="4754880"/>
            <a:ext cx="3383280" cy="146304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29600" y="4754880"/>
            <a:ext cx="3383280" cy="63500"/>
          </a:xfrm>
          <a:prstGeom prst="roundRect">
            <a:avLst>
              <a:gd name="adj" fmla="val 0"/>
            </a:avLst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892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C7"/>
                </a:solidFill>
                <a:latin typeface="Meiryo"/>
              </a:defRPr>
            </a:pPr>
            <a:r>
              <a:t>DX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52578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Meiryo"/>
              </a:defRPr>
            </a:pPr>
            <a:r>
              <a:t>KPIを追わないDXは投資の垂れ流し。</a:t>
            </a:r>
            <a:br/>
            <a:r>
              <a:t>定期的な効果測定が改善サイクルを回す。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eiryo"/>
              </a:defRPr>
            </a:pPr>
            <a:r>
              <a:t>管理会計の落とし穴 ― ダッシュボードは見られない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8CAE4"/>
                </a:solidFill>
                <a:latin typeface="Meiryo"/>
              </a:defRPr>
            </a:pPr>
            <a:r>
              <a:t>分析するのは経営企画の一部だけ。ダッシュボードを作っても、自発的に見る人はほぼいない。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03520" cy="4114800"/>
          </a:xfrm>
          <a:prstGeom prst="roundRect">
            <a:avLst>
              <a:gd name="adj" fmla="val 4000"/>
            </a:avLst>
          </a:prstGeom>
          <a:solidFill>
            <a:srgbClr val="2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303520" cy="762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  <a:latin typeface="Meiryo"/>
              </a:defRPr>
            </a:pPr>
            <a:r>
              <a:t>ありがちな失敗パターン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F4F8"/>
                </a:solidFill>
                <a:latin typeface="Meiryo"/>
              </a:defRPr>
            </a:pPr>
            <a:r>
              <a:t>ダッシュボードを構築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eiryo"/>
              </a:defRPr>
            </a:pPr>
            <a:r>
              <a:t>BIツールで立派なダッシュボードを作成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2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F4F8"/>
                </a:solidFill>
                <a:latin typeface="Meiryo"/>
              </a:defRPr>
            </a:pPr>
            <a:r>
              <a:t>「いつでも見られます」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eiryo"/>
              </a:defRPr>
            </a:pPr>
            <a:r>
              <a:t>全社に公開して自主的な閲覧を期待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F4F8"/>
                </a:solidFill>
                <a:latin typeface="Meiryo"/>
              </a:defRPr>
            </a:pPr>
            <a:r>
              <a:t>誰も見ない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eiryo"/>
              </a:defRPr>
            </a:pPr>
            <a:r>
              <a:t>経営企画の一部以外、アクセスゼロ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74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74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F4F8"/>
                </a:solidFill>
                <a:latin typeface="Meiryo"/>
              </a:defRPr>
            </a:pPr>
            <a:r>
              <a:t>データが陳腐化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Meiryo"/>
              </a:defRPr>
            </a:pPr>
            <a:r>
              <a:t>更新もされず、投資が無駄に終わる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828800"/>
            <a:ext cx="5303520" cy="4114800"/>
          </a:xfrm>
          <a:prstGeom prst="roundRect">
            <a:avLst>
              <a:gd name="adj" fmla="val 4000"/>
            </a:avLst>
          </a:prstGeom>
          <a:solidFill>
            <a:srgbClr val="1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1828800"/>
            <a:ext cx="5303520" cy="76200"/>
          </a:xfrm>
          <a:prstGeom prst="roundRect">
            <a:avLst>
              <a:gd name="adj" fmla="val 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0B981"/>
                </a:solidFill>
                <a:latin typeface="Meiryo"/>
              </a:defRPr>
            </a:pPr>
            <a:r>
              <a:t>あるべき進め方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743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既存の定例会議に組み込む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7432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取締役会・経営会議・部門定例に</a:t>
            </a:r>
            <a:br/>
            <a:r>
              <a:t>DX効果のレビュー枠を追加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520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議題として強制的に扱う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520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アジェンダに「DX効果報告」を</a:t>
            </a:r>
            <a:br/>
            <a:r>
              <a:t>固定枠として設定する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報告フォーマットを統一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2976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売上・利益への影響を</a:t>
            </a:r>
            <a:br/>
            <a:r>
              <a:t>毎回同じ形式で報告する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74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8"/>
                </a:solidFill>
                <a:latin typeface="Meiryo"/>
              </a:defRPr>
            </a:pPr>
            <a:r>
              <a:t>意思決定と直結させる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50749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eiryo"/>
              </a:defRPr>
            </a:pPr>
            <a:r>
              <a:t>数値が悪ければ改善策を決議、</a:t>
            </a:r>
            <a:br/>
            <a:r>
              <a:t>良ければ横展開を決定する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217920"/>
            <a:ext cx="10698480" cy="45720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8CAE4"/>
                </a:solidFill>
                <a:latin typeface="Meiryo"/>
              </a:defRPr>
            </a:pPr>
            <a:r>
              <a:t>体重計を買っても乗らない → パーソナルジムで毎週トレーナーに計測される → だから続く。DXも同じ。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eiryo"/>
              </a:defRPr>
            </a:pPr>
            <a:r>
              <a:t>まとめ：DX成功の方程式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64592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210312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4028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Meiryo"/>
              </a:defRPr>
            </a:pPr>
            <a:r>
              <a:t>DXツール導入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19456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210312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224028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Meiryo"/>
              </a:defRPr>
            </a:pPr>
            <a:r>
              <a:t>効果測定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19456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10312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224028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Meiryo"/>
              </a:defRPr>
            </a:pPr>
            <a:r>
              <a:t>運用定着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eiryo"/>
              </a:defRPr>
            </a:pPr>
            <a: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10312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38360" y="224028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Meiryo"/>
              </a:defRPr>
            </a:pPr>
            <a:r>
              <a:t>売上・利益向上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931920"/>
            <a:ext cx="2560320" cy="63500"/>
          </a:xfrm>
          <a:prstGeom prst="roundRect">
            <a:avLst>
              <a:gd name="adj" fmla="val 0"/>
            </a:avLst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96C7"/>
                </a:solidFill>
                <a:latin typeface="Meiryo"/>
              </a:defRPr>
            </a:pPr>
            <a:r>
              <a:t>DXツールはあくまで「手段」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テキストやランニングマシンと同じ。</a:t>
            </a:r>
            <a:br/>
            <a:r>
              <a:t>持っているだけでは何も変わらない。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93192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66160" y="3931920"/>
            <a:ext cx="2560320" cy="63500"/>
          </a:xfrm>
          <a:prstGeom prst="roundRect">
            <a:avLst>
              <a:gd name="adj" fmla="val 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9E0B"/>
                </a:solidFill>
                <a:latin typeface="Meiryo"/>
              </a:defRPr>
            </a:pPr>
            <a:r>
              <a:t>定期測定なくして改善なし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模試や体重計がなければ、</a:t>
            </a:r>
            <a:br/>
            <a:r>
              <a:t>自分の現在地がわからない。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93192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3931920"/>
            <a:ext cx="2560320" cy="63500"/>
          </a:xfrm>
          <a:prstGeom prst="roundRect">
            <a:avLst>
              <a:gd name="adj" fmla="val 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81"/>
                </a:solidFill>
                <a:latin typeface="Meiryo"/>
              </a:defRPr>
            </a:pPr>
            <a:r>
              <a:t>「怠け」を前提とした仕組みづくり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人は放っておけば怠ける。</a:t>
            </a:r>
            <a:br/>
            <a:r>
              <a:t>モニタリングと伴走が必要。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393192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35440" y="3931920"/>
            <a:ext cx="2560320" cy="635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4206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C4899"/>
                </a:solidFill>
                <a:latin typeface="Meiryo"/>
              </a:defRPr>
            </a:pPr>
            <a:r>
              <a:t>最終ゴールは売上と利益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846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0F4F8"/>
                </a:solidFill>
                <a:latin typeface="Meiryo"/>
              </a:defRPr>
            </a:pPr>
            <a:r>
              <a:t>IR向けの「導入実績」ではなく、</a:t>
            </a:r>
            <a:br/>
            <a:r>
              <a:t>実際のビジネス成果で評価する。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6217920"/>
            <a:ext cx="7589520" cy="457200"/>
          </a:xfrm>
          <a:prstGeom prst="roundRect">
            <a:avLst>
              <a:gd name="adj" fmla="val 3000"/>
            </a:avLst>
          </a:prstGeom>
          <a:solidFill>
            <a:srgbClr val="0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6263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8CAE4"/>
                </a:solidFill>
                <a:latin typeface="Meiryo"/>
              </a:defRPr>
            </a:pPr>
            <a:r>
              <a:t>DXの本当の勝負は、導入の「後」にある。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