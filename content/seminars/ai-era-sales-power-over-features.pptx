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皆さん、こんにちは。今日は「AI時代に先行者利益は消える」というテーマでお話しします。</a:t>
            </a:r>
          </a:p>
          <a:p/>
          <a:p>
            <a:r>
              <a:t>ソフトウェアの世界では長い間、「先に作ったもの勝ち」が常識でした。</a:t>
            </a:r>
          </a:p>
          <a:p>
            <a:r>
              <a:t>しかし今、AIがその前提を根底から覆しつつあります。</a:t>
            </a:r>
          </a:p>
          <a:p>
            <a:r>
              <a:t>機能で差がつかない世界で、何が本当の競争優位になるのか。</a:t>
            </a:r>
          </a:p>
          <a:p>
            <a:r>
              <a:t>私自身のアプリ開発の実体験を交えながらお伝えします。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ソフトウェアビジネスでは「先に機能を作った者が勝つ」と信じられてきました。</a:t>
            </a:r>
          </a:p>
          <a:p>
            <a:r>
              <a:t>ファーストムーバーアドバンテージ。先行者利益。</a:t>
            </a:r>
          </a:p>
          <a:p>
            <a:r>
              <a:t>新しい機能をいち早くリリースし、ユーザーを囲い込み、後発が追いつく前にポジションを固める。</a:t>
            </a:r>
          </a:p>
          <a:p/>
          <a:p>
            <a:r>
              <a:t>しかし、この前提がAIの登場によって根底から崩れつつあります。</a:t>
            </a:r>
          </a:p>
          <a:p>
            <a:r>
              <a:t>なぜなら、AIが「作る」という行為そのものを民主化してしまったからです。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私自身、アプリ開発をしていて痛感しています。</a:t>
            </a:r>
          </a:p>
          <a:p/>
          <a:p>
            <a:r>
              <a:t>AIを使って各種データベースをリサーチすれば、競合が何をやっているかは一目瞭然。</a:t>
            </a:r>
          </a:p>
          <a:p>
            <a:r>
              <a:t>そしてその機能をAIに分析させ、設計し、実装するところまで、驚くほど短時間でできてしまう。</a:t>
            </a:r>
          </a:p>
          <a:p/>
          <a:p>
            <a:r>
              <a:t>ステップ1: 競合調査。AIで市場のプレイヤーを洗い出し、機能比較表を自動生成します。</a:t>
            </a:r>
          </a:p>
          <a:p>
            <a:r>
              <a:t>ステップ2: 機能分析。競合アプリのUI/UX、データ構造、ビジネスロジックをAIが解析します。</a:t>
            </a:r>
          </a:p>
          <a:p>
            <a:r>
              <a:t>ステップ3: 設計。「この機能をこう作りたい」と伝えれば、AIがアーキテクチャを提案してくれます。</a:t>
            </a:r>
          </a:p>
          <a:p>
            <a:r>
              <a:t>ステップ4: 実装。コード生成、テスト、デバッグまでAIが伴走してくれます。</a:t>
            </a:r>
          </a:p>
          <a:p/>
          <a:p>
            <a:r>
              <a:t>以前なら数ヶ月かかっていたことが、数日で終わる。</a:t>
            </a:r>
          </a:p>
          <a:p>
            <a:r>
              <a:t>機能を「持っていること」は、もはやアドバンテージではないんです。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理由はシンプルです。AIが「調べる、理解する、作る」の全工程を圧縮したからです。</a:t>
            </a:r>
          </a:p>
          <a:p/>
          <a:p>
            <a:r>
              <a:t>従来、競合の機能を模倣するには、市場調査に数週間、リバースエンジニアリングに数週間、</a:t>
            </a:r>
          </a:p>
          <a:p>
            <a:r>
              <a:t>設計・開発に数ヶ月、テスト・品質担保に数週間。これだけの時間とコストがかかりました。</a:t>
            </a:r>
          </a:p>
          <a:p>
            <a:r>
              <a:t>この「追いつくためのコスト」こそが、先行者利益の正体です。</a:t>
            </a:r>
          </a:p>
          <a:p/>
          <a:p>
            <a:r>
              <a:t>AIはこのコストを劇的に下げました。</a:t>
            </a:r>
          </a:p>
          <a:p>
            <a:r>
              <a:t>調査はAIがDBを横断検索して数分で競合マップを作る。</a:t>
            </a:r>
          </a:p>
          <a:p>
            <a:r>
              <a:t>理解はAIがコードやドキュメントを読んで構造を説明する。</a:t>
            </a:r>
          </a:p>
          <a:p>
            <a:r>
              <a:t>実装はAIがコードを書きテストまで生成する。</a:t>
            </a:r>
          </a:p>
          <a:p/>
          <a:p>
            <a:r>
              <a:t>追いつくコストが限りなくゼロに近づけば、先に作ったことの価値も限りなくゼロに近づくんです。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もう少し構造的に整理しましょう。</a:t>
            </a:r>
          </a:p>
          <a:p/>
          <a:p>
            <a:r>
              <a:t>独自機能を先に出しても、数日で模倣されます。</a:t>
            </a:r>
          </a:p>
          <a:p>
            <a:r>
              <a:t>技術的な実装ノウハウは、AIがコード生成で代替します。</a:t>
            </a:r>
          </a:p>
          <a:p>
            <a:r>
              <a:t>開発チームの規模は、少人数プラスAIで同等の開発力が得られます。</a:t>
            </a:r>
          </a:p>
          <a:p>
            <a:r>
              <a:t>特許や知財も、UIやUXのパターンは保護しにくい。</a:t>
            </a:r>
          </a:p>
          <a:p/>
          <a:p>
            <a:r>
              <a:t>では残る壁は何か。ネットワーク効果は一部のプラットフォーム型には有効ですが、</a:t>
            </a:r>
          </a:p>
          <a:p>
            <a:r>
              <a:t>多くのSaaSには当てはまりません。データの壁もAIがデータ生成・合成を可能にしつつある。</a:t>
            </a:r>
          </a:p>
          <a:p>
            <a:r>
              <a:t>規制や認証は業界によっては有効ですが、これは技術力ではなく政治力の問題です。</a:t>
            </a:r>
          </a:p>
          <a:p/>
          <a:p>
            <a:r>
              <a:t>つまり、純粋な「機能」で差をつけ続けることは、ほぼ不可能になったということです。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機能で差がつかないなら、何で差がつくのか。答えは「営業力」です。</a:t>
            </a:r>
          </a:p>
          <a:p/>
          <a:p>
            <a:r>
              <a:t>ここで言う営業力とは、単に売り込む力ではありません。</a:t>
            </a:r>
          </a:p>
          <a:p/>
          <a:p>
            <a:r>
              <a:t>1つ目は顧客との信頼関係。「この人から買いたい」と思われる力です。</a:t>
            </a:r>
          </a:p>
          <a:p>
            <a:r>
              <a:t>2つ目はドメイン知識。顧客の業界や業務を深く理解し、的確に提案できる力。</a:t>
            </a:r>
          </a:p>
          <a:p>
            <a:r>
              <a:t>3つ目は課題発見力。顧客自身が気づいていない問題を見つけ、言語化する力。</a:t>
            </a:r>
          </a:p>
          <a:p>
            <a:r>
              <a:t>4つ目は伴走力。導入後も寄り添い、成果が出るまで支援する力。</a:t>
            </a:r>
          </a:p>
          <a:p>
            <a:r>
              <a:t>5つ目はブランド。「この会社なら間違いない」という認知と信頼の蓄積。</a:t>
            </a:r>
          </a:p>
          <a:p/>
          <a:p>
            <a:r>
              <a:t>これらはAIでは簡単にコピーできません。</a:t>
            </a:r>
          </a:p>
          <a:p>
            <a:r>
              <a:t>AIが「作れる」を民主化した結果、「売れる」の価値が相対的に急上昇しています。</a:t>
            </a:r>
          </a:p>
          <a:p>
            <a:r>
              <a:t>これがAI時代の競争構造の本質です。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では具体的に何をすべきか。</a:t>
            </a:r>
          </a:p>
          <a:p/>
          <a:p>
            <a:r>
              <a:t>まず、やめるべきことが3つ。</a:t>
            </a:r>
          </a:p>
          <a:p>
            <a:r>
              <a:t>機能数の多さを競争優位だと思うこと。</a:t>
            </a:r>
          </a:p>
          <a:p>
            <a:r>
              <a:t>「技術的に難しいから真似されない」という幻想を捨てること。</a:t>
            </a:r>
          </a:p>
          <a:p>
            <a:r>
              <a:t>開発チームの人数を増やすことで勝とうとすること。</a:t>
            </a:r>
          </a:p>
          <a:p/>
          <a:p>
            <a:r>
              <a:t>そして、やるべきことが4つ。</a:t>
            </a:r>
          </a:p>
          <a:p>
            <a:r>
              <a:t>第一に、営業とカスタマーサクセスへの投資を増やす。</a:t>
            </a:r>
          </a:p>
          <a:p>
            <a:r>
              <a:t>開発10人に営業2人だった体制を、開発3人プラスAI、営業5人、CS4人へ。</a:t>
            </a:r>
          </a:p>
          <a:p>
            <a:r>
              <a:t>第二に、顧客接点を厚くする。オンボーディング、定期レビュー、業界勉強会。</a:t>
            </a:r>
          </a:p>
          <a:p>
            <a:r>
              <a:t>第三に、ドメイン特化のナレッジを蓄積する。成功事例、失敗パターンを組織的に蓄積。</a:t>
            </a:r>
          </a:p>
          <a:p>
            <a:r>
              <a:t>第四に、AIを営業の武器として使う。提案書作成、顧客分析、商談準備にAIを活用して営業の質を上げる。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まとめます。</a:t>
            </a:r>
          </a:p>
          <a:p/>
          <a:p>
            <a:r>
              <a:t>ソフトウェア産業は、長い間「作る力」が全てでした。</a:t>
            </a:r>
          </a:p>
          <a:p>
            <a:r>
              <a:t>優秀なエンジニアを集め、難しい技術を実装し、先に市場に出す。</a:t>
            </a:r>
          </a:p>
          <a:p/>
          <a:p>
            <a:r>
              <a:t>その時代は終わりつつあります。</a:t>
            </a:r>
          </a:p>
          <a:p/>
          <a:p>
            <a:r>
              <a:t>AIが作る力を民主化した今、勝負は「誰が顧客に最も近いか」で決まります。</a:t>
            </a:r>
          </a:p>
          <a:p>
            <a:r>
              <a:t>機能は真似される。技術は追いつかれる。</a:t>
            </a:r>
          </a:p>
          <a:p>
            <a:r>
              <a:t>しかし、顧客との信頼関係は、一朝一夕には築けない。</a:t>
            </a:r>
          </a:p>
          <a:p/>
          <a:p>
            <a:r>
              <a:t>AI時代こそ、営業力が最後の、そして最大の競争優位になる。</a:t>
            </a:r>
          </a:p>
          <a:p/>
          <a:p>
            <a:r>
              <a:t>ご清聴ありがとうございました。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AI時代に先行者利益は消える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</a:defRPr>
            </a:pPr>
            <a:r>
              <a:t>機能格差ゼロの世界で勝つのは「営業力」だ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029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HARMONIC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「先に作ったもの勝ち」── 本当にそうか？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400" b="0">
                <a:solidFill>
                  <a:srgbClr val="CCCCCC"/>
                </a:solidFill>
              </a:defRPr>
            </a:pPr>
            <a:r>
              <a:t>▸  先行者利益（First Mover Advantage）</a:t>
            </a:r>
          </a:p>
          <a:p>
            <a:pPr>
              <a:spcBef>
                <a:spcPts val="1200"/>
              </a:spcBef>
              <a:defRPr sz="2400" b="0">
                <a:solidFill>
                  <a:srgbClr val="CCCCCC"/>
                </a:solidFill>
              </a:defRPr>
            </a:pPr>
            <a:r>
              <a:t>▸  新機能をいち早くリリースし、ユーザーを囲い込む</a:t>
            </a:r>
          </a:p>
          <a:p>
            <a:pPr>
              <a:spcBef>
                <a:spcPts val="1200"/>
              </a:spcBef>
              <a:defRPr sz="2400" b="0">
                <a:solidFill>
                  <a:srgbClr val="CCCCCC"/>
                </a:solidFill>
              </a:defRPr>
            </a:pPr>
            <a:r>
              <a:t>▸  後発が追いつく前にポジションを固める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6B"/>
                </a:solidFill>
              </a:defRPr>
            </a:pPr>
            <a:r>
              <a:t>→ この常識が、いま崩れ始めている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実体験：AIで競合分析から実装まで全部できる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377440"/>
            <a:ext cx="9144000" cy="8229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D2FF"/>
                </a:solidFill>
              </a:rPr>
              <a:t>① 競合調査    </a:t>
            </a:r>
            <a:r>
              <a:rPr sz="2000">
                <a:solidFill>
                  <a:srgbClr val="CCCCCC"/>
                </a:solidFill>
              </a:rPr>
              <a:t>AIで市場プレイヤーを洗い出し、機能比較表を自動生成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337560"/>
            <a:ext cx="9144000" cy="8229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D2FF"/>
                </a:solidFill>
              </a:rPr>
              <a:t>② 機能分析    </a:t>
            </a:r>
            <a:r>
              <a:rPr sz="2000">
                <a:solidFill>
                  <a:srgbClr val="CCCCCC"/>
                </a:solidFill>
              </a:rPr>
              <a:t>競合アプリのUI/UX・データ構造・ロジックをAIが解析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297680"/>
            <a:ext cx="9144000" cy="8229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D2FF"/>
                </a:solidFill>
              </a:rPr>
              <a:t>③ 設計    </a:t>
            </a:r>
            <a:r>
              <a:rPr sz="2000">
                <a:solidFill>
                  <a:srgbClr val="CCCCCC"/>
                </a:solidFill>
              </a:rPr>
              <a:t>アーキテクチャをAIが提案、設計書を自動作成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257800"/>
            <a:ext cx="9144000" cy="8229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D2FF"/>
                </a:solidFill>
              </a:rPr>
              <a:t>④ 実装    </a:t>
            </a:r>
            <a:r>
              <a:rPr sz="2000">
                <a:solidFill>
                  <a:srgbClr val="CCCCCC"/>
                </a:solidFill>
              </a:rPr>
              <a:t>コード生成・テスト・デバッグまでAIが伴走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なぜ機能格差は維持できないのか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</a:defRPr>
            </a:pPr>
            <a:r>
              <a:t>AIが「調べる → 理解する → 作る」を圧縮した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4754880" cy="32004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</a:defRPr>
            </a:pPr>
            <a:r>
              <a:t>従来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 b="0">
                <a:solidFill>
                  <a:srgbClr val="CCCCCC"/>
                </a:solidFill>
              </a:defRPr>
            </a:pPr>
            <a:r>
              <a:t>×  市場調査に数週間</a:t>
            </a:r>
          </a:p>
          <a:p>
            <a:pPr>
              <a:spcBef>
                <a:spcPts val="1200"/>
              </a:spcBef>
              <a:defRPr sz="2000" b="0">
                <a:solidFill>
                  <a:srgbClr val="CCCCCC"/>
                </a:solidFill>
              </a:defRPr>
            </a:pPr>
            <a:r>
              <a:t>×  リバースエンジニアリングに数週間</a:t>
            </a:r>
          </a:p>
          <a:p>
            <a:pPr>
              <a:spcBef>
                <a:spcPts val="1200"/>
              </a:spcBef>
              <a:defRPr sz="2000" b="0">
                <a:solidFill>
                  <a:srgbClr val="CCCCCC"/>
                </a:solidFill>
              </a:defRPr>
            </a:pPr>
            <a:r>
              <a:t>×  設計・開発に数ヶ月</a:t>
            </a:r>
          </a:p>
          <a:p>
            <a:pPr>
              <a:spcBef>
                <a:spcPts val="1200"/>
              </a:spcBef>
              <a:defRPr sz="2000" b="0">
                <a:solidFill>
                  <a:srgbClr val="CCCCCC"/>
                </a:solidFill>
              </a:defRPr>
            </a:pPr>
            <a:r>
              <a:t>×  テスト・品質担保に数週間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4754880" cy="32004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AI時代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918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 b="0">
                <a:solidFill>
                  <a:srgbClr val="00D2FF"/>
                </a:solidFill>
              </a:defRPr>
            </a:pPr>
            <a:r>
              <a:t>✓  DB横断検索 → 数分で競合マップ</a:t>
            </a:r>
          </a:p>
          <a:p>
            <a:pPr>
              <a:spcBef>
                <a:spcPts val="1200"/>
              </a:spcBef>
              <a:defRPr sz="2000" b="0">
                <a:solidFill>
                  <a:srgbClr val="00D2FF"/>
                </a:solidFill>
              </a:defRPr>
            </a:pPr>
            <a:r>
              <a:t>✓  コード・ドキュメント解析 → 即座に理解</a:t>
            </a:r>
          </a:p>
          <a:p>
            <a:pPr>
              <a:spcBef>
                <a:spcPts val="1200"/>
              </a:spcBef>
              <a:defRPr sz="2000" b="0">
                <a:solidFill>
                  <a:srgbClr val="00D2FF"/>
                </a:solidFill>
              </a:defRPr>
            </a:pPr>
            <a:r>
              <a:t>✓  コード生成＋テスト自動化 → 数日で実装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114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A500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先行者利益が効かなくなるメカニズム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28600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64008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2E"/>
                          </a:solidFill>
                        </a:defRPr>
                      </a:pPr>
                      <a:r>
                        <a:t>従来の競争優位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A1A2E"/>
                          </a:solidFill>
                        </a:defRPr>
                      </a:pPr>
                      <a:r>
                        <a:t>AI時代の現実</a:t>
                      </a:r>
                    </a:p>
                  </a:txBody>
                  <a:tcPr>
                    <a:solidFill>
                      <a:srgbClr val="00D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独自機能を先に出す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6B6B"/>
                          </a:solidFill>
                        </a:defRPr>
                      </a:pPr>
                      <a:r>
                        <a:t>数日で模倣される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技術的な実装ノウハウ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6B6B"/>
                          </a:solidFill>
                        </a:defRPr>
                      </a:pPr>
                      <a:r>
                        <a:t>AIがコード生成で代替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開発チームの規模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6B6B"/>
                          </a:solidFill>
                        </a:defRPr>
                      </a:pPr>
                      <a:r>
                        <a:t>少人数＋AIで同等の開発力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特許・知財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FF6B6B"/>
                          </a:solidFill>
                        </a:defRPr>
                      </a:pPr>
                      <a:r>
                        <a:t>UI/UXパターンは保護しにくい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では何が残るのか──「営業力」が全て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「作れる」と「売れる」は全く別のスキルセット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834640"/>
            <a:ext cx="54864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834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顧客との信頼関係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83464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「この人から買いたい」と思われる力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66160"/>
            <a:ext cx="54864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35661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ドメイン知識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5661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顧客の業界・業務を深く理解し、的確に提案する力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97680"/>
            <a:ext cx="54864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2976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課題発見力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2976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顧客自身が気づいていない問題を見つけ、言語化する力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029200"/>
            <a:ext cx="54864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0292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伴走力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0292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導入後も寄り添い、成果が出るまで支援する力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760720"/>
            <a:ext cx="54864" cy="594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5760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t>ブランド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76072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「この会社なら間違いない」という認知と信頼の蓄積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AI時代の事業者が取るべき戦略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</a:defRPr>
            </a:pPr>
            <a:r>
              <a:t>✕ やめるべきこと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1900" b="0">
                <a:solidFill>
                  <a:srgbClr val="CCCCCC"/>
                </a:solidFill>
              </a:defRPr>
            </a:pPr>
            <a:r>
              <a:t>×  機能数の多さを競争優位だと思うこと</a:t>
            </a:r>
          </a:p>
          <a:p>
            <a:pPr>
              <a:spcBef>
                <a:spcPts val="1200"/>
              </a:spcBef>
              <a:defRPr sz="1900" b="0">
                <a:solidFill>
                  <a:srgbClr val="CCCCCC"/>
                </a:solidFill>
              </a:defRPr>
            </a:pPr>
            <a:r>
              <a:t>×  「技術的に難しいから真似されない」という幻想</a:t>
            </a:r>
          </a:p>
          <a:p>
            <a:pPr>
              <a:spcBef>
                <a:spcPts val="1200"/>
              </a:spcBef>
              <a:defRPr sz="1900" b="0">
                <a:solidFill>
                  <a:srgbClr val="CCCCCC"/>
                </a:solidFill>
              </a:defRPr>
            </a:pPr>
            <a:r>
              <a:t>×  開発チームの人数で勝とうとすること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◎ やるべきこと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1900" b="1">
                <a:solidFill>
                  <a:srgbClr val="00D2FF"/>
                </a:solidFill>
              </a:defRPr>
            </a:pPr>
            <a:r>
              <a:t>営業・CS への投資を増やす</a:t>
            </a:r>
          </a:p>
          <a:p>
            <a:pPr>
              <a:spcBef>
                <a:spcPts val="1200"/>
              </a:spcBef>
              <a:defRPr sz="1700" b="0">
                <a:solidFill>
                  <a:srgbClr val="CCCCCC"/>
                </a:solidFill>
              </a:defRPr>
            </a:pPr>
            <a:r>
              <a:t>開発10人,営業2人 → 開発3人+AI,営業5人,CS4人</a:t>
            </a:r>
          </a:p>
          <a:p>
            <a:pPr>
              <a:spcBef>
                <a:spcPts val="1200"/>
              </a:spcBef>
              <a:defRPr sz="1900" b="1">
                <a:solidFill>
                  <a:srgbClr val="00D2FF"/>
                </a:solidFill>
              </a:defRPr>
            </a:pPr>
            <a:r>
              <a:t>顧客接点を厚くする</a:t>
            </a:r>
          </a:p>
          <a:p>
            <a:pPr>
              <a:spcBef>
                <a:spcPts val="1200"/>
              </a:spcBef>
              <a:defRPr sz="1700" b="0">
                <a:solidFill>
                  <a:srgbClr val="CCCCCC"/>
                </a:solidFill>
              </a:defRPr>
            </a:pPr>
            <a:r>
              <a:t>オンボーディング・定期レビュー・勉強会</a:t>
            </a:r>
          </a:p>
          <a:p>
            <a:pPr>
              <a:spcBef>
                <a:spcPts val="1200"/>
              </a:spcBef>
              <a:defRPr sz="1900" b="1">
                <a:solidFill>
                  <a:srgbClr val="00D2FF"/>
                </a:solidFill>
              </a:defRPr>
            </a:pPr>
            <a:r>
              <a:t>ドメイン特化ナレッジを蓄積する</a:t>
            </a:r>
          </a:p>
          <a:p>
            <a:pPr>
              <a:spcBef>
                <a:spcPts val="1200"/>
              </a:spcBef>
              <a:defRPr sz="1700" b="0">
                <a:solidFill>
                  <a:srgbClr val="CCCCCC"/>
                </a:solidFill>
              </a:defRPr>
            </a:pPr>
            <a:r>
              <a:t>成功事例・失敗パターンの組織的蓄積</a:t>
            </a:r>
          </a:p>
          <a:p>
            <a:pPr>
              <a:spcBef>
                <a:spcPts val="1200"/>
              </a:spcBef>
              <a:defRPr sz="1900" b="1">
                <a:solidFill>
                  <a:srgbClr val="00D2FF"/>
                </a:solidFill>
              </a:defRPr>
            </a:pPr>
            <a:r>
              <a:t>AIを営業の武器として使う</a:t>
            </a:r>
          </a:p>
          <a:p>
            <a:pPr>
              <a:spcBef>
                <a:spcPts val="1200"/>
              </a:spcBef>
              <a:defRPr sz="1700" b="0">
                <a:solidFill>
                  <a:srgbClr val="CCCCCC"/>
                </a:solidFill>
              </a:defRPr>
            </a:pPr>
            <a:r>
              <a:t>提案書作成・顧客分析・商談準備にAI活用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</a:defRPr>
            </a:pPr>
            <a:r>
              <a:t>「作る時代」から「売る時代」へ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</a:p>
          <a:p>
            <a:pPr>
              <a:spcBef>
                <a:spcPts val="2000"/>
              </a:spcBef>
              <a:defRPr sz="2600" b="0">
                <a:solidFill>
                  <a:srgbClr val="CCCCCC"/>
                </a:solidFill>
              </a:defRPr>
            </a:pPr>
            <a:r>
              <a:t>機能は真似される。技術は追いつかれる。</a:t>
            </a:r>
          </a:p>
          <a:p>
            <a:pPr>
              <a:spcBef>
                <a:spcPts val="1600"/>
              </a:spcBef>
              <a:defRPr sz="2600" b="0">
                <a:solidFill>
                  <a:srgbClr val="CCCCCC"/>
                </a:solidFill>
              </a:defRPr>
            </a:pPr>
            <a:r>
              <a:t>しかし、顧客との信頼関係は一朝一夕には築けない。</a:t>
            </a:r>
          </a:p>
          <a:p>
            <a:pPr>
              <a:spcBef>
                <a:spcPts val="2400"/>
              </a:spcBef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3000" b="1">
                <a:solidFill>
                  <a:srgbClr val="FFFFFF"/>
                </a:solidFill>
              </a:defRPr>
            </a:pPr>
            <a:r>
              <a:t>AI時代こそ、営業力が最後の、</a:t>
            </a:r>
          </a:p>
          <a:p>
            <a:pPr>
              <a:spcBef>
                <a:spcPts val="800"/>
              </a:spcBef>
              <a:defRPr sz="3000" b="1">
                <a:solidFill>
                  <a:srgbClr val="FFFFFF"/>
                </a:solidFill>
              </a:defRPr>
            </a:pPr>
            <a:r>
              <a:t>そして最大の競争優位になる。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669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HARMONIC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