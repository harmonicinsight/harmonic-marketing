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548640"/>
            <a:ext cx="1737360" cy="274320"/>
          </a:xfrm>
          <a:prstGeom prst="roundRect">
            <a:avLst>
              <a:gd name="adj" fmla="val 35000"/>
            </a:avLst>
          </a:prstGeom>
          <a:solidFill>
            <a:srgbClr val="B5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Hiragino Sans"/>
              </a:rPr>
              <a:t>3月18日 Anthropic発表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371600"/>
            <a:ext cx="3383280" cy="139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C1917"/>
                </a:solidFill>
                <a:latin typeface="Hiragino Sans"/>
              </a:rPr>
              <a:t>AIを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1C1917"/>
                </a:solidFill>
                <a:latin typeface="Hiragino Sans"/>
              </a:rPr>
              <a:t>一番使っている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1C1917"/>
                </a:solidFill>
                <a:latin typeface="Hiragino Sans"/>
              </a:rPr>
              <a:t>人が、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971800"/>
            <a:ext cx="3383280" cy="106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5453A"/>
                </a:solidFill>
                <a:latin typeface="Hiragino Sans"/>
              </a:rPr>
              <a:t>一番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B5453A"/>
                </a:solidFill>
                <a:latin typeface="Hiragino Sans"/>
              </a:rPr>
              <a:t>AIを恐れている。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41148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343400"/>
            <a:ext cx="3383280" cy="392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81,000人のインタビューが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明らかにした「光と影」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3383280" cy="499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6652"/>
                </a:solidFill>
                <a:latin typeface="Hiragino Sans"/>
              </a:rPr>
              <a:t>レポートが示した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6652"/>
                </a:solidFill>
                <a:latin typeface="Hiragino Sans"/>
              </a:rPr>
              <a:t>矛盾するデータ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3383280" cy="7132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C1917"/>
                </a:solidFill>
                <a:latin typeface="Hiragino Sans"/>
              </a:rPr>
              <a:t>AIに感情的に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C1917"/>
                </a:solidFill>
                <a:latin typeface="Hiragino Sans"/>
              </a:rPr>
              <a:t>助けられた人ほど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3383280" cy="2496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6652"/>
                </a:solidFill>
                <a:latin typeface="Hiragino Sans"/>
              </a:rPr>
              <a:t>AI依存を恐れる率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86000"/>
            <a:ext cx="3383280" cy="93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400" b="1">
                <a:solidFill>
                  <a:srgbClr val="B5453A"/>
                </a:solidFill>
                <a:latin typeface="Hiragino Sans"/>
              </a:rPr>
              <a:t>3</a:t>
            </a:r>
            <a:r>
              <a:rPr sz="2800" b="1">
                <a:solidFill>
                  <a:srgbClr val="B5453A"/>
                </a:solidFill>
                <a:latin typeface="Hiragino Sans"/>
              </a:rPr>
              <a:t> 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4290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3657600"/>
            <a:ext cx="3383280" cy="46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教師が学生の思考力低下を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目撃する頻度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43400"/>
            <a:ext cx="3383280" cy="70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800" b="1">
                <a:solidFill>
                  <a:srgbClr val="C17817"/>
                </a:solidFill>
                <a:latin typeface="Hiragino Sans"/>
              </a:rPr>
              <a:t>2.5</a:t>
            </a:r>
            <a:r>
              <a:rPr sz="2400" b="1">
                <a:solidFill>
                  <a:srgbClr val="C17817"/>
                </a:solidFill>
                <a:latin typeface="Hiragino Sans"/>
              </a:rPr>
              <a:t> 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400000"/>
            <a:ext cx="3383280" cy="124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BFAD9C"/>
                </a:solidFill>
                <a:latin typeface="Hiragino Sans"/>
              </a:rPr>
              <a:t>出典: Anthropic "What 81,000 people want from AI"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32000" cy="3886200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383280" cy="46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レポートに登場する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イスラエルの弁護士の声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3383280" cy="1689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「AIで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  契約書レビューの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  時間を節約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  している。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200400"/>
            <a:ext cx="3383280" cy="2112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C17817"/>
                </a:solidFill>
                <a:latin typeface="Hiragino Sans"/>
              </a:rPr>
              <a:t>  でも同時に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C17817"/>
                </a:solidFill>
                <a:latin typeface="Hiragino Sans"/>
              </a:rPr>
              <a:t>  恐れている。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C17817"/>
                </a:solidFill>
                <a:latin typeface="Hiragino Sans"/>
              </a:rPr>
              <a:t>  自分で読む力を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C17817"/>
                </a:solidFill>
                <a:latin typeface="Hiragino Sans"/>
              </a:rPr>
              <a:t>  失っているの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C17817"/>
                </a:solidFill>
                <a:latin typeface="Hiragino Sans"/>
              </a:rPr>
              <a:t>  ではないか」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486400"/>
            <a:ext cx="3383280" cy="178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BFAD9C"/>
                </a:solidFill>
                <a:latin typeface="Hiragino Sans"/>
              </a:rPr>
              <a:t>── 実名で語られたリアルな声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3383280" cy="64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5D4E3F"/>
                </a:solidFill>
                <a:latin typeface="Hiragino Sans"/>
              </a:rPr>
              <a:t>調査が明らかにした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5D4E3F"/>
                </a:solidFill>
                <a:latin typeface="Hiragino Sans"/>
              </a:rPr>
              <a:t>3つの懸念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B5453A"/>
                </a:solidFill>
                <a:latin typeface="Hiragino Sans"/>
              </a:rPr>
              <a:t>27%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016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AIの信頼性（ハルシネーション）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860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17817"/>
                </a:solidFill>
                <a:latin typeface="Hiragino Sans"/>
              </a:rPr>
              <a:t>22%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160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雇用と経済への影響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B3A5C"/>
                </a:solidFill>
                <a:latin typeface="Hiragino Sans"/>
              </a:rPr>
              <a:t>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304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人間の自律性の喪失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3434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571040"/>
            <a:ext cx="3383280" cy="90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レポートの指摘：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恩恵は「実体験」として語られ、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懸念は「まだ来ていない未来」として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語られた。この非対称性が重要。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600200"/>
            <a:ext cx="3383280" cy="1604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1917"/>
                </a:solidFill>
                <a:latin typeface="Hiragino Sans"/>
              </a:rPr>
              <a:t>光と影は、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1917"/>
                </a:solidFill>
                <a:latin typeface="Hiragino Sans"/>
              </a:rPr>
              <a:t>同じ人の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1917"/>
                </a:solidFill>
                <a:latin typeface="Hiragino Sans"/>
              </a:rPr>
              <a:t>中にある。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3429000"/>
            <a:ext cx="3383280" cy="106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8942F"/>
                </a:solidFill>
                <a:latin typeface="Hiragino Sans"/>
              </a:rPr>
              <a:t>だからAIは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B8942F"/>
                </a:solidFill>
                <a:latin typeface="Hiragino Sans"/>
              </a:rPr>
              <a:t>設計して使う。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000"/>
            <a:ext cx="3383280" cy="124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BFAD9C"/>
                </a:solidFill>
                <a:latin typeface="Hiragino Sans"/>
              </a:rPr>
              <a:t>Anthropic "81,000 Interviews" 2026年3月18日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