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4114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7432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</a:rPr>
              <a:t>3月18日 発表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8840" y="274320"/>
            <a:ext cx="155448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100">
                <a:solidFill>
                  <a:srgbClr val="A8A29E"/>
                </a:solidFill>
                <a:latin typeface="Hiragino Sans"/>
              </a:rPr>
              <a:t>Anthropic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56616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Sans"/>
              </a:rPr>
              <a:t>AIを一番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Hiragino Sans"/>
              </a:rPr>
              <a:t>使っている人が、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743200"/>
            <a:ext cx="356616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E53935"/>
                </a:solidFill>
                <a:latin typeface="Hiragino Sans"/>
              </a:rPr>
              <a:t>一番AIを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E53935"/>
                </a:solidFill>
                <a:latin typeface="Hiragino Sans"/>
              </a:rPr>
              <a:t>恐れている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343400"/>
            <a:ext cx="356616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7534E"/>
                </a:solidFill>
                <a:latin typeface="Hiragino Sans"/>
              </a:rPr>
              <a:t>81,000人が語った「光と影」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7432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Hiragino Sans"/>
              </a:rPr>
              <a:t>3月18日 発表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8840" y="274320"/>
            <a:ext cx="155448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100">
                <a:solidFill>
                  <a:srgbClr val="A8A29E"/>
                </a:solidFill>
                <a:latin typeface="Hiragino Sans"/>
              </a:rPr>
              <a:t>Anthropic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56616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Hiragino Sans"/>
              </a:rPr>
              <a:t>AIに感情的に</a:t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Hiragino Sans"/>
              </a:rPr>
              <a:t>助けられた人は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86000"/>
            <a:ext cx="35661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A8A29E"/>
                </a:solidFill>
                <a:latin typeface="Hiragino Sans"/>
              </a:rPr>
              <a:t>依存を恐れる率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356616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200" b="1">
                <a:solidFill>
                  <a:srgbClr val="E53935"/>
                </a:solidFill>
                <a:latin typeface="Hiragino Sans"/>
              </a:rPr>
              <a:t>3</a:t>
            </a:r>
            <a:r>
              <a:rPr sz="2000" b="1">
                <a:solidFill>
                  <a:srgbClr val="E53935"/>
                </a:solidFill>
                <a:latin typeface="Hiragino Sans"/>
              </a:rPr>
              <a:t>倍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886200"/>
            <a:ext cx="3566160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4114800"/>
            <a:ext cx="356616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A8A29E"/>
                </a:solidFill>
                <a:latin typeface="Hiragino Sans"/>
              </a:rPr>
              <a:t>教師が学生の思考力低下を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8A29E"/>
                </a:solidFill>
                <a:latin typeface="Hiragino Sans"/>
              </a:rPr>
              <a:t>目撃する率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800600"/>
            <a:ext cx="35661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A726"/>
                </a:solidFill>
                <a:latin typeface="Hiragino Sans"/>
              </a:rPr>
              <a:t>平均の2.5倍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1371600"/>
            <a:ext cx="36576" cy="2057400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56616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Sans"/>
              </a:rPr>
              <a:t>AIで契約書レビューの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iragino Sans"/>
              </a:rPr>
              <a:t>時間を節約している。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514600"/>
            <a:ext cx="356616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A726"/>
                </a:solidFill>
                <a:latin typeface="Hiragino Sans"/>
              </a:rPr>
              <a:t>でも同時に恐れている。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FFA726"/>
                </a:solidFill>
                <a:latin typeface="Hiragino Sans"/>
              </a:rPr>
              <a:t>自分で読む力を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FFA726"/>
                </a:solidFill>
                <a:latin typeface="Hiragino Sans"/>
              </a:rPr>
              <a:t>失っているのでは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FFA726"/>
                </a:solidFill>
                <a:latin typeface="Hiragino Sans"/>
              </a:rPr>
              <a:t>ないか。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11480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7534E"/>
                </a:solidFill>
                <a:latin typeface="Hiragino Sans"/>
              </a:rPr>
              <a:t>── イスラエルの弁護士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356616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B8942F"/>
                </a:solidFill>
                <a:latin typeface="Hiragino Sans"/>
              </a:rPr>
              <a:t>懸念トップ3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356616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A8A29E"/>
                </a:solidFill>
                <a:latin typeface="Hiragino Sans"/>
              </a:rPr>
              <a:t>1. 信頼性（ハルシネーション）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3031236" cy="320040"/>
          </a:xfrm>
          <a:prstGeom prst="roundRect">
            <a:avLst>
              <a:gd name="adj" fmla="val 15000"/>
            </a:avLst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828800"/>
            <a:ext cx="2312400" cy="320040"/>
          </a:xfrm>
          <a:prstGeom prst="roundRect">
            <a:avLst>
              <a:gd name="adj" fmla="val 15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74136" y="1828800"/>
            <a:ext cx="5486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E53935"/>
                </a:solidFill>
                <a:latin typeface="Hiragino Sans"/>
              </a:rPr>
              <a:t>26.7%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86000"/>
            <a:ext cx="356616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A8A29E"/>
                </a:solidFill>
                <a:latin typeface="Hiragino Sans"/>
              </a:rPr>
              <a:t>2. 雇用と経済への影響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514600"/>
            <a:ext cx="3031236" cy="320040"/>
          </a:xfrm>
          <a:prstGeom prst="roundRect">
            <a:avLst>
              <a:gd name="adj" fmla="val 15000"/>
            </a:avLst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2514600"/>
            <a:ext cx="1931330" cy="320040"/>
          </a:xfrm>
          <a:prstGeom prst="roundRect">
            <a:avLst>
              <a:gd name="adj" fmla="val 15000"/>
            </a:avLst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74136" y="2514600"/>
            <a:ext cx="5486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A726"/>
                </a:solidFill>
                <a:latin typeface="Hiragino Sans"/>
              </a:rPr>
              <a:t>22.3%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71800"/>
            <a:ext cx="356616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A8A29E"/>
                </a:solidFill>
                <a:latin typeface="Hiragino Sans"/>
              </a:rPr>
              <a:t>3. 人間の自律性の喪失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200400"/>
            <a:ext cx="3031236" cy="320040"/>
          </a:xfrm>
          <a:prstGeom prst="roundRect">
            <a:avLst>
              <a:gd name="adj" fmla="val 15000"/>
            </a:avLst>
          </a:prstGeom>
          <a:solidFill>
            <a:srgbClr val="2C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" y="3200400"/>
            <a:ext cx="1896687" cy="320040"/>
          </a:xfrm>
          <a:prstGeom prst="roundRect">
            <a:avLst>
              <a:gd name="adj" fmla="val 15000"/>
            </a:avLst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74136" y="3200400"/>
            <a:ext cx="5486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AB47BC"/>
                </a:solidFill>
                <a:latin typeface="Hiragino Sans"/>
              </a:rPr>
              <a:t>21.9%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14800"/>
            <a:ext cx="3566160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343400"/>
            <a:ext cx="3566160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7534E"/>
                </a:solidFill>
                <a:latin typeface="Hiragino Sans"/>
              </a:rPr>
              <a:t>恩恵は「実体験」として語られた。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7534E"/>
                </a:solidFill>
                <a:latin typeface="Hiragino Sans"/>
              </a:rPr>
              <a:t>懸念の多くは「まだ起きていないが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7534E"/>
                </a:solidFill>
                <a:latin typeface="Hiragino Sans"/>
              </a:rPr>
              <a:t>起きるかもしれない」という予測。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>
                <a:solidFill>
                  <a:srgbClr val="B8942F"/>
                </a:solidFill>
                <a:latin typeface="Hiragino Sans"/>
              </a:rPr>
              <a:t>HARMONIC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00200"/>
            <a:ext cx="3566160" cy="1600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光と影は、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同じ人の中に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Hiragino Sans"/>
              </a:rPr>
              <a:t>ある。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429000"/>
            <a:ext cx="3566160" cy="18288"/>
          </a:xfrm>
          <a:prstGeom prst="rect">
            <a:avLst/>
          </a:prstGeom>
          <a:solidFill>
            <a:srgbClr val="B89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3657600"/>
            <a:ext cx="356616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8942F"/>
                </a:solidFill>
                <a:latin typeface="Hiragino Sans"/>
              </a:rPr>
              <a:t>だからAIは</a:t>
            </a:r>
          </a:p>
          <a:p>
            <a:pPr algn="l">
              <a:spcAft>
                <a:spcPts val="400"/>
              </a:spcAft>
            </a:pPr>
            <a:r>
              <a:rPr sz="2800" b="1">
                <a:solidFill>
                  <a:srgbClr val="B8942F"/>
                </a:solidFill>
                <a:latin typeface="Hiragino Sans"/>
              </a:rPr>
              <a:t>設計して使う。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356616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7534E"/>
                </a:solidFill>
                <a:latin typeface="Hiragino Sans"/>
              </a:rPr>
              <a:t>出典: Anthropic "81,000 Interviews"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