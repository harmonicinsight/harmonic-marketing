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457200"/>
            <a:ext cx="1645920" cy="274320"/>
          </a:xfrm>
          <a:prstGeom prst="roundRect">
            <a:avLst>
              <a:gd name="adj" fmla="val 35000"/>
            </a:avLst>
          </a:prstGeom>
          <a:solidFill>
            <a:srgbClr val="E84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5F0EB"/>
                </a:solidFill>
                <a:latin typeface="Hiragino Sans"/>
              </a:rPr>
              <a:t>3月18日 Anthropic発表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3474720" cy="13979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F0EB"/>
                </a:solidFill>
                <a:latin typeface="Hiragino Sans"/>
              </a:rPr>
              <a:t>AIを</a:t>
            </a:r>
          </a:p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F0EB"/>
                </a:solidFill>
                <a:latin typeface="Hiragino Sans"/>
              </a:rPr>
              <a:t>一番使っている</a:t>
            </a:r>
          </a:p>
          <a:p>
            <a:pPr algn="l">
              <a:lnSpc>
                <a:spcPct val="130000"/>
              </a:lnSpc>
            </a:pPr>
            <a:r>
              <a:rPr sz="2800" b="1">
                <a:solidFill>
                  <a:srgbClr val="F5F0EB"/>
                </a:solidFill>
                <a:latin typeface="Hiragino Sans"/>
              </a:rPr>
              <a:t>人が、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743200"/>
            <a:ext cx="3474720" cy="998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E84D3D"/>
                </a:solidFill>
                <a:latin typeface="Hiragino Sans"/>
              </a:rPr>
              <a:t>一番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E84D3D"/>
                </a:solidFill>
                <a:latin typeface="Hiragino Sans"/>
              </a:rPr>
              <a:t>AIを恐れている。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38862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4114800"/>
            <a:ext cx="3474720" cy="399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81,000人のインタビューが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明らかにした「光と影」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54864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8716C"/>
                </a:solidFill>
                <a:latin typeface="Hiragino Sans"/>
              </a:rPr>
              <a:t>レポートが示した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78716C"/>
                </a:solidFill>
                <a:latin typeface="Hiragino Sans"/>
              </a:rPr>
              <a:t>矛盾するデータ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371600"/>
            <a:ext cx="3474720" cy="73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AIに感情的に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助けられた人ほど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2286000"/>
            <a:ext cx="3474720" cy="2662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8716C"/>
                </a:solidFill>
                <a:latin typeface="Hiragino Sans"/>
              </a:rPr>
              <a:t>AI依存を恐れる率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743200"/>
            <a:ext cx="3474720" cy="877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6400" b="1">
                <a:solidFill>
                  <a:srgbClr val="E84D3D"/>
                </a:solidFill>
                <a:latin typeface="Hiragino Sans"/>
              </a:rPr>
              <a:t>3</a:t>
            </a:r>
            <a:r>
              <a:rPr sz="2800" b="1">
                <a:solidFill>
                  <a:srgbClr val="E84D3D"/>
                </a:solidFill>
                <a:latin typeface="Hiragino Sans"/>
              </a:rPr>
              <a:t> 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8862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4114800"/>
            <a:ext cx="3474720" cy="465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教師が学生の思考力低下を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目撃する頻度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800600"/>
            <a:ext cx="3474720" cy="658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4800" b="1">
                <a:solidFill>
                  <a:srgbClr val="FFB300"/>
                </a:solidFill>
                <a:latin typeface="Hiragino Sans"/>
              </a:rPr>
              <a:t>2.5</a:t>
            </a:r>
            <a:r>
              <a:rPr sz="2400" b="1">
                <a:solidFill>
                  <a:srgbClr val="FFB300"/>
                </a:solidFill>
                <a:latin typeface="Hiragino Sans"/>
              </a:rPr>
              <a:t> 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6400000"/>
            <a:ext cx="3474720" cy="133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A4540"/>
                </a:solidFill>
                <a:latin typeface="Hiragino Sans"/>
              </a:rPr>
              <a:t>出典: Anthropic "What 81,000 people want from AI"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"/>
            <a:ext cx="36576" cy="3657600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914400"/>
            <a:ext cx="3474720" cy="4659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レポートに登場する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8716C"/>
                </a:solidFill>
                <a:latin typeface="Hiragino Sans"/>
              </a:rPr>
              <a:t>イスラエルの弁護士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474720" cy="15771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「AIで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  契約書レビューの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  時間を節約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5F0EB"/>
                </a:solidFill>
                <a:latin typeface="Hiragino Sans"/>
              </a:rPr>
              <a:t>  している。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3200400"/>
            <a:ext cx="3474720" cy="197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B300"/>
                </a:solidFill>
                <a:latin typeface="Hiragino Sans"/>
              </a:rPr>
              <a:t>  でも同時に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B300"/>
                </a:solidFill>
                <a:latin typeface="Hiragino Sans"/>
              </a:rPr>
              <a:t>  恐れている。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B300"/>
                </a:solidFill>
                <a:latin typeface="Hiragino Sans"/>
              </a:rPr>
              <a:t>  自分で読む力を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B300"/>
                </a:solidFill>
                <a:latin typeface="Hiragino Sans"/>
              </a:rPr>
              <a:t>  失っているの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B300"/>
                </a:solidFill>
                <a:latin typeface="Hiragino Sans"/>
              </a:rPr>
              <a:t>  ではないか」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486400"/>
            <a:ext cx="3474720" cy="183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A4540"/>
                </a:solidFill>
                <a:latin typeface="Hiragino Sans"/>
              </a:rPr>
              <a:t>── 実名で語られた、リアルな声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548640"/>
            <a:ext cx="3474720" cy="599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78716C"/>
                </a:solidFill>
                <a:latin typeface="Hiragino Sans"/>
              </a:rPr>
              <a:t>調査が明らかにした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78716C"/>
                </a:solidFill>
                <a:latin typeface="Hiragino Sans"/>
              </a:rPr>
              <a:t>3つの懸念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1430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3716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E84D3D"/>
                </a:solidFill>
                <a:latin typeface="Hiragino Sans"/>
              </a:rPr>
              <a:t>27%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7916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AIの信頼性（ハルシネーション）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2860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B300"/>
                </a:solidFill>
                <a:latin typeface="Hiragino Sans"/>
              </a:rPr>
              <a:t>22%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7060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雇用と経済への影響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3200400"/>
            <a:ext cx="3474720" cy="5325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BB86FC"/>
                </a:solidFill>
                <a:latin typeface="Hiragino Sans"/>
              </a:rPr>
              <a:t>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620400"/>
            <a:ext cx="3474720" cy="2163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8716C"/>
                </a:solidFill>
                <a:latin typeface="Hiragino Sans"/>
              </a:rPr>
              <a:t>人間の自律性の喪失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343400"/>
            <a:ext cx="914400" cy="13716"/>
          </a:xfrm>
          <a:prstGeom prst="rect">
            <a:avLst/>
          </a:prstGeom>
          <a:solidFill>
            <a:srgbClr val="C9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4571040"/>
            <a:ext cx="3474720" cy="9217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レポートの指摘：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恩恵は「実体験」として語られ、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懸念は「まだ来ていない未来」として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8716C"/>
                </a:solidFill>
                <a:latin typeface="Hiragino Sans"/>
              </a:rPr>
              <a:t>語られた。この非対称性が重要。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600200"/>
            <a:ext cx="3474720" cy="14977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光と影は、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同じ人の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5F0EB"/>
                </a:solidFill>
                <a:latin typeface="Hiragino Sans"/>
              </a:rPr>
              <a:t>中にある。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3429000"/>
            <a:ext cx="3474720" cy="998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C9A02D"/>
                </a:solidFill>
                <a:latin typeface="Hiragino Sans"/>
              </a:rPr>
              <a:t>だからAIは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C9A02D"/>
                </a:solidFill>
                <a:latin typeface="Hiragino Sans"/>
              </a:rPr>
              <a:t>設計して使う。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172200"/>
            <a:ext cx="3474720" cy="133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4A4540"/>
                </a:solidFill>
                <a:latin typeface="Hiragino Sans"/>
              </a:rPr>
              <a:t>Anthropic "81,000 Interviews" 2026年3月18日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720000"/>
            <a:ext cx="3474720" cy="149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C9A02D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