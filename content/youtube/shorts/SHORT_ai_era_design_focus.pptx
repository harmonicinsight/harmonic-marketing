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4114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3566160" cy="1600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AI時代、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「機能」では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もう勝てない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971800"/>
            <a:ext cx="3566160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3200400"/>
            <a:ext cx="356616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8942F"/>
                </a:solidFill>
                <a:latin typeface="Hiragino Sans"/>
              </a:rPr>
              <a:t>差がつくのは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B8942F"/>
                </a:solidFill>
                <a:latin typeface="Hiragino Sans"/>
              </a:rPr>
              <a:t>「相性」だけ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571040"/>
            <a:ext cx="35661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7534E"/>
                </a:solidFill>
                <a:latin typeface="Hiragino Sans"/>
              </a:rPr>
              <a:t>機能格差ゼロ時代のシステム選び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57200"/>
            <a:ext cx="35661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8942F"/>
                </a:solidFill>
                <a:latin typeface="Hiragino Sans"/>
              </a:rPr>
              <a:t>競争の行方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8A29E"/>
                </a:solidFill>
                <a:latin typeface="Hiragino Sans"/>
              </a:rPr>
              <a:t>差別化ポイントの変遷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2C2723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53935"/>
                </a:solidFill>
                <a:latin typeface="Hiragino Sans"/>
              </a:rPr>
              <a:t>機能差は消える</a:t>
            </a:r>
          </a:p>
        </p:txBody>
      </p:sp>
      <p:sp>
        <p:nvSpPr>
          <p:cNvPr id="7" name="Down Arrow 6"/>
          <p:cNvSpPr/>
          <p:nvPr/>
        </p:nvSpPr>
        <p:spPr>
          <a:xfrm>
            <a:off x="1965960" y="1975104"/>
            <a:ext cx="182880" cy="164592"/>
          </a:xfrm>
          <a:prstGeom prst="downArrow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219456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2C2723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A726"/>
                </a:solidFill>
                <a:latin typeface="Hiragino Sans"/>
              </a:rPr>
              <a:t>性能差も縮む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2615184"/>
            <a:ext cx="182880" cy="164592"/>
          </a:xfrm>
          <a:prstGeom prst="downArrow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83464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2C2723"/>
          </a:solidFill>
          <a:ln w="19050">
            <a:solidFill>
              <a:srgbClr val="B89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B8942F"/>
                </a:solidFill>
                <a:latin typeface="Hiragino Sans"/>
              </a:rPr>
              <a:t>体験・思想・信頼・好み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86200"/>
            <a:ext cx="356616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7534E"/>
                </a:solidFill>
                <a:latin typeface="Hiragino Sans"/>
              </a:rPr>
              <a:t>基盤モデルが共通化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7534E"/>
                </a:solidFill>
                <a:latin typeface="Hiragino Sans"/>
              </a:rPr>
              <a:t>ベストプラクティスが広がる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7534E"/>
                </a:solidFill>
                <a:latin typeface="Hiragino Sans"/>
              </a:rPr>
              <a:t>UI/UXパターンが標準化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7534E"/>
                </a:solidFill>
                <a:latin typeface="Hiragino Sans"/>
              </a:rPr>
              <a:t>各社とも同じ最適化をする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356616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Hiragino Sans"/>
              </a:rPr>
              <a:t>なぜ機能では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Hiragino Sans"/>
              </a:rPr>
              <a:t>差がつかないか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3566160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2114550"/>
            <a:ext cx="320040" cy="320040"/>
          </a:xfrm>
          <a:prstGeom prst="ellipse">
            <a:avLst/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53935"/>
                </a:solidFill>
                <a:latin typeface="Hiragino San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2114550"/>
            <a:ext cx="31775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iragino Sans"/>
              </a:rPr>
              <a:t>すぐに模倣される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2571750"/>
            <a:ext cx="320040" cy="320040"/>
          </a:xfrm>
          <a:prstGeom prst="ellipse">
            <a:avLst/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A726"/>
                </a:solidFill>
                <a:latin typeface="Hiragino San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2571750"/>
            <a:ext cx="31775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iragino Sans"/>
              </a:rPr>
              <a:t>統合・API化される</a:t>
            </a:r>
          </a:p>
        </p:txBody>
      </p:sp>
      <p:sp>
        <p:nvSpPr>
          <p:cNvPr id="10" name="Oval 9"/>
          <p:cNvSpPr/>
          <p:nvPr/>
        </p:nvSpPr>
        <p:spPr>
          <a:xfrm>
            <a:off x="274320" y="3028950"/>
            <a:ext cx="320040" cy="320040"/>
          </a:xfrm>
          <a:prstGeom prst="ellipse">
            <a:avLst/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2A5F5"/>
                </a:solidFill>
                <a:latin typeface="Hiragino Sans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28950"/>
            <a:ext cx="31775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iragino Sans"/>
              </a:rPr>
              <a:t>同等機能が並ぶ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3566160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886200"/>
            <a:ext cx="356616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B8942F"/>
                </a:solidFill>
                <a:latin typeface="Hiragino Sans"/>
              </a:rPr>
              <a:t>独自機能という状態は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B8942F"/>
                </a:solidFill>
                <a:latin typeface="Hiragino Sans"/>
              </a:rPr>
              <a:t>長く続かない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57200"/>
            <a:ext cx="35661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8942F"/>
                </a:solidFill>
                <a:latin typeface="Hiragino Sans"/>
              </a:rPr>
              <a:t>最後に残る差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1143000"/>
            <a:ext cx="320040" cy="320040"/>
          </a:xfrm>
          <a:prstGeom prst="ellipse">
            <a:avLst/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2A5F5"/>
                </a:solidFill>
                <a:latin typeface="Hiragino San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940" y="1143000"/>
            <a:ext cx="31775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iragino Sans"/>
              </a:rPr>
              <a:t>性格 ─ 慎重か、大胆か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1600200"/>
            <a:ext cx="320040" cy="320040"/>
          </a:xfrm>
          <a:prstGeom prst="ellipse">
            <a:avLst/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6BB6A"/>
                </a:solidFill>
                <a:latin typeface="Hiragino Sans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1600200"/>
            <a:ext cx="31775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iragino Sans"/>
              </a:rPr>
              <a:t>フィット感 ─ 自然に使えるか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057400"/>
            <a:ext cx="320040" cy="320040"/>
          </a:xfrm>
          <a:prstGeom prst="ellipse">
            <a:avLst/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A726"/>
                </a:solidFill>
                <a:latin typeface="Hiragino San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057400"/>
            <a:ext cx="31775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iragino Sans"/>
              </a:rPr>
              <a:t>信頼 ─ 間違えた時どう振る舞うか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514600"/>
            <a:ext cx="320040" cy="320040"/>
          </a:xfrm>
          <a:prstGeom prst="ellipse">
            <a:avLst/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C6DA"/>
                </a:solidFill>
                <a:latin typeface="Hiragino Sans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2514600"/>
            <a:ext cx="31775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iragino Sans"/>
              </a:rPr>
              <a:t>好き ─ 使っていて気分がよいか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00400"/>
            <a:ext cx="3566160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429000"/>
            <a:ext cx="356616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能力差が極端にないなら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最後は「相性」で決まる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571040"/>
            <a:ext cx="35661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7534E"/>
                </a:solidFill>
                <a:latin typeface="Hiragino Sans"/>
              </a:rPr>
              <a:t>車や家電を選ぶというより、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7534E"/>
                </a:solidFill>
                <a:latin typeface="Hiragino Sans"/>
              </a:rPr>
              <a:t>「人を選ぶ」感覚に近い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57200"/>
            <a:ext cx="35661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8942F"/>
                </a:solidFill>
                <a:latin typeface="Hiragino Sans"/>
              </a:rPr>
              <a:t>何が変わるのか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E53935"/>
                </a:solidFill>
                <a:latin typeface="Hiragino Sans"/>
              </a:rPr>
              <a:t>従来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A8A29E"/>
                </a:solidFill>
                <a:latin typeface="Hiragino Sans"/>
              </a:rPr>
              <a:t>機能が多い方が勝つ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A8A29E"/>
                </a:solidFill>
                <a:latin typeface="Hiragino Sans"/>
              </a:rPr>
              <a:t>できることが多い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A8A29E"/>
                </a:solidFill>
                <a:latin typeface="Hiragino Sans"/>
              </a:rPr>
              <a:t>方が勝つ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37160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2C2723"/>
          </a:solidFill>
          <a:ln w="19050">
            <a:solidFill>
              <a:srgbClr val="B89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B8942F"/>
                </a:solidFill>
                <a:latin typeface="Hiragino Sans"/>
              </a:rPr>
              <a:t>AI時代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Hiragino Sans"/>
              </a:rPr>
              <a:t>機能は揃う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Hiragino Sans"/>
              </a:rPr>
              <a:t>性能も近づく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Hiragino Sans"/>
              </a:rPr>
              <a:t>「好きか」「任せ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Hiragino Sans"/>
              </a:rPr>
              <a:t>られるか」で決まる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200400"/>
            <a:ext cx="3566160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429000"/>
            <a:ext cx="356616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iragino Sans"/>
              </a:rPr>
              <a:t>作る側が設計すべきは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iragino Sans"/>
              </a:rPr>
              <a:t>「機能一覧」ではなく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43400"/>
            <a:ext cx="356616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8942F"/>
                </a:solidFill>
                <a:latin typeface="Hiragino Sans"/>
              </a:rPr>
              <a:t>どんな人格と体験と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B8942F"/>
                </a:solidFill>
                <a:latin typeface="Hiragino Sans"/>
              </a:rPr>
              <a:t>仕事観を持つシステムか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56616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機能の時代は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終わる。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743200"/>
            <a:ext cx="3566160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971800"/>
            <a:ext cx="3566160" cy="1600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8942F"/>
                </a:solidFill>
                <a:latin typeface="Hiragino Sans"/>
              </a:rPr>
              <a:t>これからは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B8942F"/>
                </a:solidFill>
                <a:latin typeface="Hiragino Sans"/>
              </a:rPr>
              <a:t>「相性」で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B8942F"/>
                </a:solidFill>
                <a:latin typeface="Hiragino Sans"/>
              </a:rPr>
              <a:t>選ばれる。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029200"/>
            <a:ext cx="35661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7534E"/>
                </a:solidFill>
                <a:latin typeface="Hiragino Sans"/>
              </a:rPr>
              <a:t>AI時代のシステム差別化は、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7534E"/>
                </a:solidFill>
                <a:latin typeface="Hiragino Sans"/>
              </a:rPr>
              <a:t>機能ではなく「体験の哲学」になる。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