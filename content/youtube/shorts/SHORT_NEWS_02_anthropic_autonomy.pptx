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4114800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548640"/>
            <a:ext cx="1737360" cy="274320"/>
          </a:xfrm>
          <a:prstGeom prst="roundRect">
            <a:avLst>
              <a:gd name="adj" fmla="val 35000"/>
            </a:avLst>
          </a:prstGeom>
          <a:solidFill>
            <a:srgbClr val="B54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Hiragino Sans"/>
              </a:rPr>
              <a:t>3月18日 Anthropic発表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371600"/>
            <a:ext cx="3383280" cy="463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1C1917"/>
                </a:solidFill>
                <a:latin typeface="Hiragino Sans"/>
              </a:rPr>
              <a:t>AIの恩恵、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2057400"/>
            <a:ext cx="3383280" cy="16047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B5453A"/>
                </a:solidFill>
                <a:latin typeface="Hiragino Sans"/>
              </a:rPr>
              <a:t>会社員と</a:t>
            </a:r>
          </a:p>
          <a:p>
            <a:pPr algn="l">
              <a:lnSpc>
                <a:spcPct val="130000"/>
              </a:lnSpc>
            </a:pPr>
            <a:r>
              <a:rPr sz="3000" b="1">
                <a:solidFill>
                  <a:srgbClr val="B5453A"/>
                </a:solidFill>
                <a:latin typeface="Hiragino Sans"/>
              </a:rPr>
              <a:t>フリーランスで</a:t>
            </a:r>
          </a:p>
          <a:p>
            <a:pPr algn="l">
              <a:lnSpc>
                <a:spcPct val="130000"/>
              </a:lnSpc>
            </a:pPr>
            <a:r>
              <a:rPr sz="3000" b="1">
                <a:solidFill>
                  <a:srgbClr val="B5453A"/>
                </a:solidFill>
                <a:latin typeface="Hiragino Sans"/>
              </a:rPr>
              <a:t>3倍違う。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4114800"/>
            <a:ext cx="914400" cy="13716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4343400"/>
            <a:ext cx="3383280" cy="3922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7A6652"/>
                </a:solidFill>
                <a:latin typeface="Hiragino Sans"/>
              </a:rPr>
              <a:t>159か国 81,000人の調査が示した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7A6652"/>
                </a:solidFill>
                <a:latin typeface="Hiragino Sans"/>
              </a:rPr>
              <a:t>「自律性」という決定的な差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720000"/>
            <a:ext cx="3383280" cy="1604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B8942F"/>
                </a:solidFill>
                <a:latin typeface="Hiragino Sans"/>
              </a:rPr>
              <a:t>HARMONIC insight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3383280" cy="2496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7A6652"/>
                </a:solidFill>
                <a:latin typeface="Hiragino Sans"/>
              </a:rPr>
              <a:t>レポートの衝撃的なデータ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3383280" cy="6419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C1917"/>
                </a:solidFill>
                <a:latin typeface="Hiragino Sans"/>
              </a:rPr>
              <a:t>AIで経済的恩恵を</a:t>
            </a:r>
          </a:p>
          <a:p>
            <a:pPr algn="l">
              <a:lnSpc>
                <a:spcPct val="130000"/>
              </a:lnSpc>
            </a:pPr>
            <a:r>
              <a:rPr sz="1800" b="1">
                <a:solidFill>
                  <a:srgbClr val="1C1917"/>
                </a:solidFill>
                <a:latin typeface="Hiragino Sans"/>
              </a:rPr>
              <a:t>感じている人の割合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914400" cy="13716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600200"/>
            <a:ext cx="3383280" cy="1143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rotWithShape="0">
              <a:srgbClr val="1C1917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3383280" cy="7900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5400" b="1">
                <a:solidFill>
                  <a:srgbClr val="2A7A6E"/>
                </a:solidFill>
                <a:latin typeface="Hiragino Sans"/>
              </a:rPr>
              <a:t>47</a:t>
            </a:r>
            <a:r>
              <a:rPr sz="2600" b="1">
                <a:solidFill>
                  <a:srgbClr val="2A7A6E"/>
                </a:solidFill>
                <a:latin typeface="Hiragino Sans"/>
              </a:rPr>
              <a:t> %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3383280" cy="213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7A6652"/>
                </a:solidFill>
                <a:latin typeface="Hiragino Sans"/>
              </a:rPr>
              <a:t>独立事業者・フリーランス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971800"/>
            <a:ext cx="3383280" cy="1143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rotWithShape="0">
              <a:srgbClr val="1C1917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3109000"/>
            <a:ext cx="3383280" cy="7900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5400" b="1">
                <a:solidFill>
                  <a:srgbClr val="B5453A"/>
                </a:solidFill>
                <a:latin typeface="Hiragino Sans"/>
              </a:rPr>
              <a:t>14</a:t>
            </a:r>
            <a:r>
              <a:rPr sz="2600" b="1">
                <a:solidFill>
                  <a:srgbClr val="B5453A"/>
                </a:solidFill>
                <a:latin typeface="Hiragino Sans"/>
              </a:rPr>
              <a:t> 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657600"/>
            <a:ext cx="3383280" cy="213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7A6652"/>
                </a:solidFill>
                <a:latin typeface="Hiragino Sans"/>
              </a:rPr>
              <a:t>企業の従業員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343400"/>
            <a:ext cx="3383280" cy="3922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B8942F"/>
                </a:solidFill>
                <a:latin typeface="Hiragino Sans"/>
              </a:rPr>
              <a:t>3.4倍の差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6400000"/>
            <a:ext cx="3383280" cy="1248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30000"/>
              </a:lnSpc>
            </a:pPr>
            <a:r>
              <a:rPr sz="700" b="0">
                <a:solidFill>
                  <a:srgbClr val="BFAD9C"/>
                </a:solidFill>
                <a:latin typeface="Hiragino Sans"/>
              </a:rPr>
              <a:t>出典: Anthropic "What 81,000 people want from AI"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6720000"/>
            <a:ext cx="3383280" cy="1604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B8942F"/>
                </a:solidFill>
                <a:latin typeface="Hiragino Sans"/>
              </a:rPr>
              <a:t>HARMONIC insight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0"/>
            <a:ext cx="32000" cy="3886200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143000"/>
            <a:ext cx="3383280" cy="4992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7A6652"/>
                </a:solidFill>
                <a:latin typeface="Hiragino Sans"/>
              </a:rPr>
              <a:t>レポートはさらに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7A6652"/>
                </a:solidFill>
                <a:latin typeface="Hiragino Sans"/>
              </a:rPr>
              <a:t>面白い数字を出している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828800"/>
            <a:ext cx="3383280" cy="927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1C1917"/>
                </a:solidFill>
                <a:latin typeface="Hiragino Sans"/>
              </a:rPr>
              <a:t>副業を持つ</a:t>
            </a:r>
          </a:p>
          <a:p>
            <a:pPr algn="l">
              <a:lnSpc>
                <a:spcPct val="130000"/>
              </a:lnSpc>
            </a:pPr>
            <a:r>
              <a:rPr sz="2600" b="1">
                <a:solidFill>
                  <a:srgbClr val="1C1917"/>
                </a:solidFill>
                <a:latin typeface="Hiragino Sans"/>
              </a:rPr>
              <a:t>会社員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743200"/>
            <a:ext cx="3383280" cy="848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5800" b="1">
                <a:solidFill>
                  <a:srgbClr val="C17817"/>
                </a:solidFill>
                <a:latin typeface="Hiragino Sans"/>
              </a:rPr>
              <a:t>58</a:t>
            </a:r>
            <a:r>
              <a:rPr sz="2800" b="1">
                <a:solidFill>
                  <a:srgbClr val="C17817"/>
                </a:solidFill>
                <a:latin typeface="Hiragino Sans"/>
              </a:rPr>
              <a:t> %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886200"/>
            <a:ext cx="914400" cy="13716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4114800"/>
            <a:ext cx="3383280" cy="8641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1C1917"/>
                </a:solidFill>
                <a:latin typeface="Hiragino Sans"/>
              </a:rPr>
              <a:t>同じ会社員でも、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1C1917"/>
                </a:solidFill>
                <a:latin typeface="Hiragino Sans"/>
              </a:rPr>
              <a:t>「自分の裁量」があるだけで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1C1917"/>
                </a:solidFill>
                <a:latin typeface="Hiragino Sans"/>
              </a:rPr>
              <a:t>恩恵が4倍に跳ね上がる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720000"/>
            <a:ext cx="3383280" cy="1604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B8942F"/>
                </a:solidFill>
                <a:latin typeface="Hiragino Sans"/>
              </a:rPr>
              <a:t>HARMONIC insight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143000"/>
            <a:ext cx="3383280" cy="3922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1C1917"/>
                </a:solidFill>
                <a:latin typeface="Hiragino Sans"/>
              </a:rPr>
              <a:t>日本企業の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828800"/>
            <a:ext cx="3383280" cy="99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1C1917"/>
                </a:solidFill>
                <a:latin typeface="Hiragino Sans"/>
              </a:rPr>
              <a:t>DXが</a:t>
            </a:r>
          </a:p>
          <a:p>
            <a:pPr algn="l">
              <a:lnSpc>
                <a:spcPct val="130000"/>
              </a:lnSpc>
            </a:pPr>
            <a:r>
              <a:rPr sz="2800" b="1">
                <a:solidFill>
                  <a:srgbClr val="1C1917"/>
                </a:solidFill>
                <a:latin typeface="Hiragino Sans"/>
              </a:rPr>
              <a:t>進まない理由、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2971800"/>
            <a:ext cx="3383280" cy="4992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B5453A"/>
                </a:solidFill>
                <a:latin typeface="Hiragino Sans"/>
              </a:rPr>
              <a:t>ここにある。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3657600"/>
            <a:ext cx="914400" cy="13716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3886200"/>
            <a:ext cx="3383280" cy="10533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60000"/>
              </a:lnSpc>
            </a:pPr>
            <a:r>
              <a:rPr sz="1200" b="0">
                <a:solidFill>
                  <a:srgbClr val="7A6652"/>
                </a:solidFill>
                <a:latin typeface="Hiragino Sans"/>
              </a:rPr>
              <a:t>ツールの問題じゃない。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7A6652"/>
                </a:solidFill>
                <a:latin typeface="Hiragino Sans"/>
              </a:rPr>
              <a:t>「承認プロセス」の問題。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7A6652"/>
                </a:solidFill>
                <a:latin typeface="Hiragino Sans"/>
              </a:rPr>
              <a:t>「まず上に確認します」の間に、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7A6652"/>
                </a:solidFill>
                <a:latin typeface="Hiragino Sans"/>
              </a:rPr>
              <a:t>フリーランスはAIで終わらせている。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720000"/>
            <a:ext cx="3383280" cy="1604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B8942F"/>
                </a:solidFill>
                <a:latin typeface="Hiragino Sans"/>
              </a:rPr>
              <a:t>HARMONIC insight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600200"/>
            <a:ext cx="3383280" cy="16047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1C1917"/>
                </a:solidFill>
                <a:latin typeface="Hiragino Sans"/>
              </a:rPr>
              <a:t>AIの恩恵は</a:t>
            </a:r>
          </a:p>
          <a:p>
            <a:pPr algn="l">
              <a:lnSpc>
                <a:spcPct val="130000"/>
              </a:lnSpc>
            </a:pPr>
            <a:r>
              <a:rPr sz="3000" b="1">
                <a:solidFill>
                  <a:srgbClr val="1C1917"/>
                </a:solidFill>
                <a:latin typeface="Hiragino Sans"/>
              </a:rPr>
              <a:t>能力で</a:t>
            </a:r>
          </a:p>
          <a:p>
            <a:pPr algn="l">
              <a:lnSpc>
                <a:spcPct val="130000"/>
              </a:lnSpc>
            </a:pPr>
            <a:r>
              <a:rPr sz="3000" b="1">
                <a:solidFill>
                  <a:srgbClr val="1C1917"/>
                </a:solidFill>
                <a:latin typeface="Hiragino Sans"/>
              </a:rPr>
              <a:t>決まらない。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3429000"/>
            <a:ext cx="3383280" cy="11411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B8942F"/>
                </a:solidFill>
                <a:latin typeface="Hiragino Sans"/>
              </a:rPr>
              <a:t>自律性で</a:t>
            </a:r>
          </a:p>
          <a:p>
            <a:pPr algn="l">
              <a:lnSpc>
                <a:spcPct val="130000"/>
              </a:lnSpc>
            </a:pPr>
            <a:r>
              <a:rPr sz="3200" b="1">
                <a:solidFill>
                  <a:srgbClr val="B8942F"/>
                </a:solidFill>
                <a:latin typeface="Hiragino Sans"/>
              </a:rPr>
              <a:t>決まる。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400000"/>
            <a:ext cx="3383280" cy="1248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30000"/>
              </a:lnSpc>
            </a:pPr>
            <a:r>
              <a:rPr sz="700" b="0">
                <a:solidFill>
                  <a:srgbClr val="BFAD9C"/>
                </a:solidFill>
                <a:latin typeface="Hiragino Sans"/>
              </a:rPr>
              <a:t>Anthropic "81,000 Interviews" 2026年3月18日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720000"/>
            <a:ext cx="3383280" cy="1604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B8942F"/>
                </a:solidFill>
                <a:latin typeface="Hiragino Sans"/>
              </a:rPr>
              <a:t>HARMONIC insight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