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41148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>
                <a:solidFill>
                  <a:srgbClr val="B8942F"/>
                </a:solidFill>
                <a:latin typeface="Hiragino Sans"/>
              </a:rPr>
              <a:t>HARMONIC insight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74320"/>
            <a:ext cx="1920240" cy="365760"/>
          </a:xfrm>
          <a:prstGeom prst="roundRect">
            <a:avLst>
              <a:gd name="adj" fmla="val 25000"/>
            </a:avLst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</a:rPr>
              <a:t>3月18日 発表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2148840" y="274320"/>
            <a:ext cx="155448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100">
                <a:solidFill>
                  <a:srgbClr val="A8A29E"/>
                </a:solidFill>
                <a:latin typeface="Hiragino Sans"/>
              </a:rPr>
              <a:t>Anthropic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3566160" cy="1600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Hiragino Sans"/>
              </a:rPr>
              <a:t>AIの恩恵、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Hiragino Sans"/>
              </a:rPr>
              <a:t>会社員と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Hiragino Sans"/>
              </a:rPr>
              <a:t>フリーランスで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2971800"/>
            <a:ext cx="3566160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E53935"/>
                </a:solidFill>
                <a:latin typeface="Hiragino Sans"/>
              </a:rPr>
              <a:t>3倍違う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4114800"/>
            <a:ext cx="356616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7534E"/>
                </a:solidFill>
                <a:latin typeface="Hiragino Sans"/>
              </a:rPr>
              <a:t>81,000人調査が示した決定的な差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>
                <a:solidFill>
                  <a:srgbClr val="B8942F"/>
                </a:solidFill>
                <a:latin typeface="Hiragino Sans"/>
              </a:rPr>
              <a:t>HARMONIC insight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74320"/>
            <a:ext cx="1920240" cy="365760"/>
          </a:xfrm>
          <a:prstGeom prst="roundRect">
            <a:avLst>
              <a:gd name="adj" fmla="val 25000"/>
            </a:avLst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</a:rPr>
              <a:t>3月18日 発表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2148840" y="274320"/>
            <a:ext cx="155448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100">
                <a:solidFill>
                  <a:srgbClr val="A8A29E"/>
                </a:solidFill>
                <a:latin typeface="Hiragino Sans"/>
              </a:rPr>
              <a:t>Anthropic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3566160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A8A29E"/>
                </a:solidFill>
                <a:latin typeface="Hiragino Sans"/>
              </a:rPr>
              <a:t>AIで経済的恩恵を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A8A29E"/>
                </a:solidFill>
                <a:latin typeface="Hiragino Sans"/>
              </a:rPr>
              <a:t>感じている人の割合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828800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2C27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66BB6A"/>
                </a:solidFill>
                <a:latin typeface="Hiragino Sans"/>
              </a:rPr>
              <a:t>47%</a:t>
            </a:r>
          </a:p>
          <a:p>
            <a:pPr algn="ctr"/>
            <a:r>
              <a:rPr sz="1000">
                <a:solidFill>
                  <a:srgbClr val="A8A29E"/>
                </a:solidFill>
                <a:latin typeface="Hiragino Sans"/>
              </a:rPr>
              <a:t>独立事業者</a:t>
            </a:r>
          </a:p>
        </p:txBody>
      </p:sp>
      <p:sp>
        <p:nvSpPr>
          <p:cNvPr id="8" name="Oval 7"/>
          <p:cNvSpPr/>
          <p:nvPr/>
        </p:nvSpPr>
        <p:spPr>
          <a:xfrm>
            <a:off x="1851660" y="2148840"/>
            <a:ext cx="365760" cy="36576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Hiragino Sans"/>
              </a:rPr>
              <a:t>VS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03120" y="1828800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2C27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E53935"/>
                </a:solidFill>
                <a:latin typeface="Hiragino Sans"/>
              </a:rPr>
              <a:t>14%</a:t>
            </a:r>
          </a:p>
          <a:p>
            <a:pPr algn="ctr"/>
            <a:r>
              <a:rPr sz="1000">
                <a:solidFill>
                  <a:srgbClr val="A8A29E"/>
                </a:solidFill>
                <a:latin typeface="Hiragino Sans"/>
              </a:rPr>
              <a:t>企業従業員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200400"/>
            <a:ext cx="3566160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B8942F"/>
                </a:solidFill>
                <a:latin typeface="Hiragino Sans"/>
              </a:rPr>
              <a:t>3.4倍の差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886200"/>
            <a:ext cx="3566160" cy="18288"/>
          </a:xfrm>
          <a:prstGeom prst="rect">
            <a:avLst/>
          </a:prstGeom>
          <a:solidFill>
            <a:srgbClr val="B894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4114800"/>
            <a:ext cx="356616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A8A29E"/>
                </a:solidFill>
                <a:latin typeface="Hiragino Sans"/>
              </a:rPr>
              <a:t>副業持ち会社員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480560"/>
            <a:ext cx="3566160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3600" b="1">
                <a:solidFill>
                  <a:srgbClr val="FFA726"/>
                </a:solidFill>
                <a:latin typeface="Hiragino Sans"/>
              </a:rPr>
              <a:t>58%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>
                <a:solidFill>
                  <a:srgbClr val="B8942F"/>
                </a:solidFill>
                <a:latin typeface="Hiragino Sans"/>
              </a:rPr>
              <a:t>HARMONIC insight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371600"/>
            <a:ext cx="3566160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Hiragino Sans"/>
              </a:rPr>
              <a:t>AIの恩恵は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Hiragino Sans"/>
              </a:rPr>
              <a:t>能力で決まらない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2971800"/>
            <a:ext cx="3566160" cy="18288"/>
          </a:xfrm>
          <a:prstGeom prst="rect">
            <a:avLst/>
          </a:prstGeom>
          <a:solidFill>
            <a:srgbClr val="B894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3200400"/>
            <a:ext cx="356616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B8942F"/>
                </a:solidFill>
                <a:latin typeface="Hiragino Sans"/>
              </a:rPr>
              <a:t>自律性で決まる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4571040"/>
            <a:ext cx="356616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7534E"/>
                </a:solidFill>
                <a:latin typeface="Hiragino Sans"/>
              </a:rPr>
              <a:t>承認プロセス・セキュリティポリシー…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7534E"/>
                </a:solidFill>
                <a:latin typeface="Hiragino Sans"/>
              </a:rPr>
              <a:t>「まず上に確認します」の間に、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7534E"/>
                </a:solidFill>
                <a:latin typeface="Hiragino Sans"/>
              </a:rPr>
              <a:t>フリーランスはAIで終わらせている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>
                <a:solidFill>
                  <a:srgbClr val="B8942F"/>
                </a:solidFill>
                <a:latin typeface="Hiragino Sans"/>
              </a:rPr>
              <a:t>HARMONIC insight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43000"/>
            <a:ext cx="3566160" cy="1143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Hiragino Sans"/>
              </a:rPr>
              <a:t>日本企業の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Hiragino Sans"/>
              </a:rPr>
              <a:t>79.3%が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2286000"/>
            <a:ext cx="3566160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E53935"/>
                </a:solidFill>
                <a:latin typeface="Hiragino Sans"/>
              </a:rPr>
              <a:t>「人材不足」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971800"/>
            <a:ext cx="3566160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Hiragino Sans"/>
              </a:rPr>
              <a:t>と答えた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657600"/>
            <a:ext cx="3566160" cy="18288"/>
          </a:xfrm>
          <a:prstGeom prst="rect">
            <a:avLst/>
          </a:prstGeom>
          <a:solidFill>
            <a:srgbClr val="B894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3886200"/>
            <a:ext cx="3566160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B8942F"/>
                </a:solidFill>
                <a:latin typeface="Hiragino Sans"/>
              </a:rPr>
              <a:t>本当の問題は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B8942F"/>
                </a:solidFill>
                <a:latin typeface="Hiragino Sans"/>
              </a:rPr>
              <a:t>人材がいないことじゃなく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B8942F"/>
                </a:solidFill>
                <a:latin typeface="Hiragino Sans"/>
              </a:rPr>
              <a:t>裁量を渡していないこと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>
                <a:solidFill>
                  <a:srgbClr val="B8942F"/>
                </a:solidFill>
                <a:latin typeface="Hiragino Sans"/>
              </a:rPr>
              <a:t>HARMONIC insight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2057400"/>
            <a:ext cx="3566160" cy="2286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Hiragino Sans"/>
              </a:rPr>
              <a:t>自律性を</a:t>
            </a:r>
          </a:p>
          <a:p>
            <a:pPr algn="l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Hiragino Sans"/>
              </a:rPr>
              <a:t>渡さない組織は、</a:t>
            </a:r>
          </a:p>
          <a:p>
            <a:pPr algn="l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Hiragino Sans"/>
              </a:rPr>
              <a:t>AIの恩恵を</a:t>
            </a:r>
          </a:p>
          <a:p>
            <a:pPr algn="l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Hiragino Sans"/>
              </a:rPr>
              <a:t>受けられない。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5486400"/>
            <a:ext cx="356616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7534E"/>
                </a:solidFill>
                <a:latin typeface="Hiragino Sans"/>
              </a:rPr>
              <a:t>出典: Anthropic "81,000 Interviews"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