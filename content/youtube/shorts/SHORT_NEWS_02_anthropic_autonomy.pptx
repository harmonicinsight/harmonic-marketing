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457200"/>
            <a:ext cx="1645920" cy="274320"/>
          </a:xfrm>
          <a:prstGeom prst="roundRect">
            <a:avLst>
              <a:gd name="adj" fmla="val 35000"/>
            </a:avLst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5F0EB"/>
                </a:solidFill>
                <a:latin typeface="Hiragino Sans"/>
              </a:rPr>
              <a:t>3月18日 Anthropic発表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371600"/>
            <a:ext cx="3474720" cy="465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F0EB"/>
                </a:solidFill>
                <a:latin typeface="Hiragino Sans"/>
              </a:rPr>
              <a:t>AIの恩恵、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3474720" cy="1497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E84D3D"/>
                </a:solidFill>
                <a:latin typeface="Hiragino Sans"/>
              </a:rPr>
              <a:t>会社員と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E84D3D"/>
                </a:solidFill>
                <a:latin typeface="Hiragino Sans"/>
              </a:rPr>
              <a:t>フリーランスで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E84D3D"/>
                </a:solidFill>
                <a:latin typeface="Hiragino Sans"/>
              </a:rPr>
              <a:t>3倍違う。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38862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4114800"/>
            <a:ext cx="3474720" cy="399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159か国 81,000人の調査が示した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「自律性」という決定的な差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548640"/>
            <a:ext cx="3474720" cy="2329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レポートの衝撃的なデータ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914400"/>
            <a:ext cx="3474720" cy="665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5F0EB"/>
                </a:solidFill>
                <a:latin typeface="Hiragino Sans"/>
              </a:rPr>
              <a:t>AIで経済的恩恵を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F5F0EB"/>
                </a:solidFill>
                <a:latin typeface="Hiragino Sans"/>
              </a:rPr>
              <a:t>感じている人の割合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828800"/>
            <a:ext cx="3474720" cy="768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5600" b="1">
                <a:solidFill>
                  <a:srgbClr val="6BD47B"/>
                </a:solidFill>
                <a:latin typeface="Hiragino Sans"/>
              </a:rPr>
              <a:t>47</a:t>
            </a:r>
            <a:r>
              <a:rPr sz="2800" b="1">
                <a:solidFill>
                  <a:srgbClr val="6BD47B"/>
                </a:solidFill>
                <a:latin typeface="Hiragino Sans"/>
              </a:rPr>
              <a:t> %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7432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独立事業者・フリーランス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200400"/>
            <a:ext cx="3474720" cy="768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5600" b="1">
                <a:solidFill>
                  <a:srgbClr val="E84D3D"/>
                </a:solidFill>
                <a:latin typeface="Hiragino Sans"/>
              </a:rPr>
              <a:t>14</a:t>
            </a:r>
            <a:r>
              <a:rPr sz="2800" b="1">
                <a:solidFill>
                  <a:srgbClr val="E84D3D"/>
                </a:solidFill>
                <a:latin typeface="Hiragino Sans"/>
              </a:rPr>
              <a:t> %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41148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企業の従業員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571040"/>
            <a:ext cx="3474720" cy="366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C9A02D"/>
                </a:solidFill>
                <a:latin typeface="Hiragino Sans"/>
              </a:rPr>
              <a:t>3.4倍の差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6400000"/>
            <a:ext cx="3474720" cy="133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A4540"/>
                </a:solidFill>
                <a:latin typeface="Hiragino Sans"/>
              </a:rPr>
              <a:t>出典: Anthropic "What 81,000 people want from AI"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43000"/>
            <a:ext cx="36576" cy="3200400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8716C"/>
                </a:solidFill>
                <a:latin typeface="Hiragino Sans"/>
              </a:rPr>
              <a:t>レポートはさらに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78716C"/>
                </a:solidFill>
                <a:latin typeface="Hiragino Sans"/>
              </a:rPr>
              <a:t>面白い数字を出した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828800"/>
            <a:ext cx="3474720" cy="8653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F5F0EB"/>
                </a:solidFill>
                <a:latin typeface="Hiragino Sans"/>
              </a:rPr>
              <a:t>副業を持つ</a:t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F5F0EB"/>
                </a:solidFill>
                <a:latin typeface="Hiragino Sans"/>
              </a:rPr>
              <a:t>会社員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743200"/>
            <a:ext cx="3474720" cy="822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6000" b="1">
                <a:solidFill>
                  <a:srgbClr val="FFB300"/>
                </a:solidFill>
                <a:latin typeface="Hiragino Sans"/>
              </a:rPr>
              <a:t>58</a:t>
            </a:r>
            <a:r>
              <a:rPr sz="2800" b="1">
                <a:solidFill>
                  <a:srgbClr val="FFB300"/>
                </a:solidFill>
                <a:latin typeface="Hiragino Sans"/>
              </a:rPr>
              <a:t> %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38862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4114800"/>
            <a:ext cx="3474720" cy="69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F5F0EB"/>
                </a:solidFill>
                <a:latin typeface="Hiragino Sans"/>
              </a:rPr>
              <a:t>同じ会社員でも、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F5F0EB"/>
                </a:solidFill>
                <a:latin typeface="Hiragino Sans"/>
              </a:rPr>
              <a:t>「自分の裁量」があるだけで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F5F0EB"/>
                </a:solidFill>
                <a:latin typeface="Hiragino Sans"/>
              </a:rPr>
              <a:t>恩恵が4倍に跳ね上がる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143000"/>
            <a:ext cx="3474720" cy="366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日本企業の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828800"/>
            <a:ext cx="3474720" cy="931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F0EB"/>
                </a:solidFill>
                <a:latin typeface="Hiragino Sans"/>
              </a:rPr>
              <a:t>DXが</a:t>
            </a:r>
          </a:p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F0EB"/>
                </a:solidFill>
                <a:latin typeface="Hiragino Sans"/>
              </a:rPr>
              <a:t>進まない理由、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971800"/>
            <a:ext cx="3474720" cy="465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E84D3D"/>
                </a:solidFill>
                <a:latin typeface="Hiragino Sans"/>
              </a:rPr>
              <a:t>ここにある。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36576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3886200"/>
            <a:ext cx="3474720" cy="1065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ツールの問題じゃない。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「承認プロセス」の問題。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「まず上に確認します」の間に、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フリーランスはAIで終わらせている。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600200"/>
            <a:ext cx="3474720" cy="1497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AIの恩恵は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能力で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決まらない。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3429000"/>
            <a:ext cx="3474720" cy="1065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9A02D"/>
                </a:solidFill>
                <a:latin typeface="Hiragino Sans"/>
              </a:rPr>
              <a:t>自律性で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C9A02D"/>
                </a:solidFill>
                <a:latin typeface="Hiragino Sans"/>
              </a:rPr>
              <a:t>決まる。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172200"/>
            <a:ext cx="3474720" cy="133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A4540"/>
                </a:solidFill>
                <a:latin typeface="Hiragino Sans"/>
              </a:rPr>
              <a:t>Anthropic "81,000 Interviews" 2026年3月18日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