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457200"/>
            <a:ext cx="1645920" cy="274320"/>
          </a:xfrm>
          <a:prstGeom prst="roundRect">
            <a:avLst>
              <a:gd name="adj" fmla="val 35000"/>
            </a:avLst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5F0EB"/>
                </a:solidFill>
                <a:latin typeface="Hiragino Sans"/>
              </a:rPr>
              <a:t>3月18日 Anthropic発表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3474720" cy="499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8万人に聞いた。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828800"/>
            <a:ext cx="3474720" cy="1497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C9A02D"/>
                </a:solidFill>
                <a:latin typeface="Hiragino Sans"/>
              </a:rPr>
              <a:t>AIに求めるもの、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C9A02D"/>
                </a:solidFill>
                <a:latin typeface="Hiragino Sans"/>
              </a:rPr>
              <a:t>生産性じゃ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C9A02D"/>
                </a:solidFill>
                <a:latin typeface="Hiragino Sans"/>
              </a:rPr>
              <a:t>なかった。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38862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4114800"/>
            <a:ext cx="3474720" cy="399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世界159か国・70言語、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AI分野で史上最大の調査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36576" cy="6400000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640080"/>
            <a:ext cx="3474720" cy="10983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78716C"/>
                </a:solidFill>
                <a:latin typeface="Hiragino Sans"/>
              </a:rPr>
              <a:t>Anthropicの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78716C"/>
                </a:solidFill>
                <a:latin typeface="Hiragino Sans"/>
              </a:rPr>
              <a:t>研究レポートが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78716C"/>
                </a:solidFill>
                <a:latin typeface="Hiragino Sans"/>
              </a:rPr>
              <a:t>公開した数字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474720" cy="822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6000" b="1">
                <a:solidFill>
                  <a:srgbClr val="C9A02D"/>
                </a:solidFill>
                <a:latin typeface="Hiragino Sans"/>
              </a:rPr>
              <a:t>81,000</a:t>
            </a:r>
            <a:r>
              <a:rPr sz="2400" b="1">
                <a:solidFill>
                  <a:srgbClr val="C9A02D"/>
                </a:solidFill>
                <a:latin typeface="Hiragino Sans"/>
              </a:rPr>
              <a:t>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743200"/>
            <a:ext cx="3474720" cy="665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5F0EB"/>
                </a:solidFill>
                <a:latin typeface="Hiragino Sans"/>
              </a:rPr>
              <a:t>「魔法の杖があったら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F5F0EB"/>
                </a:solidFill>
                <a:latin typeface="Hiragino Sans"/>
              </a:rPr>
              <a:t>  AIに何をさせたい？」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36576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38862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回答は9つのビジョンに分類された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6400000"/>
            <a:ext cx="3474720" cy="133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A4540"/>
                </a:solidFill>
                <a:latin typeface="Hiragino Sans"/>
              </a:rPr>
              <a:t>出典: Anthropic "What 81,000 people want from AI"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548640"/>
            <a:ext cx="3474720" cy="665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78716C"/>
                </a:solidFill>
                <a:latin typeface="Hiragino Sans"/>
              </a:rPr>
              <a:t>レポートが示した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78716C"/>
                </a:solidFill>
                <a:latin typeface="Hiragino Sans"/>
              </a:rPr>
              <a:t>回答トップ4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3716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4DD0E1"/>
                </a:solidFill>
                <a:latin typeface="Hiragino Sans"/>
              </a:rPr>
              <a:t>19%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7916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職業的卓越性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2860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B300"/>
                </a:solidFill>
                <a:latin typeface="Hiragino Sans"/>
              </a:rPr>
              <a:t>14%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7060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個人的変容・成長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32004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6BD47B"/>
                </a:solidFill>
                <a:latin typeface="Hiragino Sans"/>
              </a:rPr>
              <a:t>14%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6204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認知的負担の軽減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1148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BB86FC"/>
                </a:solidFill>
                <a:latin typeface="Hiragino Sans"/>
              </a:rPr>
              <a:t>11%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5348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家族と過ごす時間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257800"/>
            <a:ext cx="3474720" cy="465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9A02D"/>
                </a:solidFill>
                <a:latin typeface="Hiragino Sans"/>
              </a:rPr>
              <a:t>「生産性」と答えたのに、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C9A02D"/>
                </a:solidFill>
                <a:latin typeface="Hiragino Sans"/>
              </a:rPr>
              <a:t>中身は全部「自由」だった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43000"/>
            <a:ext cx="36576" cy="2743200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3474720" cy="465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レポートに登場する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メキシコのエンジニア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828800"/>
            <a:ext cx="3474720" cy="7988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5F0EB"/>
                </a:solidFill>
                <a:latin typeface="Hiragino Sans"/>
              </a:rPr>
              <a:t>「AIのおかげで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F5F0EB"/>
                </a:solidFill>
                <a:latin typeface="Hiragino Sans"/>
              </a:rPr>
              <a:t>  定時に帰れる。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743200"/>
            <a:ext cx="3474720" cy="11982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A02D"/>
                </a:solidFill>
                <a:latin typeface="Hiragino Sans"/>
              </a:rPr>
              <a:t>  子どもの迎えに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A02D"/>
                </a:solidFill>
                <a:latin typeface="Hiragino Sans"/>
              </a:rPr>
              <a:t>  行けるように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C9A02D"/>
                </a:solidFill>
                <a:latin typeface="Hiragino Sans"/>
              </a:rPr>
              <a:t>  なった」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43434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4571040"/>
            <a:ext cx="3474720" cy="649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世界中で同じ声が上がっている。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AIの価値は「速さ」ではなく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「人生の時間を取り戻すこと」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828800"/>
            <a:ext cx="3474720" cy="1065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5F0EB"/>
                </a:solidFill>
                <a:latin typeface="Hiragino Sans"/>
              </a:rPr>
              <a:t>生産性は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F5F0EB"/>
                </a:solidFill>
                <a:latin typeface="Hiragino Sans"/>
              </a:rPr>
              <a:t>手段。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3200400"/>
            <a:ext cx="3474720" cy="15976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9A02D"/>
                </a:solidFill>
                <a:latin typeface="Hiragino Sans"/>
              </a:rPr>
              <a:t>目的は、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C9A02D"/>
                </a:solidFill>
                <a:latin typeface="Hiragino Sans"/>
              </a:rPr>
              <a:t>人生を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C9A02D"/>
                </a:solidFill>
                <a:latin typeface="Hiragino Sans"/>
              </a:rPr>
              <a:t>取り戻すこと。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172200"/>
            <a:ext cx="3474720" cy="133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A4540"/>
                </a:solidFill>
                <a:latin typeface="Hiragino Sans"/>
              </a:rPr>
              <a:t>Anthropic "81,000 Interviews" 2026年3月18日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