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41148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548640"/>
            <a:ext cx="1737360" cy="274320"/>
          </a:xfrm>
          <a:prstGeom prst="roundRect">
            <a:avLst>
              <a:gd name="adj" fmla="val 35000"/>
            </a:avLst>
          </a:prstGeom>
          <a:solidFill>
            <a:srgbClr val="B5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Hiragino Sans"/>
              </a:rPr>
              <a:t>3月18日 Anthropic発表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371600"/>
            <a:ext cx="3383280" cy="499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1917"/>
                </a:solidFill>
                <a:latin typeface="Hiragino Sans"/>
              </a:rPr>
              <a:t>8万人に聞いた。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057400"/>
            <a:ext cx="3383280" cy="16047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B8942F"/>
                </a:solidFill>
                <a:latin typeface="Hiragino Sans"/>
              </a:rPr>
              <a:t>AIに求めるもの、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B8942F"/>
                </a:solidFill>
                <a:latin typeface="Hiragino Sans"/>
              </a:rPr>
              <a:t>生産性じゃ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B8942F"/>
                </a:solidFill>
                <a:latin typeface="Hiragino Sans"/>
              </a:rPr>
              <a:t>なかった。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41148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4343400"/>
            <a:ext cx="3383280" cy="3922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世界159か国・70言語。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7A6652"/>
                </a:solidFill>
                <a:latin typeface="Hiragino Sans"/>
              </a:rPr>
              <a:t>AI分野で史上最大の調査レポート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0"/>
            <a:ext cx="32000" cy="5943600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640080"/>
            <a:ext cx="3383280" cy="499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6652"/>
                </a:solidFill>
                <a:latin typeface="Hiragino Sans"/>
              </a:rPr>
              <a:t>Anthropic社が発表した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7A6652"/>
                </a:solidFill>
                <a:latin typeface="Hiragino Sans"/>
              </a:rPr>
              <a:t>研究レポートの数字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383280" cy="848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5800" b="1">
                <a:solidFill>
                  <a:srgbClr val="B8942F"/>
                </a:solidFill>
                <a:latin typeface="Hiragino Sans"/>
              </a:rPr>
              <a:t>81,000</a:t>
            </a:r>
            <a:r>
              <a:rPr sz="2400" b="1">
                <a:solidFill>
                  <a:srgbClr val="B8942F"/>
                </a:solidFill>
                <a:latin typeface="Hiragino Sans"/>
              </a:rPr>
              <a:t>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514600"/>
            <a:ext cx="3383280" cy="7132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C1917"/>
                </a:solidFill>
                <a:latin typeface="Hiragino Sans"/>
              </a:rPr>
              <a:t>「魔法の杖があったら</a:t>
            </a:r>
          </a:p>
          <a:p>
            <a:pPr algn="l">
              <a:lnSpc>
                <a:spcPct val="130000"/>
              </a:lnSpc>
            </a:pPr>
            <a:r>
              <a:rPr sz="2000" b="1">
                <a:solidFill>
                  <a:srgbClr val="1C1917"/>
                </a:solidFill>
                <a:latin typeface="Hiragino Sans"/>
              </a:rPr>
              <a:t>  AIに何をさせたい？」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429000"/>
            <a:ext cx="3383280" cy="46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この問いへの回答が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9つのビジョンに分類された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6400000"/>
            <a:ext cx="3383280" cy="124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BFAD9C"/>
                </a:solidFill>
                <a:latin typeface="Hiragino Sans"/>
              </a:rPr>
              <a:t>出典: Anthropic "What 81,000 people want from AI" 2026.3.18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548640"/>
            <a:ext cx="3383280" cy="6419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5D4E3F"/>
                </a:solidFill>
                <a:latin typeface="Hiragino Sans"/>
              </a:rPr>
              <a:t>レポートが示した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5D4E3F"/>
                </a:solidFill>
                <a:latin typeface="Hiragino Sans"/>
              </a:rPr>
              <a:t>回答トップ4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1430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B3A5C"/>
                </a:solidFill>
                <a:latin typeface="Hiragino Sans"/>
              </a:rPr>
              <a:t>19%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8016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職業的卓越性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2860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C17817"/>
                </a:solidFill>
                <a:latin typeface="Hiragino Sans"/>
              </a:rPr>
              <a:t>14%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160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個人的変容・成長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2004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2A7A6E"/>
                </a:solidFill>
                <a:latin typeface="Hiragino Sans"/>
              </a:rPr>
              <a:t>14%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6304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認知的負担の軽減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114800"/>
            <a:ext cx="3383280" cy="5705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B8942F"/>
                </a:solidFill>
                <a:latin typeface="Hiragino Sans"/>
              </a:rPr>
              <a:t>11%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544800"/>
            <a:ext cx="3383280" cy="213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家族と過ごす時間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5257800"/>
            <a:ext cx="3383280" cy="4992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B8942F"/>
                </a:solidFill>
                <a:latin typeface="Hiragino Sans"/>
              </a:rPr>
              <a:t>「生産性」と答えたのに、</a:t>
            </a:r>
          </a:p>
          <a:p>
            <a:pPr algn="l">
              <a:lnSpc>
                <a:spcPct val="130000"/>
              </a:lnSpc>
            </a:pPr>
            <a:r>
              <a:rPr sz="1400" b="1">
                <a:solidFill>
                  <a:srgbClr val="B8942F"/>
                </a:solidFill>
                <a:latin typeface="Hiragino Sans"/>
              </a:rPr>
              <a:t>中身は全部「自由」だった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914400"/>
            <a:ext cx="32000" cy="3657600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383280" cy="46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レポートに登場する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7A6652"/>
                </a:solidFill>
                <a:latin typeface="Hiragino Sans"/>
              </a:rPr>
              <a:t>メキシコのエンジニアの声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3383280" cy="7845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「AIのおかげで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1C1917"/>
                </a:solidFill>
                <a:latin typeface="Hiragino Sans"/>
              </a:rPr>
              <a:t>  定時に帰れる。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514600"/>
            <a:ext cx="3383280" cy="1176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B8942F"/>
                </a:solidFill>
                <a:latin typeface="Hiragino Sans"/>
              </a:rPr>
              <a:t>  子どもの迎えに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B8942F"/>
                </a:solidFill>
                <a:latin typeface="Hiragino Sans"/>
              </a:rPr>
              <a:t>  行けるように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B8942F"/>
                </a:solidFill>
                <a:latin typeface="Hiragino Sans"/>
              </a:rPr>
              <a:t>  なった」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343400"/>
            <a:ext cx="914400" cy="13716"/>
          </a:xfrm>
          <a:prstGeom prst="rect">
            <a:avLst/>
          </a:prstGeom>
          <a:solidFill>
            <a:srgbClr val="B89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4571040"/>
            <a:ext cx="3383280" cy="7406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世界中で同じ声が上がっている。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AIの価値は「速さ」ではなく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7A6652"/>
                </a:solidFill>
                <a:latin typeface="Hiragino Sans"/>
              </a:rPr>
              <a:t>「人生の時間を取り戻すこと」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0"/>
            <a:ext cx="3383280" cy="11411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1C1917"/>
                </a:solidFill>
                <a:latin typeface="Hiragino Sans"/>
              </a:rPr>
              <a:t>生産性は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1C1917"/>
                </a:solidFill>
                <a:latin typeface="Hiragino Sans"/>
              </a:rPr>
              <a:t>手段。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3200400"/>
            <a:ext cx="3383280" cy="171175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B8942F"/>
                </a:solidFill>
                <a:latin typeface="Hiragino Sans"/>
              </a:rPr>
              <a:t>目的は、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B8942F"/>
                </a:solidFill>
                <a:latin typeface="Hiragino Sans"/>
              </a:rPr>
              <a:t>人生を</a:t>
            </a:r>
          </a:p>
          <a:p>
            <a:pPr algn="l">
              <a:lnSpc>
                <a:spcPct val="130000"/>
              </a:lnSpc>
            </a:pPr>
            <a:r>
              <a:rPr sz="3200" b="1">
                <a:solidFill>
                  <a:srgbClr val="B8942F"/>
                </a:solidFill>
                <a:latin typeface="Hiragino Sans"/>
              </a:rPr>
              <a:t>取り戻すこと。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400000"/>
            <a:ext cx="3383280" cy="1248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700" b="0">
                <a:solidFill>
                  <a:srgbClr val="BFAD9C"/>
                </a:solidFill>
                <a:latin typeface="Hiragino Sans"/>
              </a:rPr>
              <a:t>Anthropic "81,000 Interviews" 2026年3月18日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720000"/>
            <a:ext cx="3383280" cy="160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B8942F"/>
                </a:solidFill>
                <a:latin typeface="Hiragino Sans"/>
              </a:rPr>
              <a:t>HARMONIC insight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