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4114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743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3月18日 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274320"/>
            <a:ext cx="15544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Anthropic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200" b="1">
                <a:solidFill>
                  <a:srgbClr val="B8942F"/>
                </a:solidFill>
                <a:latin typeface="Hiragino Sans"/>
              </a:rPr>
              <a:t>81,000</a:t>
            </a:r>
            <a:r>
              <a:rPr sz="2000" b="1">
                <a:solidFill>
                  <a:srgbClr val="B8942F"/>
                </a:solidFill>
                <a:latin typeface="Hiragino Sans"/>
              </a:rPr>
              <a:t>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35661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8A29E"/>
                </a:solidFill>
                <a:latin typeface="Hiragino Sans"/>
              </a:rPr>
              <a:t>159か国 · 70言語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14600"/>
            <a:ext cx="3566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AIに何を求めるか？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史上最大の調査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1480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942F"/>
                </a:solidFill>
                <a:latin typeface="Hiragino Sans"/>
              </a:rPr>
              <a:t>答えは「生産性」じゃなかった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743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3月18日 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274320"/>
            <a:ext cx="15544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Anthropic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356616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AIに求めるもの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トップ4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職業的卓越性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574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2057400"/>
            <a:ext cx="2279489" cy="320040"/>
          </a:xfrm>
          <a:prstGeom prst="roundRect">
            <a:avLst>
              <a:gd name="adj" fmla="val 15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20574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42A5F5"/>
                </a:solidFill>
                <a:latin typeface="Hiragino Sans"/>
              </a:rPr>
              <a:t>18.8%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個人的変容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432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2743200"/>
            <a:ext cx="1661117" cy="320040"/>
          </a:xfrm>
          <a:prstGeom prst="roundRect">
            <a:avLst>
              <a:gd name="adj" fmla="val 1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4136" y="27432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A726"/>
                </a:solidFill>
                <a:latin typeface="Hiragino Sans"/>
              </a:rPr>
              <a:t>13.7%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生活管理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4290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429000"/>
            <a:ext cx="1636867" cy="320040"/>
          </a:xfrm>
          <a:prstGeom prst="roundRect">
            <a:avLst>
              <a:gd name="adj" fmla="val 1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74136" y="34290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66BB6A"/>
                </a:solidFill>
                <a:latin typeface="Hiragino Sans"/>
              </a:rPr>
              <a:t>13.5%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時間的自由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" y="4114800"/>
            <a:ext cx="1345868" cy="320040"/>
          </a:xfrm>
          <a:prstGeom prst="roundRect">
            <a:avLst>
              <a:gd name="adj" fmla="val 15000"/>
            </a:avLst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74136" y="41148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26C6DA"/>
                </a:solidFill>
                <a:latin typeface="Hiragino Sans"/>
              </a:rPr>
              <a:t>11.1%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2920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上位3つで46%。どれも単純な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「生産性向上」には収まらない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56616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「なぜそれが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  欲しいの？」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と深く聞くと…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34290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A726"/>
                </a:solidFill>
                <a:latin typeface="Hiragino Sans"/>
              </a:rPr>
              <a:t>14%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34290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自分自身の成長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38862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BB6A"/>
                </a:solidFill>
                <a:latin typeface="Hiragino Sans"/>
              </a:rPr>
              <a:t>14%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8862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認知的負担を減らしたい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4343400"/>
            <a:ext cx="320040" cy="320040"/>
          </a:xfrm>
          <a:prstGeom prst="ellipse">
            <a:avLst/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C6DA"/>
                </a:solidFill>
                <a:latin typeface="Hiragino Sans"/>
              </a:rPr>
              <a:t>11%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4343400"/>
            <a:ext cx="31775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Hiragino Sans"/>
              </a:rPr>
              <a:t>家族と過ごす時間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0292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メキシコのエンジニア：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「AIのおかげで定時に帰れる。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  子どもの迎えに行ける」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56616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人は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「生産性」と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答えた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429000"/>
            <a:ext cx="356616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本当に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求めていたのは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「自由」だった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057400"/>
            <a:ext cx="356616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生産性は手段。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目的は、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人生を取り戻す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こと。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0"/>
            <a:ext cx="3566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7534E"/>
                </a:solidFill>
                <a:latin typeface="Hiragino Sans"/>
              </a:rPr>
              <a:t>出典: Anthropic "81,000 Interviews"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