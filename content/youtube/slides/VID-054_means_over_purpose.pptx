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"/>
              </a:defRPr>
            </a:pPr>
            <a:r>
              <a:t>DXが失敗する会社の共通点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8CAE4"/>
                </a:solidFill>
                <a:latin typeface="Meiryo"/>
              </a:defRPr>
            </a:pPr>
            <a:r>
              <a:t>ツール導入は目的ではない──建設業DXで最初に倒すべき壁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30175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Meiryo"/>
              </a:defRPr>
            </a:pPr>
            <a:r>
              <a:t>― 建設業DXの現実シリーズ 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ツールは変わった。でも業務は変わっていない。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6576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8CAE4"/>
                </a:solidFill>
                <a:latin typeface="Meiryo"/>
              </a:defRPr>
            </a:pPr>
            <a:r>
              <a:t>AI議事録ツール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Meiryo"/>
              </a:defRPr>
            </a:pPr>
            <a:r>
              <a:t>導入した</a:t>
            </a:r>
          </a:p>
        </p:txBody>
      </p:sp>
      <p:sp>
        <p:nvSpPr>
          <p:cNvPr id="7" name="Down Arrow 6"/>
          <p:cNvSpPr/>
          <p:nvPr/>
        </p:nvSpPr>
        <p:spPr>
          <a:xfrm>
            <a:off x="2103120" y="3200400"/>
            <a:ext cx="640080" cy="457200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3840480"/>
            <a:ext cx="2834640" cy="1097280"/>
          </a:xfrm>
          <a:prstGeom prst="roundRect">
            <a:avLst>
              <a:gd name="adj" fmla="val 4000"/>
            </a:avLst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776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Meiryo"/>
              </a:defRPr>
            </a:pPr>
            <a:r>
              <a:t>誰も見返さない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383280" cy="36576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011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8CAE4"/>
                </a:solidFill>
                <a:latin typeface="Meiryo"/>
              </a:defRPr>
            </a:pPr>
            <a:r>
              <a:t>クラウド工程管理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Meiryo"/>
              </a:defRPr>
            </a:pPr>
            <a:r>
              <a:t>導入した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852159" y="3200400"/>
            <a:ext cx="640080" cy="457200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3840480"/>
            <a:ext cx="2834640" cy="1097280"/>
          </a:xfrm>
          <a:prstGeom prst="roundRect">
            <a:avLst>
              <a:gd name="adj" fmla="val 4000"/>
            </a:avLst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19" y="39776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Meiryo"/>
              </a:defRPr>
            </a:pPr>
            <a:r>
              <a:t>Excelと二重管理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383280" cy="36576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011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8CAE4"/>
                </a:solidFill>
                <a:latin typeface="Meiryo"/>
              </a:defRPr>
            </a:pPr>
            <a:r>
              <a:t>チャットツール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Meiryo"/>
              </a:defRPr>
            </a:pPr>
            <a:r>
              <a:t>導入した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601200" y="3200400"/>
            <a:ext cx="640080" cy="457200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20" y="3840480"/>
            <a:ext cx="2834640" cy="1097280"/>
          </a:xfrm>
          <a:prstGeom prst="roundRect">
            <a:avLst>
              <a:gd name="adj" fmla="val 4000"/>
            </a:avLst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9776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Meiryo"/>
              </a:defRPr>
            </a:pPr>
            <a:r>
              <a:t>電話・LINEも併用</a:t>
            </a:r>
            <a:br/>
            <a:r>
              <a:t>情報が三重化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669280"/>
            <a:ext cx="9418320" cy="73152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5760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Meiryo"/>
              </a:defRPr>
            </a:pPr>
            <a:r>
              <a:t>ツールは変わった。でも業務は何一つ変わっていない。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原因：業務の手順が整理されていない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8CAE4"/>
                </a:solidFill>
                <a:latin typeface="Meiryo"/>
              </a:defRPr>
            </a:pPr>
            <a:r>
              <a:t>業務は「一定の手順」で動いている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371600" cy="640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見積作成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21408" y="2240280"/>
            <a:ext cx="228600" cy="320040"/>
          </a:xfrm>
          <a:prstGeom prst="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77440" y="2103120"/>
            <a:ext cx="1371600" cy="640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承認取得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67328" y="2240280"/>
            <a:ext cx="228600" cy="320040"/>
          </a:xfrm>
          <a:prstGeom prst="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23360" y="2103120"/>
            <a:ext cx="1371600" cy="640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契約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13248" y="2240280"/>
            <a:ext cx="228600" cy="320040"/>
          </a:xfrm>
          <a:prstGeom prst="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2103120"/>
            <a:ext cx="1371600" cy="640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着工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59168" y="2240280"/>
            <a:ext cx="228600" cy="320040"/>
          </a:xfrm>
          <a:prstGeom prst="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0" y="2103120"/>
            <a:ext cx="1371600" cy="640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検収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05088" y="2240280"/>
            <a:ext cx="228600" cy="320040"/>
          </a:xfrm>
          <a:prstGeom prst="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0" y="2103120"/>
            <a:ext cx="1371600" cy="640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請求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Meiryo"/>
              </a:defRPr>
            </a:pPr>
            <a:r>
              <a:t>しかし現実は……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Meiryo"/>
              </a:defRPr>
            </a:pPr>
            <a: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4F8"/>
                </a:solidFill>
                <a:latin typeface="Meiryo"/>
              </a:defRPr>
            </a:pPr>
            <a:r>
              <a:t>Aさんのやり方とBさんのやり方が違う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Meiryo"/>
              </a:defRPr>
            </a:pPr>
            <a: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4F8"/>
                </a:solidFill>
                <a:latin typeface="Meiryo"/>
              </a:defRPr>
            </a:pPr>
            <a:r>
              <a:t>現場ごと、時期ごとにバラバラ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Meiryo"/>
              </a:defRPr>
            </a:pPr>
            <a: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4F8"/>
                </a:solidFill>
                <a:latin typeface="Meiryo"/>
              </a:defRPr>
            </a:pPr>
            <a:r>
              <a:t>手順が可視化・標準化されていない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Meiryo"/>
              </a:defRPr>
            </a:pPr>
            <a: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4F8"/>
                </a:solidFill>
                <a:latin typeface="Meiryo"/>
              </a:defRPr>
            </a:pPr>
            <a:r>
              <a:t>ツールに乗せるべき「業務」が定義されていない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71600" y="5760720"/>
            <a:ext cx="9418320" cy="73152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58521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C7"/>
                </a:solidFill>
                <a:latin typeface="Meiryo"/>
              </a:defRPr>
            </a:pPr>
            <a:r>
              <a:t>業務が定義されていない状態で、どんなツールを入れても定着しない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典型的な「手段の目的化」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7280"/>
                </a:solidFill>
                <a:latin typeface="Meiryo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480559" y="1645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eiryo"/>
              </a:defRPr>
            </a:pPr>
            <a:r>
              <a:t>本来あるべき姿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645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Meiryo"/>
              </a:defRPr>
            </a:pPr>
            <a:r>
              <a:t>実際に起きていること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383280" cy="10972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目的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286000"/>
            <a:ext cx="3383280" cy="1097280"/>
          </a:xfrm>
          <a:prstGeom prst="roundRect">
            <a:avLst>
              <a:gd name="adj" fmla="val 4000"/>
            </a:avLst>
          </a:prstGeom>
          <a:solidFill>
            <a:srgbClr val="0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4231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Meiryo"/>
              </a:defRPr>
            </a:pPr>
            <a:r>
              <a:t>業務を効率化・</a:t>
            </a:r>
            <a:br/>
            <a:r>
              <a:t>標準化したい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286000"/>
            <a:ext cx="3383280" cy="1097280"/>
          </a:xfrm>
          <a:prstGeom prst="roundRect">
            <a:avLst>
              <a:gd name="adj" fmla="val 4000"/>
            </a:avLst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4231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F4444"/>
                </a:solidFill>
                <a:latin typeface="Meiryo"/>
              </a:defRPr>
            </a:pPr>
            <a:r>
              <a:t>ツール導入自体が</a:t>
            </a:r>
            <a:br/>
            <a:r>
              <a:t>ゴールになっている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383280" cy="10972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手段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657600"/>
            <a:ext cx="3383280" cy="1097280"/>
          </a:xfrm>
          <a:prstGeom prst="roundRect">
            <a:avLst>
              <a:gd name="adj" fmla="val 4000"/>
            </a:avLst>
          </a:prstGeom>
          <a:solidFill>
            <a:srgbClr val="0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7947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Meiryo"/>
              </a:defRPr>
            </a:pPr>
            <a:r>
              <a:t>そのために</a:t>
            </a:r>
            <a:br/>
            <a:r>
              <a:t>ツールを活用する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657600"/>
            <a:ext cx="3383280" cy="1097280"/>
          </a:xfrm>
          <a:prstGeom prst="roundRect">
            <a:avLst>
              <a:gd name="adj" fmla="val 4000"/>
            </a:avLst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7947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F4444"/>
                </a:solidFill>
                <a:latin typeface="Meiryo"/>
              </a:defRPr>
            </a:pPr>
            <a:r>
              <a:t>業務整理は</a:t>
            </a:r>
            <a:br/>
            <a:r>
              <a:t>「面倒だから後で」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3383280" cy="10972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578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結果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5029200"/>
            <a:ext cx="3383280" cy="1097280"/>
          </a:xfrm>
          <a:prstGeom prst="roundRect">
            <a:avLst>
              <a:gd name="adj" fmla="val 4000"/>
            </a:avLst>
          </a:prstGeom>
          <a:solidFill>
            <a:srgbClr val="0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5166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Meiryo"/>
              </a:defRPr>
            </a:pPr>
            <a:r>
              <a:t>業務が変わり</a:t>
            </a:r>
            <a:br/>
            <a:r>
              <a:t>生産性が上がる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5029200"/>
            <a:ext cx="3383280" cy="1097280"/>
          </a:xfrm>
          <a:prstGeom prst="roundRect">
            <a:avLst>
              <a:gd name="adj" fmla="val 4000"/>
            </a:avLst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5166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F4444"/>
                </a:solidFill>
                <a:latin typeface="Meiryo"/>
              </a:defRPr>
            </a:pPr>
            <a:r>
              <a:t>ツールが増えただけで</a:t>
            </a:r>
            <a:br/>
            <a:r>
              <a:t>何も変わらない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なぜ業務整理をやらないのか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1148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762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201168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21488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Meiryo"/>
              </a:defRPr>
            </a:pPr>
            <a:r>
              <a:t>① 面倒だから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地味で時間がかかる作業</a:t>
            </a:r>
          </a:p>
          <a:p>
            <a:pPr>
              <a:spcAft>
                <a:spcPts val="84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現場ヒアリング・手順書き出し</a:t>
            </a:r>
          </a:p>
          <a:p>
            <a:pPr>
              <a:spcAft>
                <a:spcPts val="84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例外の洗い出し・関係者合意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383280" cy="41148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59" y="1645920"/>
            <a:ext cx="3383280" cy="76200"/>
          </a:xfrm>
          <a:prstGeom prst="roundRect">
            <a:avLst>
              <a:gd name="adj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14999" y="2011680"/>
            <a:ext cx="914400" cy="914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4999" y="21488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108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  <a:latin typeface="Meiryo"/>
              </a:defRPr>
            </a:pPr>
            <a:r>
              <a:t>② リーダーがいない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9319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部門横断の取り組みが必要</a:t>
            </a:r>
          </a:p>
          <a:p>
            <a:pPr>
              <a:spcAft>
                <a:spcPts val="84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しかし旗振り役がいない</a:t>
            </a:r>
          </a:p>
          <a:p>
            <a:pPr>
              <a:spcAft>
                <a:spcPts val="84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結果「見えやすい」ツール導入だけ進む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383280" cy="41148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645920"/>
            <a:ext cx="3383280" cy="762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64040" y="201168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21488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108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Meiryo"/>
              </a:defRPr>
            </a:pPr>
            <a:r>
              <a:t>③ コンサルも</a:t>
            </a:r>
            <a:br/>
            <a:r>
              <a:t>  業務整理をしない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9319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見るべき指標は業界で決まっている</a:t>
            </a:r>
          </a:p>
          <a:p>
            <a:pPr>
              <a:spcAft>
                <a:spcPts val="84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しかし体系化できるコンサルが少ない</a:t>
            </a:r>
          </a:p>
          <a:p>
            <a:pPr>
              <a:spcAft>
                <a:spcPts val="84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「お客様が見たいもの」を見せるだけ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6035040"/>
            <a:ext cx="9418320" cy="54864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60807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8CAE4"/>
                </a:solidFill>
                <a:latin typeface="Meiryo"/>
              </a:defRPr>
            </a:pPr>
            <a:r>
              <a:t>見るべきものを示すのがコンサルタントの仕事。御用聞きはコンサルティングではない。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DXで成果を出す正しい順序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9418320" cy="137160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40" y="2057400"/>
            <a:ext cx="548640" cy="54864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164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26080"/>
            <a:ext cx="2377440" cy="237744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926080"/>
            <a:ext cx="2377440" cy="76200"/>
          </a:xfrm>
          <a:prstGeom prst="roundRect">
            <a:avLst>
              <a:gd name="adj" fmla="val 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  <a:latin typeface="Meiryo"/>
              </a:defRPr>
            </a:pPr>
            <a:r>
              <a:t>業務整理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手順を可視化</a:t>
            </a:r>
          </a:p>
          <a:p>
            <a:pPr>
              <a:spcAft>
                <a:spcPts val="70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標準化する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4343400" y="2057400"/>
            <a:ext cx="548640" cy="54864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926080"/>
            <a:ext cx="2377440" cy="237744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2926080"/>
            <a:ext cx="2377440" cy="76200"/>
          </a:xfrm>
          <a:prstGeom prst="roundRect">
            <a:avLst>
              <a:gd name="adj" fmla="val 0"/>
            </a:avLst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8CAE4"/>
                </a:solidFill>
                <a:latin typeface="Meiryo"/>
              </a:defRPr>
            </a:pPr>
            <a:r>
              <a:t>情報統合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8404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Excel・紙・口頭の</a:t>
            </a:r>
          </a:p>
          <a:p>
            <a:pPr>
              <a:spcAft>
                <a:spcPts val="70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情報を一箇所に集める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6995160" y="20574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2377440" cy="237744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926080"/>
            <a:ext cx="2377440" cy="762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Meiryo"/>
              </a:defRPr>
            </a:pPr>
            <a:r>
              <a:t>ツール選定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整理された業務に</a:t>
            </a:r>
          </a:p>
          <a:p>
            <a:pPr>
              <a:spcAft>
                <a:spcPts val="70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合うツールを選ぶ</a:t>
            </a:r>
          </a:p>
        </p:txBody>
      </p:sp>
      <p:sp>
        <p:nvSpPr>
          <p:cNvPr id="23" name="Oval 22"/>
          <p:cNvSpPr/>
          <p:nvPr/>
        </p:nvSpPr>
        <p:spPr>
          <a:xfrm>
            <a:off x="9646920" y="205740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2926080"/>
            <a:ext cx="2377440" cy="237744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69680" y="2926080"/>
            <a:ext cx="2377440" cy="762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eiryo"/>
              </a:defRPr>
            </a:pPr>
            <a:r>
              <a:t>AI活用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8404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統合データの上で</a:t>
            </a:r>
          </a:p>
          <a:p>
            <a:pPr>
              <a:spcAft>
                <a:spcPts val="700"/>
              </a:spcAft>
              <a:defRPr sz="1400">
                <a:solidFill>
                  <a:srgbClr val="F0F4F8"/>
                </a:solidFill>
                <a:latin typeface="Meiryo"/>
              </a:defRPr>
            </a:pPr>
            <a:r>
              <a:t>AIを活用する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5669280"/>
            <a:ext cx="9418320" cy="731520"/>
          </a:xfrm>
          <a:prstGeom prst="roundRect">
            <a:avLst>
              <a:gd name="adj" fmla="val 3000"/>
            </a:avLst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5715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Meiryo"/>
              </a:defRPr>
            </a:pPr>
            <a:r>
              <a:t>⚠ よくある失敗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8064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eiryo"/>
              </a:defRPr>
            </a:pPr>
            <a:r>
              <a:t>ステップ①②を飛ばして③④から始める → 確実に失敗する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eiryo"/>
              </a:defRPr>
            </a:pPr>
            <a:r>
              <a:t>まとめ：DXの第一歩はツール選びではない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83280" cy="63500"/>
          </a:xfrm>
          <a:prstGeom prst="roundRect">
            <a:avLst>
              <a:gd name="adj" fmla="val 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  <a:latin typeface="Meiryo"/>
              </a:defRPr>
            </a:pPr>
            <a:r>
              <a:t>業務整理が先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>
                <a:solidFill>
                  <a:srgbClr val="F0F4F8"/>
                </a:solidFill>
                <a:latin typeface="Meiryo"/>
              </a:defRPr>
            </a:pPr>
            <a:r>
              <a:t>ツールを入れる前に</a:t>
            </a:r>
          </a:p>
          <a:p>
            <a:pPr>
              <a:spcAft>
                <a:spcPts val="599"/>
              </a:spcAft>
              <a:defRPr sz="1500">
                <a:solidFill>
                  <a:srgbClr val="F0F4F8"/>
                </a:solidFill>
                <a:latin typeface="Meiryo"/>
              </a:defRPr>
            </a:pPr>
            <a:r>
              <a:t>手順を可視化・標準化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2860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59" y="2286000"/>
            <a:ext cx="3383280" cy="635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651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Meiryo"/>
              </a:defRPr>
            </a:pPr>
            <a:r>
              <a:t>手段の目的化に</a:t>
            </a:r>
            <a:br/>
            <a:r>
              <a:t>気づく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3832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>
                <a:solidFill>
                  <a:srgbClr val="F0F4F8"/>
                </a:solidFill>
                <a:latin typeface="Meiryo"/>
              </a:defRPr>
            </a:pPr>
            <a:r>
              <a:t>ツール導入がゴールに</a:t>
            </a:r>
          </a:p>
          <a:p>
            <a:pPr>
              <a:spcAft>
                <a:spcPts val="599"/>
              </a:spcAft>
              <a:defRPr sz="1500">
                <a:solidFill>
                  <a:srgbClr val="F0F4F8"/>
                </a:solidFill>
                <a:latin typeface="Meiryo"/>
              </a:defRPr>
            </a:pPr>
            <a:r>
              <a:t>なっていないか確認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2860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2286000"/>
            <a:ext cx="3383280" cy="635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651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Meiryo"/>
              </a:defRPr>
            </a:pPr>
            <a:r>
              <a:t>正しい順序を守る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832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>
                <a:solidFill>
                  <a:srgbClr val="F0F4F8"/>
                </a:solidFill>
                <a:latin typeface="Meiryo"/>
              </a:defRPr>
            </a:pPr>
            <a:r>
              <a:t>業務整理→情報統合</a:t>
            </a:r>
          </a:p>
          <a:p>
            <a:pPr>
              <a:spcAft>
                <a:spcPts val="599"/>
              </a:spcAft>
              <a:defRPr sz="1500">
                <a:solidFill>
                  <a:srgbClr val="F0F4F8"/>
                </a:solidFill>
                <a:latin typeface="Meiryo"/>
              </a:defRPr>
            </a:pPr>
            <a:r>
              <a:t>→ツール→AI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754880"/>
            <a:ext cx="9418320" cy="164592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4892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Meiryo"/>
              </a:defRPr>
            </a:pPr>
            <a:r>
              <a:t>HARMONIC insight ── 建設業の業務整理からDX実現まで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349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▸ 自分で始めたい方 → note記事「DXが失敗する会社の共通点」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760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▸ 体系的に学びたい方 → SIPOフレームワーク実践ワークショップ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▸ 支援が必要な方 → お問い合わせ（概要欄リンク）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