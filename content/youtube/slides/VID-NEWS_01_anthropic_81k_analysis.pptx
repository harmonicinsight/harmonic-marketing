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Anthropicが、とんでもない調査を公開しました。</a:t>
            </a:r>
          </a:p>
          <a:p/>
          <a:p>
            <a:r>
              <a:t>159か国、70言語、81,000人。</a:t>
            </a:r>
          </a:p>
          <a:p>
            <a:r>
              <a:t>「AIに何を求めますか？」という質問を、AIが対話形式で、一人ひとりに深く聞いていった。</a:t>
            </a:r>
          </a:p>
          <a:p/>
          <a:p>
            <a:r>
              <a:t>チェックボックスのアンケートじゃないんです。</a:t>
            </a:r>
          </a:p>
          <a:p>
            <a:r>
              <a:t>会話で深掘りする質的調査を、8万人規模でやった。史上最大です。</a:t>
            </a:r>
          </a:p>
          <a:p/>
          <a:p>
            <a:r>
              <a:t>今日はこの調査結果を、日本のDXやビジネスの視点で分析してみます。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まず、この調査の何がすごいのかを説明します。</a:t>
            </a:r>
          </a:p>
          <a:p/>
          <a:p>
            <a:r>
              <a:t>普通のAI調査って、チェックボックスのアンケートなんです。「AIを使っていますか？ はい/いいえ」みたいな。</a:t>
            </a:r>
          </a:p>
          <a:p>
            <a:r>
              <a:t>これだと表面的な答えしか出てこない。</a:t>
            </a:r>
          </a:p>
          <a:p/>
          <a:p>
            <a:r>
              <a:t>でもAnthropicは違いました。AIが一人ひとりに対話形式で聞いていった。</a:t>
            </a:r>
          </a:p>
          <a:p>
            <a:r>
              <a:t>「魔法の杖があったら、AIに何をさせたい？」</a:t>
            </a:r>
          </a:p>
          <a:p>
            <a:r>
              <a:t>そして「なぜそれが欲しいの？」とさらに深掘りした。</a:t>
            </a:r>
          </a:p>
          <a:p/>
          <a:p>
            <a:r>
              <a:t>しかもこれを81,000人、159か国、70言語でやった。質的調査としては史上最大です。</a:t>
            </a:r>
          </a:p>
          <a:p>
            <a:r>
              <a:t>量的調査で8万人は珍しくないですが、質的調査でこの規模は前代未聞です。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ではまず、81,000人がAIに何を求めたのかを見ていきます。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一番多かったのは「職業的卓越性」で19%。</a:t>
            </a:r>
          </a:p>
          <a:p>
            <a:r>
              <a:t>ルーチン業務をAIに任せて、もっと高度な仕事に集中したい。</a:t>
            </a:r>
          </a:p>
          <a:p/>
          <a:p>
            <a:r>
              <a:t>ここまでは想像通りですよね。</a:t>
            </a:r>
          </a:p>
          <a:p>
            <a:r>
              <a:t>でも、この調査の面白いところは、ここからです。</a:t>
            </a:r>
          </a:p>
          <a:p/>
          <a:p>
            <a:r>
              <a:t>2位が「個人的変容」14%。成長、メンタルヘルス、自己理解。</a:t>
            </a:r>
          </a:p>
          <a:p>
            <a:r>
              <a:t>3位が「生活管理」14%。認知的負担を減らしたい。</a:t>
            </a:r>
          </a:p>
          <a:p>
            <a:r>
              <a:t>4位が「時間的自由」11%。家族と過ごしたい。</a:t>
            </a:r>
          </a:p>
          <a:p/>
          <a:p>
            <a:r>
              <a:t>上位3つを合わせると46%。でもどれも、単純な「生産性向上」には収まらない。</a:t>
            </a:r>
          </a:p>
          <a:p>
            <a:r>
              <a:t>これは何を意味しているのか。次のスライドで深掘りします。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Anthropicは「なぜそれが欲しいの？」と深く聞いていった。</a:t>
            </a:r>
          </a:p>
          <a:p>
            <a:r>
              <a:t>すると、答えが変わるんです。</a:t>
            </a:r>
          </a:p>
          <a:p/>
          <a:p>
            <a:r>
              <a:t>「効率を上げたい」と言った人。深掘りすると「家族と過ごす時間が欲しい」と言う。</a:t>
            </a:r>
          </a:p>
          <a:p>
            <a:r>
              <a:t>「もっと稼ぎたい」と言った人。深掘りすると「自分の力で独立したい」と言う。</a:t>
            </a:r>
          </a:p>
          <a:p>
            <a:r>
              <a:t>「業務を自動化したい」と言った人。深掘りすると「頭の中の混乱を整理したい」と言う。</a:t>
            </a:r>
          </a:p>
          <a:p/>
          <a:p>
            <a:r>
              <a:t>人々は「生産性」と答えたけど、本当に求めていたのは「自由」だった。</a:t>
            </a:r>
          </a:p>
          <a:p/>
          <a:p>
            <a:r>
              <a:t>ここでいう「自由」とは、3つの意味があります。</a:t>
            </a:r>
          </a:p>
          <a:p>
            <a:r>
              <a:t>1つ目は「時間の自由」。家族と過ごしたい、定時に帰りたい。</a:t>
            </a:r>
          </a:p>
          <a:p>
            <a:r>
              <a:t>2つ目は「認知の自由」。頭の中の情報過多から解放されたい。</a:t>
            </a:r>
          </a:p>
          <a:p>
            <a:r>
              <a:t>3つ目は「選択の自由」。自分の意思で人生を決めたい。</a:t>
            </a:r>
          </a:p>
          <a:p/>
          <a:p>
            <a:r>
              <a:t>この3つが根っこにある。これはすごく大事なポイントです。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実際の声を紹介します。</a:t>
            </a:r>
          </a:p>
          <a:p/>
          <a:p>
            <a:r>
              <a:t>メキシコのエンジニアはこう言いました。</a:t>
            </a:r>
          </a:p>
          <a:p>
            <a:r>
              <a:t>「AIのおかげで定時に帰れるようになった。子どもの迎えに行ける。」</a:t>
            </a:r>
          </a:p>
          <a:p/>
          <a:p>
            <a:r>
              <a:t>デンマークのマネージャーはこう言った。</a:t>
            </a:r>
          </a:p>
          <a:p>
            <a:r>
              <a:t>「AIが認知的負担を本当に引き受けてくれたら、それは何にも代えがたいものを返してくれる。家族への、邪魔されない注意だ。」</a:t>
            </a:r>
          </a:p>
          <a:p/>
          <a:p>
            <a:r>
              <a:t>この「邪魔されない注意」という表現がすごくリアルじゃないですか。</a:t>
            </a:r>
          </a:p>
          <a:p>
            <a:r>
              <a:t>仕事のことが頭にあると、家族といても心ここにあらずになる。</a:t>
            </a:r>
          </a:p>
          <a:p>
            <a:r>
              <a:t>AIが仕事の認知負荷を下げてくれたら、目の前の人に集中できるようになる。</a:t>
            </a:r>
          </a:p>
          <a:p/>
          <a:p>
            <a:r>
              <a:t>生産性向上って、結局そういうことなんです。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これ、すごく大事なポイントです。</a:t>
            </a:r>
          </a:p>
          <a:p>
            <a:r>
              <a:t>AIを導入する時の目標設定が変わります。</a:t>
            </a:r>
          </a:p>
          <a:p/>
          <a:p>
            <a:r>
              <a:t>今までのKPI：「処理速度が何%上がったか」「コストが何%下がったか」</a:t>
            </a:r>
          </a:p>
          <a:p>
            <a:r>
              <a:t>これは間違いではないけど、本質を見失っている。</a:t>
            </a:r>
          </a:p>
          <a:p/>
          <a:p>
            <a:r>
              <a:t>本当に測るべきは「社員が本来やるべき仕事に集中できているか」。</a:t>
            </a:r>
          </a:p>
          <a:p/>
          <a:p>
            <a:r>
              <a:t>処理速度が2倍になっても、社員が疲弊していたら意味がない。</a:t>
            </a:r>
          </a:p>
          <a:p>
            <a:r>
              <a:t>逆に、処理速度は変わらなくても、社員が創造的な仕事に時間を使えるようになったら、それは大きな成功です。</a:t>
            </a:r>
          </a:p>
          <a:p/>
          <a:p>
            <a:r>
              <a:t>生産性は手段であって、目的じゃない。目的は「人が人生を取り戻すこと」。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次に、僕がこの調査で一番注目したデータを紹介します。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AIで経済的な恩恵を感じている人の割合。</a:t>
            </a:r>
          </a:p>
          <a:p/>
          <a:p>
            <a:r>
              <a:t>独立事業者、フリーランス：47%。</a:t>
            </a:r>
          </a:p>
          <a:p>
            <a:r>
              <a:t>企業の従業員：14%。</a:t>
            </a:r>
          </a:p>
          <a:p/>
          <a:p>
            <a:r>
              <a:t>3倍以上の差です。</a:t>
            </a:r>
          </a:p>
          <a:p/>
          <a:p>
            <a:r>
              <a:t>同じAIを使っているのに、なぜここまで差がつくのか。</a:t>
            </a:r>
          </a:p>
          <a:p>
            <a:r>
              <a:t>フリーランスは「こう使ったら便利だ」と思ったら、その場で試せる。</a:t>
            </a:r>
          </a:p>
          <a:p>
            <a:r>
              <a:t>自分で判断して、すぐに実行できる。</a:t>
            </a:r>
          </a:p>
          <a:p/>
          <a:p>
            <a:r>
              <a:t>でも会社員は違う。「まずセキュリティ部門に確認します」「来期の予算で検討」。</a:t>
            </a:r>
          </a:p>
          <a:p>
            <a:r>
              <a:t>この承認プロセスの間に、フリーランスはもう成果を出している。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さらに面白いデータがあります。</a:t>
            </a:r>
          </a:p>
          <a:p/>
          <a:p>
            <a:r>
              <a:t>副業を持っている会社員は、58%がAIの経済的恩恵を感じている。</a:t>
            </a:r>
          </a:p>
          <a:p/>
          <a:p>
            <a:r>
              <a:t>会社では14%なのに、副業では58%。同じ人が、です。</a:t>
            </a:r>
          </a:p>
          <a:p>
            <a:r>
              <a:t>何が違うか。副業では自分の裁量でAIを使えるからです。</a:t>
            </a:r>
          </a:p>
          <a:p/>
          <a:p>
            <a:r>
              <a:t>つまり、AIの恩恵を受けられるかどうかは、AIの性能の問題じゃない。</a:t>
            </a:r>
          </a:p>
          <a:p>
            <a:r>
              <a:t>自分の裁量で使えるかどうか、なんです。</a:t>
            </a:r>
          </a:p>
          <a:p/>
          <a:p>
            <a:r>
              <a:t>これは組織にとって非常に重要な示唆です。</a:t>
            </a:r>
          </a:p>
          <a:p>
            <a:r>
              <a:t>「良いAIツールを入れれば生産性が上がる」は幻想。</a:t>
            </a:r>
          </a:p>
          <a:p>
            <a:r>
              <a:t>社員に使い方の自由を渡さなければ、どんなに優れたAIも宝の持ち腐れです。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具体的に何が起きているかというと、</a:t>
            </a:r>
          </a:p>
          <a:p/>
          <a:p>
            <a:r>
              <a:t>フリーランスの場合：</a:t>
            </a:r>
          </a:p>
          <a:p>
            <a:r>
              <a:t>「この提案書、AIに下書きさせよう」→ 5分で実行 → 1時間で完成。</a:t>
            </a:r>
          </a:p>
          <a:p/>
          <a:p>
            <a:r>
              <a:t>会社員の場合：</a:t>
            </a:r>
          </a:p>
          <a:p>
            <a:r>
              <a:t>「AI使いたいんですけど」→「まずセキュリティ部門に確認して」</a:t>
            </a:r>
          </a:p>
          <a:p>
            <a:r>
              <a:t>→ 2週間後「承認されました、でもこのツールは使えません」</a:t>
            </a:r>
          </a:p>
          <a:p>
            <a:r>
              <a:t>→「じゃあ別のツールを申請します」→ また2週間…</a:t>
            </a:r>
          </a:p>
          <a:p/>
          <a:p>
            <a:r>
              <a:t>この間にフリーランスは10件の仕事を終わらせている。</a:t>
            </a:r>
          </a:p>
          <a:p/>
          <a:p>
            <a:r>
              <a:t>問題はAIの性能じゃない。自律性を渡しているかどうか。</a:t>
            </a:r>
          </a:p>
          <a:p>
            <a:r>
              <a:t>これは個人の能力の問題でもない。組織の仕組みの問題です。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ここに日本企業のDXの課題が凝縮されています。</a:t>
            </a:r>
          </a:p>
          <a:p/>
          <a:p>
            <a:r>
              <a:t>別の調査では、日本企業の79.3%がDXの最大課題は「人材不足」だと答えています。</a:t>
            </a:r>
          </a:p>
          <a:p/>
          <a:p>
            <a:r>
              <a:t>でも、本当にそうでしょうか。</a:t>
            </a:r>
          </a:p>
          <a:p/>
          <a:p>
            <a:r>
              <a:t>47% vs 14%のデータを思い出してください。</a:t>
            </a:r>
          </a:p>
          <a:p>
            <a:r>
              <a:t>同じ人が、会社では恩恵を受けられず、副業では恩恵を受けている。</a:t>
            </a:r>
          </a:p>
          <a:p>
            <a:r>
              <a:t>人材がいないんじゃなくて、いる人材に裁量を渡していない。</a:t>
            </a:r>
          </a:p>
          <a:p/>
          <a:p>
            <a:r>
              <a:t>「まず上に確認します」「前例がないので」「規程では認められていない」</a:t>
            </a:r>
          </a:p>
          <a:p>
            <a:r>
              <a:t>この3つの言葉が、日本企業のAI活用を止めている。</a:t>
            </a:r>
          </a:p>
          <a:p/>
          <a:p>
            <a:r>
              <a:t>自律性を渡さない組織は、AIの恩恵を受けられない。</a:t>
            </a:r>
          </a:p>
          <a:p>
            <a:r>
              <a:t>これはかなり強いメッセージだと思います。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この調査で最も深い発見が、この「光と影」です。</a:t>
            </a:r>
          </a:p>
          <a:p/>
          <a:p>
            <a:r>
              <a:t>AIの利点と懸念は、賛成派と反対派に分かれるのではない。</a:t>
            </a:r>
          </a:p>
          <a:p>
            <a:r>
              <a:t>同じ人の中に共存している。これがこの調査のもっとも重要なメッセージです。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データを見てください。</a:t>
            </a:r>
          </a:p>
          <a:p/>
          <a:p>
            <a:r>
              <a:t>AIに感情的に助けられたと感じている人。</a:t>
            </a:r>
          </a:p>
          <a:p>
            <a:r>
              <a:t>その人たちが、AIへの依存を恐れる確率は3倍高かった。</a:t>
            </a:r>
          </a:p>
          <a:p/>
          <a:p>
            <a:r>
              <a:t>AIで学習が加速したと感じている人。</a:t>
            </a:r>
          </a:p>
          <a:p>
            <a:r>
              <a:t>その人たちが、認知萎縮を心配する確率も高い。</a:t>
            </a:r>
          </a:p>
          <a:p/>
          <a:p>
            <a:r>
              <a:t>教育の現場では、教師が学生の思考力低下を平均の2.5倍の頻度で目撃している。</a:t>
            </a:r>
          </a:p>
          <a:p/>
          <a:p>
            <a:r>
              <a:t>ここが重要なんですが、恩恵は実体験として語られていた。81%が「もう恩恵を受けている」と。</a:t>
            </a:r>
          </a:p>
          <a:p>
            <a:r>
              <a:t>一方、懸念の多くは「まだ起きていないけど、起きるかもしれない」という予測だった。</a:t>
            </a:r>
          </a:p>
          <a:p/>
          <a:p>
            <a:r>
              <a:t>ただし例外があります。フリーランスの創作者。</a:t>
            </a:r>
          </a:p>
          <a:p>
            <a:r>
              <a:t>23%が恩恵を感じ、17%が脅威を感じている。ほぼ拮抗。</a:t>
            </a:r>
          </a:p>
          <a:p>
            <a:r>
              <a:t>これはもう予測じゃなくて、現実です。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具体的な声を紹介します。</a:t>
            </a:r>
          </a:p>
          <a:p/>
          <a:p>
            <a:r>
              <a:t>イスラエルの弁護士はこう言いました。</a:t>
            </a:r>
          </a:p>
          <a:p>
            <a:r>
              <a:t>「AIで契約書レビューの時間を節約している。でも同時に恐れている。自分で読む力を失っているのではないか。」</a:t>
            </a:r>
          </a:p>
          <a:p/>
          <a:p>
            <a:r>
              <a:t>これ、日本のビジネスパーソンにも当てはまりませんか？</a:t>
            </a:r>
          </a:p>
          <a:p/>
          <a:p>
            <a:r>
              <a:t>例えば、翻訳AI。おかげで海外の論文や記事がサクサク読めるようになった。</a:t>
            </a:r>
          </a:p>
          <a:p>
            <a:r>
              <a:t>でも、英語で考える力が確実に落ちている。半年前の自分の方が英文を読めた気がする。</a:t>
            </a:r>
          </a:p>
          <a:p/>
          <a:p>
            <a:r>
              <a:t>あるいは、ChatGPTで企画書のたたき台を作るようになった。</a:t>
            </a:r>
          </a:p>
          <a:p>
            <a:r>
              <a:t>でも、自分でゼロから考える力が弱くなっている気がする。</a:t>
            </a:r>
          </a:p>
          <a:p/>
          <a:p>
            <a:r>
              <a:t>これが「光と影は同じ人の中にある」ということの意味です。</a:t>
            </a:r>
          </a:p>
          <a:p>
            <a:r>
              <a:t>便利だと感じている人こそが、自分の能力低下を一番敏感に感じている。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懸念のトップ3も紹介します。</a:t>
            </a:r>
          </a:p>
          <a:p/>
          <a:p>
            <a:r>
              <a:t>1位：信頼性の問題。ハルシネーション。27%。</a:t>
            </a:r>
          </a:p>
          <a:p>
            <a:r>
              <a:t>AIが嘘をつく。これが一番の懸念です。</a:t>
            </a:r>
          </a:p>
          <a:p/>
          <a:p>
            <a:r>
              <a:t>2位：雇用と経済への影響。22%。</a:t>
            </a:r>
          </a:p>
          <a:p>
            <a:r>
              <a:t>自分の仕事がなくなるのではないか。</a:t>
            </a:r>
          </a:p>
          <a:p/>
          <a:p>
            <a:r>
              <a:t>3位：人間の自律性の喪失。22%。</a:t>
            </a:r>
          </a:p>
          <a:p>
            <a:r>
              <a:t>AIに依存しすぎて、自分で判断する力を失うのではないか。</a:t>
            </a:r>
          </a:p>
          <a:p/>
          <a:p>
            <a:r>
              <a:t>面白いのは、11%の人は「懸念なし」と答えていること。</a:t>
            </a:r>
          </a:p>
          <a:p>
            <a:r>
              <a:t>しかもこれは中・低所得国に多い。アフリカでは18%が懸念なし。</a:t>
            </a:r>
          </a:p>
          <a:p/>
          <a:p>
            <a:r>
              <a:t>なぜか。</a:t>
            </a:r>
          </a:p>
          <a:p>
            <a:r>
              <a:t>先進国では、AIは「今あるものを奪う脅威」。</a:t>
            </a:r>
          </a:p>
          <a:p>
            <a:r>
              <a:t>途上国では、AIは「今までなかったものを与えてくれる希望」。</a:t>
            </a:r>
          </a:p>
          <a:p>
            <a:r>
              <a:t>同じテクノロジーが、立場で全く違って見えるんです。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最後に、この調査を日本のDXにどう活かすか。</a:t>
            </a:r>
          </a:p>
          <a:p>
            <a:r>
              <a:t>東アジアのデータも出ていますので、そこから見ていきます。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東アジアのデータを見てみましょう。</a:t>
            </a:r>
          </a:p>
          <a:p/>
          <a:p>
            <a:r>
              <a:t>個人的変容への期待：19%で全地域最高。</a:t>
            </a:r>
          </a:p>
          <a:p>
            <a:r>
              <a:t>経済的独立への期待：15%で全地域最高。</a:t>
            </a:r>
          </a:p>
          <a:p>
            <a:r>
              <a:t>認知萎縮への懸念：18%。</a:t>
            </a:r>
          </a:p>
          <a:p>
            <a:r>
              <a:t>意味と創造性の喪失への懸念：13%。</a:t>
            </a:r>
          </a:p>
          <a:p/>
          <a:p>
            <a:r>
              <a:t>つまり東アジア、特に日本は、</a:t>
            </a:r>
          </a:p>
          <a:p>
            <a:r>
              <a:t>AIに自己変革を期待しつつ、自分が弱くなることを最も恐れている地域なんです。</a:t>
            </a:r>
          </a:p>
          <a:p/>
          <a:p>
            <a:r>
              <a:t>「AIで成長したい。でもAIに頼りすぎて弱くなりたくない。」</a:t>
            </a:r>
          </a:p>
          <a:p>
            <a:r>
              <a:t>この二律背反が、日本のAI活用を難しくしている根本原因かもしれません。</a:t>
            </a:r>
          </a:p>
          <a:p/>
          <a:p>
            <a:r>
              <a:t>だからこそ、「とりあえずAIを使え」ではダメなんです。</a:t>
            </a:r>
          </a:p>
          <a:p>
            <a:r>
              <a:t>意識的に設計して使う必要がある。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ここから3つ、提言します。</a:t>
            </a:r>
          </a:p>
          <a:p/>
          <a:p>
            <a:r>
              <a:t>1つ目。AIの導入目標を「効率化」から「自由の創出」に変える。</a:t>
            </a:r>
          </a:p>
          <a:p>
            <a:r>
              <a:t>処理速度ではなく、人が本来やるべき仕事に集中できているかを測る。</a:t>
            </a:r>
          </a:p>
          <a:p>
            <a:r>
              <a:t>KPIの設計からやり直す必要があります。</a:t>
            </a:r>
          </a:p>
          <a:p/>
          <a:p>
            <a:r>
              <a:t>2つ目。自律性を渡す。</a:t>
            </a:r>
          </a:p>
          <a:p>
            <a:r>
              <a:t>47% vs 14%のデータが全てです。</a:t>
            </a:r>
          </a:p>
          <a:p>
            <a:r>
              <a:t>AIを活用したいなら、使い方を現場に委ねる。承認を減らし、裁量を増やす。</a:t>
            </a:r>
          </a:p>
          <a:p>
            <a:r>
              <a:t>「まず使わせる。問題が起きたら対処する」の順番に変える。</a:t>
            </a:r>
          </a:p>
          <a:p/>
          <a:p>
            <a:r>
              <a:t>3つ目。AIの使い方を「設計する」。</a:t>
            </a:r>
          </a:p>
          <a:p>
            <a:r>
              <a:t>光と影は同じ人の中にある。だから「とりあえず使え」ではダメ。</a:t>
            </a:r>
          </a:p>
          <a:p>
            <a:r>
              <a:t>何をAIに任せ、何を自分の力として残すか。意識的に設計する必要がある。</a:t>
            </a:r>
          </a:p>
          <a:p/>
          <a:p>
            <a:r>
              <a:t>例えば「翻訳はAIに任せるが、週に1回は自分で英文を読む時間を取る」。</a:t>
            </a:r>
          </a:p>
          <a:p>
            <a:r>
              <a:t>こういうルールを自分で決める。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81,000人の声が教えてくれたのは、</a:t>
            </a:r>
          </a:p>
          <a:p>
            <a:r>
              <a:t>AIは道具であると同時に、鏡だということです。</a:t>
            </a:r>
          </a:p>
          <a:p/>
          <a:p>
            <a:r>
              <a:t>自分が何を求め、何を恐れているか。それが映し出される。</a:t>
            </a:r>
          </a:p>
          <a:p/>
          <a:p>
            <a:r>
              <a:t>生産性を求めた人は、実は自由を求めていた。</a:t>
            </a:r>
          </a:p>
          <a:p>
            <a:r>
              <a:t>便利さを感じた人は、同時に自分の能力低下を恐れていた。</a:t>
            </a:r>
          </a:p>
          <a:p>
            <a:r>
              <a:t>会社で使えない人は、組織の自律性の問題を映し出していた。</a:t>
            </a:r>
          </a:p>
          <a:p/>
          <a:p>
            <a:r>
              <a:t>だからこそ、AIの前に、自分が本当に欲しいものを明確にすることが大事なんです。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今回の内容が参考になったら、チャンネル登録をお願いします。</a:t>
            </a:r>
          </a:p>
          <a:p>
            <a:r>
              <a:t>Anthropicの調査全文はリンクを概要欄に貼っておきます。</a:t>
            </a:r>
          </a:p>
          <a:p/>
          <a:p>
            <a:r>
              <a:t>DXやAI活用の実践的な話を発信しています。</a:t>
            </a:r>
          </a:p>
          <a:p>
            <a:r>
              <a:t>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286000" cy="4114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2026年3月18日 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A8A29E"/>
                </a:solidFill>
                <a:latin typeface="Noto Sans JP"/>
              </a:rPr>
              <a:t>Anthropic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64008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200" b="1">
                <a:solidFill>
                  <a:srgbClr val="B8942F"/>
                </a:solidFill>
                <a:latin typeface="Segoe UI"/>
              </a:rPr>
              <a:t>81,000</a:t>
            </a:r>
            <a:r>
              <a:rPr sz="3200" b="1">
                <a:solidFill>
                  <a:srgbClr val="B8942F"/>
                </a:solidFill>
                <a:latin typeface="Noto Sans JP"/>
              </a:rPr>
              <a:t>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6400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57534E"/>
                </a:solidFill>
                <a:latin typeface="Noto Sans JP"/>
              </a:rPr>
              <a:t>159か国 · 70言語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AIに何を求めるか？</a:t>
            </a:r>
          </a:p>
          <a:p>
            <a:pPr algn="l">
              <a:spcBef>
                <a:spcPts val="1200"/>
              </a:spcBef>
            </a:pPr>
            <a:r>
              <a:rPr sz="1800">
                <a:solidFill>
                  <a:srgbClr val="57534E"/>
                </a:solidFill>
                <a:latin typeface="Noto Sans JP"/>
              </a:rPr>
              <a:t>史上最大の質的AI調査を日本のDX視点で分析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この調査の何がすごいのか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従来のAI調査：チェックボックス → 表面的な回答しか得られない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Anthropicの調査：AIが対話で深掘り → 本音が出てくる</a:t>
            </a:r>
          </a:p>
          <a:p>
            <a:pPr algn="l">
              <a:spcAft>
                <a:spcPts val="800"/>
              </a:spcAft>
            </a:pPr>
            <a:r>
              <a:rPr sz="800">
                <a:solidFill>
                  <a:srgbClr val="1C1917"/>
                </a:solidFill>
                <a:latin typeface="Noto Sans JP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質問：「魔法の杖があったら、AIに何をさせたい？」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→ さらに「なぜそれが欲しいの？」と深層まで掘り下げる</a:t>
            </a:r>
          </a:p>
          <a:p>
            <a:pPr algn="l">
              <a:spcAft>
                <a:spcPts val="800"/>
              </a:spcAft>
            </a:pPr>
            <a:r>
              <a:rPr sz="800">
                <a:solidFill>
                  <a:srgbClr val="1C1917"/>
                </a:solidFill>
                <a:latin typeface="Noto Sans JP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規模：81,000人 × 159か国 × 70言語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→ 質的調査としては史上最大のスケール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C1917"/>
                </a:solidFill>
                <a:latin typeface="Noto Sans JP"/>
              </a:rPr>
              <a:t>人々がAIに求めるもの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AIに求めるもの トップ4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職業的卓越性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5501030" cy="411480"/>
          </a:xfrm>
          <a:prstGeom prst="roundRect">
            <a:avLst>
              <a:gd name="adj" fmla="val 15000"/>
            </a:avLst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182880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B8942F"/>
                </a:solidFill>
                <a:latin typeface="Segoe UI"/>
              </a:rPr>
              <a:t>18.8%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個人的変容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56032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560320"/>
            <a:ext cx="4008729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0" y="256032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13.7%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生活管理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291840"/>
            <a:ext cx="3950208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329184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13.5%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4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時間的自由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02336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4023360"/>
            <a:ext cx="3247948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0" y="402336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11.1%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A8A29E"/>
                </a:solidFill>
                <a:latin typeface="Noto Sans JP"/>
              </a:rPr>
              <a:t>上位3つで46%。どれも単純な「生産性向上」には収まらない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「なぜそれが欲しいの？」と深く聞くと…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C1917"/>
                </a:solidFill>
                <a:latin typeface="Noto Sans JP"/>
              </a:rPr>
              <a:t>「効率を上げたい」→ 本当は家族と過ごす時間が欲しい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C1917"/>
                </a:solidFill>
                <a:latin typeface="Noto Sans JP"/>
              </a:rPr>
              <a:t>「もっと稼ぎたい」→ 本当は自分の力で独立したい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C1917"/>
                </a:solidFill>
                <a:latin typeface="Noto Sans JP"/>
              </a:rPr>
              <a:t>「業務を自動化したい」→ 本当は頭の中の混乱を整理したい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B8942F"/>
                </a:solidFill>
                <a:latin typeface="Noto Sans JP"/>
              </a:rPr>
              <a:t>表面的には「生産性」。でも根っこにあるのは「自由」への渇望。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81,000人の「本音」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54864" cy="18288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46304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1C1917"/>
                </a:solidFill>
                <a:latin typeface="Noto Sans JP"/>
              </a:rPr>
              <a:t>AIのおかげで定時に帰れるようになった。</a:t>
            </a:r>
            <a:br/>
            <a:r>
              <a:t>子どもの迎えに行ける。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743200"/>
            <a:ext cx="8229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A8A29E"/>
                </a:solidFill>
                <a:latin typeface="Noto Sans JP"/>
              </a:rPr>
              <a:t>── メキシコ、ソフトウェアエンジニア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54864" cy="18288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749039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1C1917"/>
                </a:solidFill>
                <a:latin typeface="Noto Sans JP"/>
              </a:rPr>
              <a:t>AIが認知的負担を引き受けてくれたら、</a:t>
            </a:r>
            <a:br/>
            <a:r>
              <a:t>それは家族への「邪魔されない注意」を返してくれる。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A8A29E"/>
                </a:solidFill>
                <a:latin typeface="Noto Sans JP"/>
              </a:rPr>
              <a:t>── デンマーク、マネージャー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AI導入の目標設定を変える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DC2626"/>
                </a:solidFill>
                <a:latin typeface="Segoe UI"/>
              </a:rPr>
              <a:t>×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処理速度が何%上がったか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○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社員が本来の仕事に
集中できているか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B8942F"/>
                </a:solidFill>
                <a:latin typeface="Noto Sans JP"/>
              </a:rPr>
              <a:t>生産性は手段。目的は「人が人生を取り戻すこと」。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C1917"/>
                </a:solidFill>
                <a:latin typeface="Noto Sans JP"/>
              </a:rPr>
              <a:t>衝撃のデータ：自律性ギャップ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AIで経済的恩恵を感じている人の割合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47%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独立事業者
フリーランス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5720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DC2626"/>
                </a:solidFill>
                <a:latin typeface="Segoe UI"/>
              </a:rPr>
              <a:t>14%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企業の従業員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2560320"/>
            <a:ext cx="914400" cy="9144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846320"/>
            <a:ext cx="36576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B8942F"/>
                </a:solidFill>
                <a:latin typeface="Noto Sans JP"/>
              </a:rPr>
              <a:t>3.4倍の差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さらに興味深いデータ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645920"/>
            <a:ext cx="64008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57534E"/>
                </a:solidFill>
                <a:latin typeface="Noto Sans JP"/>
              </a:rPr>
              <a:t>副業を持っている会社員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286000"/>
            <a:ext cx="64008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200" b="1">
                <a:solidFill>
                  <a:srgbClr val="CA8A04"/>
                </a:solidFill>
                <a:latin typeface="Segoe UI"/>
              </a:rPr>
              <a:t>58</a:t>
            </a:r>
            <a:r>
              <a:rPr sz="3200" b="1">
                <a:solidFill>
                  <a:srgbClr val="CA8A04"/>
                </a:solidFill>
                <a:latin typeface="Noto Sans JP"/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206240"/>
            <a:ext cx="1005840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会社員でも「自分の裁量で使える場」があれば恩恵を受けられる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つまりAIの恩恵は、AIの性能ではなく「使い方の自由度」で決まる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なぜ3.4倍の差が生まれるのか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フリーランス：自分で判断 → すぐ実行 → すぐ成果</a:t>
            </a:r>
          </a:p>
          <a:p>
            <a:pPr algn="l">
              <a:spcAft>
                <a:spcPts val="800"/>
              </a:spcAft>
            </a:pPr>
            <a:r>
              <a:rPr sz="800">
                <a:solidFill>
                  <a:srgbClr val="1C1917"/>
                </a:solidFill>
                <a:latin typeface="Noto Sans JP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会社員：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  「まずセキュリティ部門に確認します」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  「AIツール導入は来期の予算で検討」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  「個人情報の取り扱いが…承認プロセスが…」</a:t>
            </a:r>
          </a:p>
          <a:p>
            <a:pPr algn="l">
              <a:spcAft>
                <a:spcPts val="800"/>
              </a:spcAft>
            </a:pPr>
            <a:r>
              <a:rPr sz="800">
                <a:solidFill>
                  <a:srgbClr val="1C1917"/>
                </a:solidFill>
                <a:latin typeface="Noto Sans JP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C1917"/>
                </a:solidFill>
                <a:latin typeface="Noto Sans JP"/>
              </a:rPr>
              <a:t>→ その間に、フリーランスはAIで3日で終わらせている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B8942F"/>
                </a:solidFill>
                <a:latin typeface="Noto Sans JP"/>
              </a:rPr>
              <a:t>問題はAIの性能ではない。自律性を渡しているかどうか。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日本企業のDXに置き換えると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645920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1C1917"/>
                </a:solidFill>
                <a:latin typeface="Noto Sans JP"/>
              </a:rPr>
              <a:t>日本企業の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011680"/>
            <a:ext cx="64008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200" b="1">
                <a:solidFill>
                  <a:srgbClr val="DC2626"/>
                </a:solidFill>
                <a:latin typeface="Segoe UI"/>
              </a:rPr>
              <a:t>79.3</a:t>
            </a:r>
            <a:r>
              <a:rPr sz="3200" b="1">
                <a:solidFill>
                  <a:srgbClr val="DC2626"/>
                </a:solidFill>
                <a:latin typeface="Noto Sans JP"/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57534E"/>
                </a:solidFill>
                <a:latin typeface="Noto Sans JP"/>
              </a:rPr>
              <a:t>がDXの最大課題は「人材不足」と回答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206240"/>
            <a:ext cx="91440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B8942F"/>
                </a:solidFill>
                <a:latin typeface="Noto Sans JP"/>
              </a:rPr>
              <a:t>本当の問題は、人材がいないことではなく</a:t>
            </a:r>
            <a:br/>
            <a:r>
              <a:t>いる人材に裁量を渡していないこと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企業IT動向調査2025（JUAS）/ Anthropic 81,000 Interviews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C1917"/>
                </a:solidFill>
                <a:latin typeface="Noto Sans JP"/>
              </a:rPr>
              <a:t>光と影 ── 同じ人の中に共存する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AIの利点と懸念は、別の人が感じているのではない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8942F"/>
                </a:solidFill>
                <a:latin typeface="Noto Sans JP"/>
              </a:rPr>
              <a:t>同じ人の中に共存している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DC2626"/>
                </a:solidFill>
                <a:latin typeface="Segoe UI"/>
              </a:rPr>
              <a:t>3倍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AIに感情的に助けられた人
→ 依存を恐れる確率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CA8A04"/>
                </a:solidFill>
                <a:latin typeface="Segoe UI"/>
              </a:rPr>
              <a:t>2.5倍</a:t>
            </a:r>
          </a:p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教師が学生の
思考力低下を目撃する率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Noto Sans JP"/>
              </a:rPr>
              <a:t>恩恵は「実体験」として語られた（81%が「もう恩恵を受けている」）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A8A29E"/>
                </a:solidFill>
                <a:latin typeface="Noto Sans JP"/>
              </a:rPr>
              <a:t>懸念の多くは「まだ起きていないが、起きるかもしれない」という予測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CA8A04"/>
                </a:solidFill>
                <a:latin typeface="Noto Sans JP"/>
              </a:rPr>
              <a:t>ただし例外：フリーランス創作者（23%恩恵 vs 17%脅威 → ほぼ拮抗、現実化）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使っている人ほど、恐れている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54864" cy="18288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46304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1C1917"/>
                </a:solidFill>
                <a:latin typeface="Noto Sans JP"/>
              </a:rPr>
              <a:t>AIで契約書レビューの時間を節約している。</a:t>
            </a:r>
            <a:br/>
            <a:r>
              <a:t>でも同時に恐れている。自分で読む力を失っているのではないか。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743200"/>
            <a:ext cx="8229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A8A29E"/>
                </a:solidFill>
                <a:latin typeface="Noto Sans JP"/>
              </a:rPr>
              <a:t>── イスラエル、弁護士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54864" cy="18288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749039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1C1917"/>
                </a:solidFill>
                <a:latin typeface="Noto Sans JP"/>
              </a:rPr>
              <a:t>翻訳AIのおかげで海外の論文が読めるようになった。</a:t>
            </a:r>
            <a:br/>
            <a:r>
              <a:t>でも英語で考える力が確実に落ちている。半年前の自分の方が読めた。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A8A29E"/>
                </a:solidFill>
                <a:latin typeface="Noto Sans JP"/>
              </a:rPr>
              <a:t>── 日本のビジネスパーソンに置き換えると…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81,000人が挙げた懸念 トップ3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信頼性（ハルシネーション）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01168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5580452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201168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DC2626"/>
                </a:solidFill>
                <a:latin typeface="Segoe UI"/>
              </a:rPr>
              <a:t>26.7%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雇用と経済への影響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92608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926080"/>
            <a:ext cx="4660827" cy="411480"/>
          </a:xfrm>
          <a:prstGeom prst="roundRect">
            <a:avLst>
              <a:gd name="adj" fmla="val 15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0" y="292608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CA8A04"/>
                </a:solidFill>
                <a:latin typeface="Segoe UI"/>
              </a:rPr>
              <a:t>22.3%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人間の自律性の喪失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84048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840480"/>
            <a:ext cx="4577225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384048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21.9%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Noto Sans JP"/>
              </a:rPr>
              <a:t>11%は「懸念なし」と回答。中・低所得国に多い（アフリカ18%）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A8A29E"/>
                </a:solidFill>
                <a:latin typeface="Noto Sans JP"/>
              </a:rPr>
              <a:t>先進国：「今あるものを奪う脅威」 ↔ 途上国：「今までなかったものを与える希望」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C1917"/>
                </a:solidFill>
                <a:latin typeface="Noto Sans JP"/>
              </a:rPr>
              <a:t>日本への示唆 ── 東アジアのデータから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東アジア（日本含む）の特徴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個人的変容への期待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01168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5559552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201168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19%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経済的独立への期待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4389120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0" y="274320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認知萎縮への懸念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47472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474720"/>
            <a:ext cx="5266944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347472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DC2626"/>
                </a:solidFill>
                <a:latin typeface="Segoe UI"/>
              </a:rPr>
              <a:t>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20"/>
            <a:ext cx="22860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400">
                <a:solidFill>
                  <a:srgbClr val="57534E"/>
                </a:solidFill>
                <a:latin typeface="Noto Sans JP"/>
              </a:rPr>
              <a:t>創造性喪失への懸念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206240"/>
            <a:ext cx="7315200" cy="411480"/>
          </a:xfrm>
          <a:prstGeom prst="roundRect">
            <a:avLst>
              <a:gd name="adj" fmla="val 15000"/>
            </a:avLst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4206240"/>
            <a:ext cx="3803904" cy="411480"/>
          </a:xfrm>
          <a:prstGeom prst="roundRect">
            <a:avLst>
              <a:gd name="adj" fmla="val 15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0" y="4206240"/>
            <a:ext cx="9144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CA8A04"/>
                </a:solidFill>
                <a:latin typeface="Segoe UI"/>
              </a:rPr>
              <a:t>13%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B8942F"/>
                </a:solidFill>
                <a:latin typeface="Noto Sans JP"/>
              </a:rPr>
              <a:t>AIに自己変革を最も期待し、自分が弱くなることを最も恐れている地域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10728655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1C1917"/>
                </a:solidFill>
                <a:latin typeface="Noto Sans JP"/>
              </a:rPr>
              <a:t>81,000人の声から、3つの提言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64592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Noto Sans JP"/>
              </a:rPr>
              <a:t>目標を「効率化」から「自由の創出」に変える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011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Noto Sans JP"/>
              </a:rPr>
              <a:t>処理速度ではなく、人が本来やるべき仕事に集中できているかを測る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9260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Noto Sans JP"/>
              </a:rPr>
              <a:t>自律性を渡す ── 承認を減らし、裁量を増やす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29184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Noto Sans JP"/>
              </a:rPr>
              <a:t>47% vs 14%のデータが全て。使い方を現場に委ねる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20624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Noto Sans JP"/>
              </a:rPr>
              <a:t>AIの使い方を「設計する」── とりあえず使えはダメ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57200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Noto Sans JP"/>
              </a:rPr>
              <a:t>何をAIに任せ、何を自分の力として残すか。意識的に設計する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C1917"/>
                </a:solidFill>
                <a:latin typeface="Noto Sans JP"/>
              </a:rPr>
              <a:t>AIは道具であり、同時に鏡である。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57534E"/>
                </a:solidFill>
                <a:latin typeface="Noto Sans JP"/>
              </a:rPr>
              <a:t>自分が何を求め、何を恐れているか。</a:t>
            </a:r>
            <a:br/>
            <a:r>
              <a:t>それが映し出される。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B8942F"/>
                </a:solidFill>
                <a:latin typeface="Noto Sans JP"/>
              </a:rPr>
              <a:t>だからこそ、AIの前に</a:t>
            </a:r>
            <a:br/>
            <a:r>
              <a:t>自分が本当に欲しいものを明確にすること。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6400800"/>
            <a:ext cx="5943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A8A29E"/>
                </a:solidFill>
                <a:latin typeface="Noto Sans JP"/>
              </a:rPr>
              <a:t>出典: Anthropic "What 81,000 people want from AI" (2026)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B8942F"/>
                </a:solidFill>
                <a:latin typeface="Noto Sans JP"/>
              </a:rPr>
              <a:t>HARMONIC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3152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57534E"/>
                </a:solidFill>
                <a:latin typeface="Noto Sans JP"/>
              </a:rPr>
              <a:t>AI時代のビジネス戦略を発信しています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728655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4206240"/>
            <a:ext cx="640080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57534E"/>
                </a:solidFill>
                <a:latin typeface="Noto Sans JP"/>
              </a:rPr>
              <a:t>調査全文: anthropic.com/81k-interviews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57534E"/>
                </a:solidFill>
                <a:latin typeface="Noto Sans JP"/>
              </a:rPr>
              <a:t>YouTube: チャンネル登録お願いします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57534E"/>
                </a:solidFill>
                <a:latin typeface="Noto Sans JP"/>
              </a:rPr>
              <a:t>note: note.com/harmonic_insight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