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eiryo"/>
              </a:defRPr>
            </a:pPr>
            <a:r>
              <a:t>VID-056 / HARMONIC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eiryo"/>
              </a:defRPr>
            </a:pPr>
            <a:r>
              <a:t>AIで数字が出る ＝ 正しい、ではない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96D6"/>
                </a:solidFill>
                <a:latin typeface="Meiryo"/>
              </a:defRPr>
            </a:pPr>
            <a:r>
              <a:t>AI会計自動化の落とし穴</a:t>
            </a:r>
            <a:br/>
            <a:r>
              <a:t>── 監査を通すために、先にやるべきこと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eiryo"/>
              </a:defRPr>
            </a:pPr>
            <a:r>
              <a:t>HARMONIC insight / 瀬田裕之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Meiryo"/>
              </a:defRPr>
            </a:pPr>
            <a:r>
              <a:t>何が起きているのか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FFFFFF"/>
                </a:solidFill>
                <a:latin typeface="Meiryo"/>
              </a:defRPr>
            </a:pPr>
            <a:r>
              <a:t>Gemini × Googleスプレッドシートで、自然言語から数式を自動生成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CCCCCC"/>
                </a:solidFill>
                <a:latin typeface="Meiryo"/>
              </a:defRPr>
            </a:pPr>
            <a:r>
              <a:t>「A列とB列から合計を出して」→ AIが =A1+B1 を自動入力</a:t>
            </a:r>
          </a:p>
          <a:p>
            <a:pPr>
              <a:spcAft>
                <a:spcPts val="800"/>
              </a:spcAft>
              <a:defRPr sz="2200" b="0">
                <a:solidFill>
                  <a:srgbClr val="CCCCCC"/>
                </a:solidFill>
                <a:latin typeface="Meiryo"/>
              </a:defRPr>
            </a:pPr>
            <a:r>
              <a:t>「関数知識が不要になる」「生産性格差が縮小する」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114800"/>
            <a:ext cx="9144000" cy="1828800"/>
          </a:xfrm>
          <a:prstGeom prst="roundRect">
            <a:avLst/>
          </a:prstGeom>
          <a:solidFill>
            <a:srgbClr val="33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297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Meiryo"/>
              </a:defRPr>
            </a:pPr>
            <a:r>
              <a:t>でも、会計の世界では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4D4D"/>
                </a:solidFill>
                <a:latin typeface="Meiryo"/>
              </a:defRPr>
            </a:pPr>
            <a:r>
              <a:t>「数字が出る」と「数字が正しい」はまったく別の話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Meiryo"/>
              </a:defRPr>
            </a:pPr>
            <a:r>
              <a:t>監査で問われる5つの要件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286000" cy="7315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算出根拠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463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Meiryo"/>
              </a:defRPr>
            </a:pPr>
            <a:r>
              <a:t>なぜその計算式なのか。どの基準に基づくのか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286000" cy="7315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計算手順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468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Meiryo"/>
              </a:defRPr>
            </a:pPr>
            <a:r>
              <a:t>どのデータを、どの順番で、どう処理したか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2286000" cy="7315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承認フロー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474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Meiryo"/>
              </a:defRPr>
            </a:pPr>
            <a:r>
              <a:t>誰が確認し、誰が承認したか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2286000" cy="7315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変更履歴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480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Meiryo"/>
              </a:defRPr>
            </a:pPr>
            <a:r>
              <a:t>いつ、誰が、何を変更したか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2286000" cy="7315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監査証跡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486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Meiryo"/>
              </a:defRPr>
            </a:pPr>
            <a:r>
              <a:t>上記すべてが追跡可能であること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4D4D"/>
                </a:solidFill>
                <a:latin typeface="Meiryo"/>
              </a:defRPr>
            </a:pPr>
            <a:r>
              <a:t>AIが数式を自動生成すると、これらの要件が満たされない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Meiryo"/>
              </a:defRPr>
            </a:pPr>
            <a:r>
              <a:t>危険な等式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3200400" cy="82296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Meiryo"/>
              </a:defRPr>
            </a:pPr>
            <a:r>
              <a:t>数字が出る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4D4D"/>
                </a:solidFill>
                <a:latin typeface="Meiryo"/>
              </a:defRPr>
            </a:pPr>
            <a:r>
              <a:t>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4114800" cy="82296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Meiryo"/>
              </a:defRPr>
            </a:pPr>
            <a:r>
              <a:t>数字が正しい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3200400" cy="82296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Meiryo"/>
              </a:defRPr>
            </a:pPr>
            <a:r>
              <a:t>計算できる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2004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4D4D"/>
                </a:solidFill>
                <a:latin typeface="Meiryo"/>
              </a:defRPr>
            </a:pPr>
            <a:r>
              <a:t>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4114800" cy="82296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Meiryo"/>
              </a:defRPr>
            </a:pPr>
            <a:r>
              <a:t>根拠がある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572000"/>
            <a:ext cx="3200400" cy="82296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Meiryo"/>
              </a:defRPr>
            </a:pPr>
            <a:r>
              <a:t>自動化された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5720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4D4D"/>
                </a:solidFill>
                <a:latin typeface="Meiryo"/>
              </a:defRPr>
            </a:pPr>
            <a:r>
              <a:t>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572000"/>
            <a:ext cx="4114800" cy="822960"/>
          </a:xfrm>
          <a:prstGeom prst="round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Meiryo"/>
              </a:defRPr>
            </a:pPr>
            <a:r>
              <a:t>統制されている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93D"/>
                </a:solidFill>
                <a:latin typeface="Meiryo"/>
              </a:defRPr>
            </a:pPr>
            <a:r>
              <a:t>AIは計算を速くする道具であって、算出根拠を作る道具ではない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Meiryo"/>
              </a:defRPr>
            </a:pPr>
            <a:r>
              <a:t>建設業で特にリスクが高い3つの理由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731520" cy="73152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"/>
              </a:defRPr>
            </a:pPr>
            <a:r>
              <a:t>工事進行基準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eiryo"/>
              </a:defRPr>
            </a:pPr>
            <a:r>
              <a:t>見積総原価の妥当性は人間が判断する必要がある</a:t>
            </a:r>
            <a:br/>
            <a:r>
              <a:t>当期売上 = 契約金額 x 工事進捗度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731520" cy="73152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"/>
              </a:defRPr>
            </a:pPr>
            <a:r>
              <a:t>工事別原価管理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eiryo"/>
              </a:defRPr>
            </a:pPr>
            <a:r>
              <a:t>配賦基準を定義しないまま「原価を計算して」では</a:t>
            </a:r>
            <a:br/>
            <a:r>
              <a:t>正しい数字は出ない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731520" cy="73152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663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"/>
              </a:defRPr>
            </a:pPr>
            <a:r>
              <a:t>完成工事原価報告書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303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eiryo"/>
              </a:defRPr>
            </a:pPr>
            <a:r>
              <a:t>合計だけでなく内訳の積み上げ根拠が必要</a:t>
            </a:r>
            <a:br/>
            <a:r>
              <a:t>税務申告に耐える精度が求められる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96D6"/>
                </a:solidFill>
                <a:latin typeface="Meiryo"/>
              </a:defRPr>
            </a:pPr>
            <a:r>
              <a:t>順序を間違えると、コストが何倍にもなる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4D4D"/>
                </a:solidFill>
                <a:latin typeface="Meiryo"/>
              </a:defRPr>
            </a:pPr>
            <a:r>
              <a:t>やってはいけない順序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645920" cy="640080"/>
          </a:xfrm>
          <a:prstGeom prst="roundRect">
            <a:avLst/>
          </a:prstGeom>
          <a:solidFill>
            <a:srgbClr val="55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AIツール導入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828800"/>
            <a:ext cx="27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828800"/>
            <a:ext cx="1645920" cy="640080"/>
          </a:xfrm>
          <a:prstGeom prst="roundRect">
            <a:avLst/>
          </a:prstGeom>
          <a:solidFill>
            <a:srgbClr val="55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数字が出る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828800"/>
            <a:ext cx="27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1645920" cy="640080"/>
          </a:xfrm>
          <a:prstGeom prst="roundRect">
            <a:avLst/>
          </a:prstGeom>
          <a:solidFill>
            <a:srgbClr val="55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「便利だ」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828800"/>
            <a:ext cx="27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1645920" cy="6400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監査で指摘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828800"/>
            <a:ext cx="27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1645920" cy="6400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根拠の後付け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828800"/>
            <a:ext cx="27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1828800"/>
            <a:ext cx="1645920" cy="6400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大幅な手戻り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Meiryo"/>
              </a:defRPr>
            </a:pPr>
            <a:r>
              <a:t>正しい順序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2468880" cy="109728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Step 1</a:t>
            </a:r>
            <a:br/>
            <a:r>
              <a:t>算出基準の定義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11480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3840480"/>
            <a:ext cx="2468880" cy="109728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Step 2</a:t>
            </a:r>
            <a:br/>
            <a:r>
              <a:t>計算手順の文書化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11480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80"/>
            <a:ext cx="2468880" cy="109728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Step 3</a:t>
            </a:r>
            <a:br/>
            <a:r>
              <a:t>承認フロー・</a:t>
            </a:r>
            <a:br/>
            <a:r>
              <a:t>監査証跡の設計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11480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840480"/>
            <a:ext cx="2468880" cy="10972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Step 4</a:t>
            </a:r>
            <a:br/>
            <a:r>
              <a:t>AI自動化を適用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93D"/>
                </a:solidFill>
                <a:latin typeface="Meiryo"/>
              </a:defRPr>
            </a:pPr>
            <a:r>
              <a:t>Step 1〜3を飛ばしてAIを入れると、後からの整備コストが導入コストの何倍にもなる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Meiryo"/>
              </a:defRPr>
            </a:pPr>
            <a:r>
              <a:t>具体的に何をすべきか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383280" cy="7315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算出基準書の作成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eiryo"/>
              </a:defRPr>
            </a:pPr>
            <a:r>
              <a:t>  計算式の明文化（例：粗利 = 契約金額 - 実行予算原価合計）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eiryo"/>
              </a:defRPr>
            </a:pPr>
            <a:r>
              <a:t>  準拠基準の記載（会計基準・社内規程）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eiryo"/>
              </a:defRPr>
            </a:pPr>
            <a:r>
              <a:t>  入力データの定義・例外処理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7315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計算手順書の整備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2194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eiryo"/>
              </a:defRPr>
            </a:pPr>
            <a:r>
              <a:t>  データ取得元と取得方法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8346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eiryo"/>
              </a:defRPr>
            </a:pPr>
            <a:r>
              <a:t>  検証方法（ダブルチェック・クロスチェック）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eiryo"/>
              </a:defRPr>
            </a:pPr>
            <a:r>
              <a:t>  承認者と承認基準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7315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AI活用ルールの策定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eiryo"/>
              </a:defRPr>
            </a:pPr>
            <a:r>
              <a:t>  AI生成の数式は必ず人間が検証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834639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eiryo"/>
              </a:defRPr>
            </a:pPr>
            <a:r>
              <a:t>  AI計算結果は「下書き」→ 承認後「確定」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eiryo"/>
              </a:defRPr>
            </a:pPr>
            <a:r>
              <a:t>  使用した計算ロジックをログに記録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Meiryo"/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FFFFFF"/>
                </a:solidFill>
                <a:latin typeface="Meiryo"/>
              </a:defRPr>
            </a:pPr>
            <a:r>
              <a:t>AI会計自動化は「便利」だが、それだけでは監査に耐えられない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CCCCCC"/>
                </a:solidFill>
                <a:latin typeface="Meiryo"/>
              </a:defRPr>
            </a:pPr>
            <a:r>
              <a:t>算出根拠・計算手順・承認フロー・変更履歴 ── すべてが揃って初めて、数字に意味が出る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4EC9B0"/>
                </a:solidFill>
                <a:latin typeface="Meiryo"/>
              </a:defRPr>
            </a:pPr>
            <a:r>
              <a:t>正しい順序：基準定義 → 手順文書化 → 監査証跡設計 → AI自動化</a:t>
            </a:r>
          </a:p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Meiryo"/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FFD93D"/>
                </a:solidFill>
                <a:latin typeface="Meiryo"/>
              </a:defRPr>
            </a:pPr>
            <a:r>
              <a:t>この順序を守れる会社だけが、AI自動化の恩恵を本当に受けられる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5029200"/>
            <a:ext cx="8229600" cy="1097280"/>
          </a:xfrm>
          <a:prstGeom prst="round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96D6"/>
                </a:solidFill>
                <a:latin typeface="Meiryo"/>
              </a:defRPr>
            </a:pPr>
            <a:r>
              <a:t>HARMONIC insight ── 管理会計整備からAI活用ルール策定まで一貫支援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eiryo"/>
              </a:defRPr>
            </a:pPr>
            <a:r>
              <a:t>チャンネル登録 &amp; 高評価お願いします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