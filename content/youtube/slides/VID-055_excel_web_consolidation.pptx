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建設業に必要なのはAIではない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8CAE4"/>
                </a:solidFill>
                <a:latin typeface="Meiryo"/>
              </a:defRPr>
            </a:pPr>
            <a:r>
              <a:t>まず点在するExcelをWebに統合せよ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― 建設業DXの現実シリーズ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AIが使えないのは、AIの問題ではない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Meiryo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データ入力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2057400"/>
            <a:ext cx="731520" cy="45720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16459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Meiryo"/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AI処理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98080" y="2057400"/>
            <a:ext cx="731520" cy="45720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eiryo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出力・結果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Meiryo"/>
              </a:defRPr>
            </a:pPr>
            <a:r>
              <a:t>Inputの現状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  <a:latin typeface="Meiryo"/>
              </a:defRPr>
            </a:pPr>
            <a:r>
              <a:t>✕  データがバラバラ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  <a:latin typeface="Meiryo"/>
              </a:defRPr>
            </a:pPr>
            <a:r>
              <a:t>✕  フォーマットが統一されていない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  <a:latin typeface="Meiryo"/>
              </a:defRPr>
            </a:pPr>
            <a:r>
              <a:t>✕  最新版がどれかわからない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  <a:latin typeface="Meiryo"/>
              </a:defRPr>
            </a:pPr>
            <a:r>
              <a:t>✕  手入力の転記で整合性がない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474720"/>
            <a:ext cx="5029200" cy="2560320"/>
          </a:xfrm>
          <a:prstGeom prst="roundRect">
            <a:avLst>
              <a:gd name="adj" fmla="val 4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eiryo"/>
              </a:defRPr>
            </a:pPr>
            <a:r>
              <a:t>本質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Meiryo"/>
              </a:defRPr>
            </a:pPr>
            <a:r>
              <a:t>「AIが使えない」のではない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Meiryo"/>
              </a:defRPr>
            </a:pPr>
            <a:r>
              <a:t>「AIに渡せる状態の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Meiryo"/>
              </a:defRPr>
            </a:pPr>
            <a:r>
              <a:t>  データがない」のだ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業務は「一定の手順」で動いている。しかし……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eiryo"/>
              </a:defRPr>
            </a:pPr>
            <a:r>
              <a:t>基本の流れ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見積作成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12848" y="1965960"/>
            <a:ext cx="32004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承認取得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41648" y="1965960"/>
            <a:ext cx="32004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契約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0448" y="1965960"/>
            <a:ext cx="32004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着工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99248" y="1965960"/>
            <a:ext cx="32004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検収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28048" y="1965960"/>
            <a:ext cx="32004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0" y="1828800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0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eiryo"/>
              </a:defRPr>
            </a:pPr>
            <a:r>
              <a:t>請求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しかし現実は……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747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538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Aさんの見積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4747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538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Bさんの見積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LINE連絡の現場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1605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224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メール連絡の現場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463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910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部署Aの工程表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8463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4910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部署Bの工程表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5321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596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営業の数字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77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5532120"/>
            <a:ext cx="3200400" cy="502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5596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経理の数字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6035040"/>
            <a:ext cx="10332720" cy="54864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6080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Meiryo"/>
              </a:defRPr>
            </a:pPr>
            <a:r>
              <a:t>手順が整理されていない状態でツールだけ入れても定着しない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建設業の現実：Excelがあちこちに散らばっている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Meiryo"/>
              </a:defRPr>
            </a:pPr>
            <a:r>
              <a:t>見積管理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見積一覧.xlsx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営業部の共有フォルダ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38328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eiryo"/>
              </a:defRPr>
            </a:pPr>
            <a:r>
              <a:t>工程管理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工程表.xlsx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79" y="274320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19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現場所長のPC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38328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eiryo"/>
              </a:defRPr>
            </a:pPr>
            <a:r>
              <a:t>原価管理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原価集計.xlsx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74320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889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経理のファイルサーバー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338328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Meiryo"/>
              </a:defRPr>
            </a:pPr>
            <a:r>
              <a:t>日報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日報_3月.xlsx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21208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各作業員のスマホ/紙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93192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3931920"/>
            <a:ext cx="3383280" cy="762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Meiryo"/>
              </a:defRPr>
            </a:pPr>
            <a:r>
              <a:t>協力会社管理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外注先一覧.xlsx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79" y="521208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19" y="5257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調達担当の個人フォルダ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931920"/>
            <a:ext cx="3383280" cy="2103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0" y="3931920"/>
            <a:ext cx="3383280" cy="76200"/>
          </a:xfrm>
          <a:prstGeom prst="roundRect">
            <a:avLst>
              <a:gd name="adj" fmla="val 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発注管理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発注書.xlsx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5212080"/>
            <a:ext cx="2834640" cy="5029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5257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メール添付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5669280"/>
            <a:ext cx="9418320" cy="548640"/>
          </a:xfrm>
          <a:prstGeom prst="roundRect">
            <a:avLst>
              <a:gd name="adj" fmla="val 3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5715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eiryo"/>
              </a:defRPr>
            </a:pPr>
            <a:r>
              <a:t>この状態でAIを入れて、何ができるでしょうか？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最初の一歩：Excel統合の5ステップ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業務を1つ選ぶ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最も痛みが大きい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業務から着手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（例：原価管理）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3291840"/>
            <a:ext cx="164592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79" y="164592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8999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59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Excelを洗い出す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59" y="33832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その業務で使われて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いるExcelを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全て列挙する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6319" y="3291840"/>
            <a:ext cx="164592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64592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項目を整理する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832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項目・入力者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更新頻度・利用者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を可視化する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78040" y="3291840"/>
            <a:ext cx="164592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19" y="164592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2439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39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重複を特定する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33832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重複項目・手入力の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転記箇所を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見つけ出す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509759" y="3291840"/>
            <a:ext cx="164592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1645920"/>
            <a:ext cx="2103120" cy="38404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24160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Webに集約する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3832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1つのWebフォーム</a:t>
            </a:r>
          </a:p>
          <a:p>
            <a:pPr>
              <a:spcAft>
                <a:spcPts val="650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/画面に統合する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76072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852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Meiryo"/>
              </a:defRPr>
            </a:pPr>
            <a:r>
              <a:t>統合されたデータがあれば、集計も分析もAI活用も、初めて現実的になる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eiryo"/>
              </a:defRPr>
            </a:pPr>
            <a:r>
              <a:t>見るべき指標は決まっている。なのに共有されていない。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1031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10312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完成工事粗利率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案件ごとに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利益が出ているか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463040"/>
            <a:ext cx="21031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79" y="1463040"/>
            <a:ext cx="210312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C7"/>
                </a:solidFill>
                <a:latin typeface="Meiryo"/>
              </a:defRPr>
            </a:pPr>
            <a:r>
              <a:t>外注費比率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自社施工と外注の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バランスは適正か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463040"/>
            <a:ext cx="21031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463040"/>
            <a:ext cx="210312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eiryo"/>
              </a:defRPr>
            </a:pPr>
            <a:r>
              <a:t>進捗率 vs 原価消化率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コスト超過の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兆候はないか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19" y="1463040"/>
            <a:ext cx="21031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919" y="1463040"/>
            <a:ext cx="2103120" cy="762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Meiryo"/>
              </a:defRPr>
            </a:pPr>
            <a:r>
              <a:t>変更契約の回収率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追加工事の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請求漏れはないか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463040"/>
            <a:ext cx="21031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0" y="1463040"/>
            <a:ext cx="210312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eiryo"/>
              </a:defRPr>
            </a:pPr>
            <a:r>
              <a:t>未成工事受入金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資金繰りは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大丈夫か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eiryo"/>
              </a:defRPr>
            </a:pPr>
            <a:r>
              <a:t>現状の問題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9E0B"/>
                </a:solidFill>
                <a:latin typeface="Meiryo"/>
              </a:defRPr>
            </a:pPr>
            <a:r>
              <a:t>「あの部長が見ている」</a:t>
            </a:r>
          </a:p>
          <a:p>
            <a:pPr>
              <a:spcAft>
                <a:spcPts val="900"/>
              </a:spcAft>
              <a:defRPr sz="1500">
                <a:solidFill>
                  <a:srgbClr val="F59E0B"/>
                </a:solidFill>
                <a:latin typeface="Meiryo"/>
              </a:defRPr>
            </a:pPr>
            <a:r>
              <a:t>「経理のCさんしかわからない」</a:t>
            </a:r>
          </a:p>
          <a:p>
            <a:pPr>
              <a:spcAft>
                <a:spcPts val="900"/>
              </a:spcAft>
              <a:defRPr sz="1500">
                <a:solidFill>
                  <a:srgbClr val="F59E0B"/>
                </a:solidFill>
                <a:latin typeface="Meiryo"/>
              </a:defRPr>
            </a:pPr>
            <a:r>
              <a:t>→ 属人的な管理。ノウハウが共有されない。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Meiryo"/>
              </a:defRPr>
            </a:pPr>
            <a:r>
              <a:t>コンサルタントの問題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「お客様が見たいもの」を見せるだけ</a:t>
            </a:r>
          </a:p>
          <a:p>
            <a:pPr>
              <a:spcAft>
                <a:spcPts val="900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見るべき指標を定義できていない</a:t>
            </a:r>
          </a:p>
          <a:p>
            <a:pPr>
              <a:spcAft>
                <a:spcPts val="900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→ 御用聞きはコンサルティングではない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正しい順序で進める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9966960" cy="13716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05740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201168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Meiryo"/>
              </a:defRPr>
            </a:pPr>
            <a:r>
              <a:t>業務整理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手順を可視化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標準化する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92608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926080"/>
            <a:ext cx="2011680" cy="76200"/>
          </a:xfrm>
          <a:prstGeom prst="roundRect">
            <a:avLst>
              <a:gd name="adj" fmla="val 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8CAE4"/>
                </a:solidFill>
                <a:latin typeface="Meiryo"/>
              </a:defRPr>
            </a:pPr>
            <a:r>
              <a:t>情報統合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Excel→Webに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集約する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0" y="20574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92608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2926080"/>
            <a:ext cx="201168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eiryo"/>
              </a:defRPr>
            </a:pPr>
            <a:r>
              <a:t>指標定義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見るべき数字を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決める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2057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92608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2926080"/>
            <a:ext cx="201168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ツール選定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業務に合うツール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を選ぶ</a:t>
            </a:r>
          </a:p>
        </p:txBody>
      </p:sp>
      <p:sp>
        <p:nvSpPr>
          <p:cNvPr id="29" name="Oval 28"/>
          <p:cNvSpPr/>
          <p:nvPr/>
        </p:nvSpPr>
        <p:spPr>
          <a:xfrm>
            <a:off x="10332720" y="20574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1031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2926080"/>
            <a:ext cx="201168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2926080"/>
            <a:ext cx="201168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AI活用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749039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統合データで</a:t>
            </a:r>
          </a:p>
          <a:p>
            <a:pPr>
              <a:spcAft>
                <a:spcPts val="519"/>
              </a:spcAft>
              <a:defRPr sz="1300">
                <a:solidFill>
                  <a:srgbClr val="F0F4F8"/>
                </a:solidFill>
                <a:latin typeface="Meiryo"/>
              </a:defRPr>
            </a:pPr>
            <a:r>
              <a:t>AIを活用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48640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3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eiryo"/>
              </a:defRPr>
            </a:pPr>
            <a:r>
              <a:t>⚠ 多くの会社が犯す間違い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943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eiryo"/>
              </a:defRPr>
            </a:pPr>
            <a:r>
              <a:t>①②③を飛ばして④⑤から始める → AIは万能ではない。整理されたデータの上でだけ力を発揮する。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まとめ：まずExcelを集めることから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Meiryo"/>
              </a:defRPr>
            </a:pPr>
            <a:r>
              <a:t>AIの前にデータ統合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AIに渡せる状態の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データを作ることが先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1031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38328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eiryo"/>
              </a:defRPr>
            </a:pPr>
            <a:r>
              <a:t>Excel統合5ステップ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痛みが大きい業務から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1つずつ集約していく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383280" cy="635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eiryo"/>
              </a:defRPr>
            </a:pPr>
            <a:r>
              <a:t>見るべき指標を定義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属人管理から脱却し</a:t>
            </a:r>
          </a:p>
          <a:p>
            <a:pPr>
              <a:spcAft>
                <a:spcPts val="599"/>
              </a:spcAft>
              <a:defRPr sz="1500">
                <a:solidFill>
                  <a:srgbClr val="F0F4F8"/>
                </a:solidFill>
                <a:latin typeface="Meiryo"/>
              </a:defRPr>
            </a:pPr>
            <a:r>
              <a:t>標準指標を全社共有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389120"/>
            <a:ext cx="75895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44805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8CAE4"/>
                </a:solidFill>
                <a:latin typeface="Meiryo"/>
              </a:defRPr>
            </a:pPr>
            <a:r>
              <a:t>地味な一歩。しかしこの一歩なしにDXは進まない。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9496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Meiryo"/>
              </a:defRPr>
            </a:pPr>
            <a:r>
              <a:t>HARMONIC insight ── 建設業のExcel統合からDX実現まで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852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▸ 自分で始めたい方 → note記事「建設業に必要なのはAIではない」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6172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▸ 体系的に学びたい方 → SIPOフレームワーク実践ワークショップ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6492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▸ 支援が必要な方 → お問い合わせ（概要欄リンク）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