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0159" autoAdjust="0"/>
  </p:normalViewPr>
  <p:slideViewPr>
    <p:cSldViewPr snapToGrid="0" snapToObjects="1">
      <p:cViewPr varScale="1">
        <p:scale>
          <a:sx n="96" d="100"/>
          <a:sy n="96" d="100"/>
        </p:scale>
        <p:origin x="50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962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皆さん、こんにちは。本日は「AI時代の承認プロセス」というテーマでお話しさせていただきます。
現在、多くの企業でDXが進む中、承認プロセスの効率化は経営課題の一つとなっています。しかし、単にデジタル化するだけでは根本的な課題は解決しません。AIを活用することで、スピード・正確性・透明性を兼ね備えた承認ワークフローを実現できます。
本日は経費精算の事例を入り口に、どのような業務にも応用可能な「AI承認の一般フレームワーク」をご紹介します。最後までお付き合いいただければ幸いです。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まず、従来の承認プロセスが抱える4つの代表的な課題を整理します。
1つ目は「遅延」です。承認者が出張中だったり、多忙で後回しにされたりすることで、プロセス全体が停滞します。特に複数階層の承認が必要な場合、一人のボトルネックが全体に波及します。
2つ目は「属人化」です。同じ案件でも承認者によって判断基準が異なり、ある人はOKでも別の人はNGということが起きます。これは組織として品質が担保されていないことを意味します。
3つ目は「形骸化」です。月末など申請が集中する時期には、承認者が内容を十分確認せず、ほぼ機械的に承認ボタンを押してしまうケースがあります。これでは承認プロセスの存在意義が薄れます。
4つ目は「不透明性」です。なぜその申請が承認・却下されたのか理由が記録されず、後から追跡できないことが多いです。内部監査やコンプライアンスの観点からも大きなリスクとなります。
これらは特定の業種や企業規模に限った話ではなく、承認プロセスが存在するあらゆる場面で共通して見られる構造的な問題です。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ここでは、AI承認の基本的なアーキテクチャを説明します。
まず従業員が申請を提出します。次にAIが自動的にルールベースおよび機械学習ベースのチェックを実施します。そしてその結果をもとに、3つの経路に振り分けられます。
1つ目は「OK → 自動承認」です。すべてのチェックをパスした定型的な申請は、人間を介さず即時に承認されます。承認の記録と根拠は自動的に保存されます。
2つ目は「要確認 → 人間レビュー」です。高額案件や例外的なケースなど、AIだけでは判断が難しい案件は、担当者にエスカレーションされます。この際、AIが事前チェックした結果と判断の根拠が添えられるため、レビューの効率も上がります。
3つ目は「NG → 差し戻し」です。添付書類の不備や規定違反が明確な場合は、具体的な理由を明示した上で申請者に返却します。申請者は指摘内容を確認して修正・再申請できます。この差し戻しフローがあることで、不備のある申請が承認者まで届くことを防ぎ、承認者の負担をさらに軽減します。
このアーキテクチャの核心は「Human-in-the-Loop」という考え方です。AIと人間の最適な役割分担を設計するというアプローチで、完全自動化を目指すのではなく、それぞれの強みを活かす設計がポイントです。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このスライドでは、AIが承認プロセスで担う5つのチェック機能を、特定業務に限定せず一般化して整理しています。
1つ目は「ルール準拠チェック」です。社内規定やポリシー、法令に対して申請内容が適合しているかを自動的に照合します。人間が一件ずつマニュアルを参照する必要がなくなります。
2つ目は「書類・データ完全性」のチェックです。必要な添付書類が揃っているか、必須項目に記入漏れがないかをAIが即座に検出します。
3つ目は「整合性・妥当性検証」です。例えば、申請された金額と添付書類の金額が一致しているか、日付に矛盾がないかなど、論理的な整合性を確認します。
4つ目は「コンプライアンス確認」です。インボイス番号の形式チェックや税務要件への準拠など、外部の法的基準に対するチェックを自動化します。
5つ目は「異常検知・リスク評価」です。過去のデータとの統計的な比較により、異常な金額パターンや重複申請などの不正の兆候を早期に検出します。
これら5つの機能は、経費精算だけでなく、稟議、契約審査、人事申請など、あらゆる承認プロセスに共通して適用可能です。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AI承認を導入する際には、3つの重要な原則を押さえておく必要があります。
第1の原則は「透明性」です。AIがなぜその判断を下したのか、理由を必ず可視化することが重要です。具体的には、NGと判定された場合にその理由をコメントとして表示すること、どのルールに基づいて判断したかを明示すること、そしてすべての判断の記録を監査証跡として自動保存することです。これにより、従業員の納得感が高まり、監査対応もスムーズになります。
第2の原則は「段階性」です。いきなり全ての承認プロセスをAI化するのではなく、まずは判断基準が明確な定型的な承認から始めます。成功実績を積み重ねながら対象領域を拡大し、人間の監視レベルも状況に応じて徐々に調整していきます。スモールスタートがリスクを最小化します。
第3の原則は「協働性」です。AIと人間の役割を明確に分担することが大切です。AIは定型的なチェックと一次判断を担い、人間は例外対応や最終的な意思決定に集中します。また、全従業員がAIの処理内容を理解できるよう、教育・周知も欠かせません。
この3つの原則を守ることで、組織全体がAI承認を安心して受け入れることができます。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ここは非常に重要なスライドです。AI承認を設計する際の「やっていいこと」と「やってはいけないこと」の境界線を明確にします。
まず大前提として認識すべきことがあります。AIは元来「信頼できないもの」です。生成AIはハルシネーション、つまりもっともらしい嘘をつくことがあります。存在しないデータを作り出したり、実際とは異なる数値を生成したりします。これはAIの構造的な特性であり、現時点では完全には解消できません。
この前提を踏まえると、AIに任せてよい領域と任せてはいけない領域が明確に分かれます。
左側の「任せてよい領域」を見てください。定型ルールのプログラム化は、AIの得意分野です。「出張日当は日額いくら」「一定金額以上は部長承認」といった明文化されたルールを自動適用することは、AIではなくルールエンジンとして実装すれば正確に動作します。チェック・検証・照合も同様で、添付書類の有無確認や金額の一致確認は、AIが高い精度で処理できます。異常値の検出も、過去データとの統計的な比較でフラグを立てる分には有効です。
一方、右側の「任せてはいけない領域」は極めて重要です。まず「データの生成・作成」。AIに帳票データやレポートを作らせると、存在しないデータをもっともらしく作り出すリスクがあります。これはRPAでも同じ問題が起きています。RPAが画面遷移のタイミングずれで別のデータを取得し、そのまま登録してしまうケースがあるように、自動化ツールにアウトプットの生成を任せることには本質的なリスクがあります。
次に「最終的なアウトプットの確定」。システムへの登録や帳票の確定など、取り消しが困難な行為をAIに委ねてはいけません。チェックまではAIに任せても、「登録ボタンを押す」のは必ず人間がやるべきです。
そして「承認そのものの最終判断」。特に例外的な案件や金額の大きい案件では、人間の判断が不可欠です。
要するに、AIは「チェックする側」に置くのが正解で、「作る側」「登録する側」に置いてはいけません。この一線を守ることが、AI承認を安全に運用するための鍵です。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AI承認の枠組みは、経費精算に限った話ではありません。このスライドでは、同じフレームワークを応用できる6つの領域を示しています。
経費精算は既に導入が進んでいる領域で、領収書のOCR読み取りと社内規定との照合による自動承認が実現しています。
ここから拡張可能な領域として、まず「稟議・決裁」があります。申請金額や権限マトリクスに応じて承認ルートを自動判定し、適切な承認者に自動ルーティングします。
「契約審査」では、契約書の条項をAIが分析し、リスクの高い条項を検出して法務部門にエスカレーションする仕組みが考えられます。
「人事申請」では、有給休暇の残日数確認や勤怠規定への適合性チェックを自動化できます。
「調達・発注」では、予算の残額確認や取引先の評価スコアに基づく自動検証が可能です。
「コード/リリース」はIT部門向けですが、テスト結果やコード品質基準に基づくリリース承認の自動ゲーティングに活用できます。
このように、承認プロセスが存在するあらゆる業務に同じ設計思想を展開することが可能です。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導入は3つのフェーズで段階的に進めることをお勧めしています。
Phase 1は「アセスメント」で、期間は約1〜2ヶ月です。この段階では、まず現行の承認フローを可視化・文書化します。どの承認プロセスが自動化に適しているかを選定し、関連するルールや規定を整理します。ここでの丁寧な準備が、後のフェーズの成功を左右します。
Phase 2は「PoC・パイロット」で、約2〜3ヶ月を想定しています。小規模な部門や特定の承認タイプを対象に、実際にAI承認を試行します。ここで特に重要なのは、現場からのフィードバックを運用ルールに反映するサイクルを回すことです。「AIが却下した案件を人間がどう判断したか」というデータが、AIの精度向上にも直結します。単にシステムを入れて終わりではなく、現場と一緒に育てていくプロセスです。
Phase 3は「本番展開・定着」で、約2〜3ヶ月です。パイロットの成功をもとに全社に展開し、従業員への教育を行います。ここでのポイントは「定着化支援」です。新しいプロセスに対する現場の抵抗感や不安に対して、丁寧にサポートしていくことが不可欠です。「AIに仕事を奪われる」のではなく「面倒な確認作業から解放される」というメリットを実感してもらうことが大切です。同時に、モニタリング体制を構築し、継続的な改善サイクルを確立します。
全体で約5〜8ヶ月のプロジェクトとなりますが、Phase 1の段階から目に見える効果を実感していただけるよう設計しています。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最後に、AI承認がもたらす4つの変革をまとめます。
「スピード」の面では、特に定型的な承認が自動処理されることで、リードタイムを大幅に短縮できます。例えば規定内の経費精算のように判断基準が明確なものは、申請から承認まで数分で完了するケースもあります。月末の経費精算ラッシュでも、AIは24時間365日稼働します。
「正確性」の面では、AIが一貫した基準でチェックを行うため、人間の見落としや判断のばらつきといったヒューマンエラーを大幅に削減できます。ただし、AIの精度はルールの整備状況や学習データの質に依存しますので、導入時の設計が重要です。
「透明性」の面では、AIのすべての判断に根拠が記録され、いつでも追跡可能になります。これは内部統制やコンプライアンスの観点から非常に価値があります。
「スケーラビリティ」の面では、申請件数が増加しても、AIの処理コストは人間の承認者を増員するよりもはるかに低く抑えられます。事業成長に伴う承認業務の増加にも柔軟に対応できます。
最後に強調したいのは、AIは承認者を「置き換える」ものではないということです。AIの真の価値は、承認者がより価値の高い判断に集中できる環境をつくることにあります。人間の知恵とAIの効率性を組み合わせることで、組織全体の承認プロセスが進化します。
本日はご清聴ありがとうございました。ご質問がございましたら、お気軽にお声がけください。</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5.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855"/>
          </a:solidFill>
          <a:ln/>
        </p:spPr>
        <p:txBody>
          <a:bodyPr/>
          <a:lstStyle/>
          <a:p>
            <a:endParaRPr lang="ja-JP" altLang="en-US"/>
          </a:p>
        </p:txBody>
      </p:sp>
      <p:sp>
        <p:nvSpPr>
          <p:cNvPr id="3" name="Shape 1"/>
          <p:cNvSpPr/>
          <p:nvPr/>
        </p:nvSpPr>
        <p:spPr>
          <a:xfrm>
            <a:off x="0" y="5088636"/>
            <a:ext cx="9144000" cy="54864"/>
          </a:xfrm>
          <a:prstGeom prst="rect">
            <a:avLst/>
          </a:prstGeom>
          <a:solidFill>
            <a:srgbClr val="C4A855"/>
          </a:solidFill>
          <a:ln/>
        </p:spPr>
        <p:txBody>
          <a:bodyPr/>
          <a:lstStyle/>
          <a:p>
            <a:endParaRPr lang="ja-JP" altLang="en-US"/>
          </a:p>
        </p:txBody>
      </p:sp>
      <p:sp>
        <p:nvSpPr>
          <p:cNvPr id="4" name="Shape 2"/>
          <p:cNvSpPr/>
          <p:nvPr/>
        </p:nvSpPr>
        <p:spPr>
          <a:xfrm>
            <a:off x="4023360" y="640080"/>
            <a:ext cx="1097280" cy="914400"/>
          </a:xfrm>
          <a:prstGeom prst="rect">
            <a:avLst/>
          </a:prstGeom>
          <a:solidFill>
            <a:srgbClr val="F5F0E6"/>
          </a:solidFill>
          <a:ln w="25400">
            <a:solidFill>
              <a:srgbClr val="C4A855"/>
            </a:solidFill>
            <a:prstDash val="solid"/>
          </a:ln>
        </p:spPr>
        <p:txBody>
          <a:bodyPr/>
          <a:lstStyle/>
          <a:p>
            <a:endParaRPr lang="ja-JP" altLang="en-US"/>
          </a:p>
        </p:txBody>
      </p:sp>
      <p:sp>
        <p:nvSpPr>
          <p:cNvPr id="5" name="Text 3"/>
          <p:cNvSpPr/>
          <p:nvPr/>
        </p:nvSpPr>
        <p:spPr>
          <a:xfrm>
            <a:off x="4023360" y="640080"/>
            <a:ext cx="1097280" cy="914400"/>
          </a:xfrm>
          <a:prstGeom prst="rect">
            <a:avLst/>
          </a:prstGeom>
          <a:noFill/>
          <a:ln/>
        </p:spPr>
        <p:txBody>
          <a:bodyPr wrap="square" lIns="0" tIns="0" rIns="0" bIns="0" rtlCol="0" anchor="ctr"/>
          <a:lstStyle/>
          <a:p>
            <a:pPr marL="0" indent="0" algn="ctr">
              <a:buNone/>
            </a:pPr>
            <a:r>
              <a:rPr lang="en-US" sz="3200" b="1" dirty="0">
                <a:solidFill>
                  <a:srgbClr val="8B7536"/>
                </a:solidFill>
                <a:latin typeface="Georgia" pitchFamily="34" charset="0"/>
                <a:ea typeface="Georgia" pitchFamily="34" charset="-122"/>
                <a:cs typeface="Georgia" pitchFamily="34" charset="-120"/>
              </a:rPr>
              <a:t>H</a:t>
            </a:r>
            <a:r>
              <a:rPr lang="en-US" sz="3200" i="1" dirty="0">
                <a:solidFill>
                  <a:srgbClr val="C4A855"/>
                </a:solidFill>
                <a:latin typeface="Georgia" pitchFamily="34" charset="0"/>
                <a:ea typeface="Georgia" pitchFamily="34" charset="-122"/>
                <a:cs typeface="Georgia" pitchFamily="34" charset="-120"/>
              </a:rPr>
              <a:t>i</a:t>
            </a:r>
            <a:endParaRPr lang="en-US" sz="3200" dirty="0"/>
          </a:p>
        </p:txBody>
      </p:sp>
      <p:sp>
        <p:nvSpPr>
          <p:cNvPr id="6" name="Shape 4"/>
          <p:cNvSpPr/>
          <p:nvPr/>
        </p:nvSpPr>
        <p:spPr>
          <a:xfrm>
            <a:off x="2743200" y="1828800"/>
            <a:ext cx="3657600" cy="0"/>
          </a:xfrm>
          <a:prstGeom prst="line">
            <a:avLst/>
          </a:prstGeom>
          <a:noFill/>
          <a:ln w="19050">
            <a:solidFill>
              <a:srgbClr val="C4A855"/>
            </a:solidFill>
            <a:prstDash val="solid"/>
          </a:ln>
        </p:spPr>
        <p:txBody>
          <a:bodyPr/>
          <a:lstStyle/>
          <a:p>
            <a:endParaRPr lang="ja-JP" altLang="en-US"/>
          </a:p>
        </p:txBody>
      </p:sp>
      <p:sp>
        <p:nvSpPr>
          <p:cNvPr id="7" name="Text 5"/>
          <p:cNvSpPr/>
          <p:nvPr/>
        </p:nvSpPr>
        <p:spPr>
          <a:xfrm>
            <a:off x="914400" y="2011680"/>
            <a:ext cx="7315200" cy="731520"/>
          </a:xfrm>
          <a:prstGeom prst="rect">
            <a:avLst/>
          </a:prstGeom>
          <a:noFill/>
          <a:ln/>
        </p:spPr>
        <p:txBody>
          <a:bodyPr wrap="square" lIns="0" tIns="0" rIns="0" bIns="0" rtlCol="0" anchor="ctr"/>
          <a:lstStyle/>
          <a:p>
            <a:pPr marL="0" indent="0" algn="ctr">
              <a:buNone/>
            </a:pPr>
            <a:r>
              <a:rPr lang="en-US" sz="3600" b="1" dirty="0">
                <a:solidFill>
                  <a:srgbClr val="333333"/>
                </a:solidFill>
                <a:latin typeface="Calibri" pitchFamily="34" charset="0"/>
                <a:ea typeface="Calibri" pitchFamily="34" charset="-122"/>
                <a:cs typeface="Calibri" pitchFamily="34" charset="-120"/>
              </a:rPr>
              <a:t>AI時代の承認プロセス</a:t>
            </a:r>
            <a:endParaRPr lang="en-US" sz="3600" dirty="0"/>
          </a:p>
        </p:txBody>
      </p:sp>
      <p:sp>
        <p:nvSpPr>
          <p:cNvPr id="8" name="Text 6"/>
          <p:cNvSpPr/>
          <p:nvPr/>
        </p:nvSpPr>
        <p:spPr>
          <a:xfrm>
            <a:off x="1371600" y="2743200"/>
            <a:ext cx="6400800" cy="457200"/>
          </a:xfrm>
          <a:prstGeom prst="rect">
            <a:avLst/>
          </a:prstGeom>
          <a:noFill/>
          <a:ln/>
        </p:spPr>
        <p:txBody>
          <a:bodyPr wrap="square" lIns="0" tIns="0" rIns="0" bIns="0" rtlCol="0" anchor="ctr"/>
          <a:lstStyle/>
          <a:p>
            <a:pPr marL="0" indent="0" algn="ctr">
              <a:buNone/>
            </a:pPr>
            <a:r>
              <a:rPr lang="en-US" sz="1500" dirty="0">
                <a:solidFill>
                  <a:srgbClr val="666666"/>
                </a:solidFill>
                <a:latin typeface="Calibri" pitchFamily="34" charset="0"/>
                <a:ea typeface="Calibri" pitchFamily="34" charset="-122"/>
                <a:cs typeface="Calibri" pitchFamily="34" charset="-120"/>
              </a:rPr>
              <a:t>～ AIを使ってどう承認フローを構築するか ～</a:t>
            </a:r>
            <a:endParaRPr lang="en-US" sz="1500" dirty="0"/>
          </a:p>
        </p:txBody>
      </p:sp>
      <p:sp>
        <p:nvSpPr>
          <p:cNvPr id="9" name="Shape 7"/>
          <p:cNvSpPr/>
          <p:nvPr/>
        </p:nvSpPr>
        <p:spPr>
          <a:xfrm>
            <a:off x="2743200" y="3383280"/>
            <a:ext cx="3657600" cy="0"/>
          </a:xfrm>
          <a:prstGeom prst="line">
            <a:avLst/>
          </a:prstGeom>
          <a:noFill/>
          <a:ln w="19050">
            <a:solidFill>
              <a:srgbClr val="C4A855"/>
            </a:solidFill>
            <a:prstDash val="solid"/>
          </a:ln>
        </p:spPr>
        <p:txBody>
          <a:bodyPr/>
          <a:lstStyle/>
          <a:p>
            <a:endParaRPr lang="ja-JP" altLang="en-US"/>
          </a:p>
        </p:txBody>
      </p:sp>
      <p:sp>
        <p:nvSpPr>
          <p:cNvPr id="10" name="Text 8"/>
          <p:cNvSpPr/>
          <p:nvPr/>
        </p:nvSpPr>
        <p:spPr>
          <a:xfrm>
            <a:off x="1371600" y="3520440"/>
            <a:ext cx="6400800" cy="365760"/>
          </a:xfrm>
          <a:prstGeom prst="rect">
            <a:avLst/>
          </a:prstGeom>
          <a:noFill/>
          <a:ln/>
        </p:spPr>
        <p:txBody>
          <a:bodyPr wrap="square" lIns="0" tIns="0" rIns="0" bIns="0" rtlCol="0" anchor="ctr"/>
          <a:lstStyle/>
          <a:p>
            <a:pPr marL="0" indent="0" algn="ctr">
              <a:buNone/>
            </a:pPr>
            <a:r>
              <a:rPr lang="en-US" sz="1200" dirty="0">
                <a:solidFill>
                  <a:srgbClr val="666666"/>
                </a:solidFill>
                <a:latin typeface="Calibri" pitchFamily="34" charset="0"/>
                <a:ea typeface="Calibri" pitchFamily="34" charset="-122"/>
                <a:cs typeface="Calibri" pitchFamily="34" charset="-120"/>
              </a:rPr>
              <a:t>― 経費精算の事例から学ぶ、AI承認の一般フレームワーク ―</a:t>
            </a:r>
            <a:endParaRPr lang="en-US" sz="1200" dirty="0"/>
          </a:p>
        </p:txBody>
      </p:sp>
      <p:sp>
        <p:nvSpPr>
          <p:cNvPr id="11" name="Text 9"/>
          <p:cNvSpPr/>
          <p:nvPr/>
        </p:nvSpPr>
        <p:spPr>
          <a:xfrm>
            <a:off x="1828800" y="4206240"/>
            <a:ext cx="5486400" cy="274320"/>
          </a:xfrm>
          <a:prstGeom prst="rect">
            <a:avLst/>
          </a:prstGeom>
          <a:noFill/>
          <a:ln/>
        </p:spPr>
        <p:txBody>
          <a:bodyPr wrap="square" lIns="0" tIns="0" rIns="0" bIns="0" rtlCol="0" anchor="ctr"/>
          <a:lstStyle/>
          <a:p>
            <a:pPr marL="0" indent="0" algn="ctr">
              <a:buNone/>
            </a:pPr>
            <a:r>
              <a:rPr lang="en-US" sz="1200" b="1" kern="0" spc="800" dirty="0">
                <a:solidFill>
                  <a:srgbClr val="333333"/>
                </a:solidFill>
                <a:latin typeface="Calibri" pitchFamily="34" charset="0"/>
                <a:ea typeface="Calibri" pitchFamily="34" charset="-122"/>
                <a:cs typeface="Calibri" pitchFamily="34" charset="-120"/>
              </a:rPr>
              <a:t>H A R M O N I C</a:t>
            </a:r>
            <a:r>
              <a:rPr lang="en-US" sz="1200" dirty="0">
                <a:solidFill>
                  <a:srgbClr val="000000"/>
                </a:solidFill>
              </a:rPr>
              <a:t>   </a:t>
            </a:r>
            <a:r>
              <a:rPr lang="en-US" sz="1200" kern="0" spc="400" dirty="0">
                <a:solidFill>
                  <a:srgbClr val="C4A855"/>
                </a:solidFill>
                <a:latin typeface="Calibri" pitchFamily="34" charset="0"/>
                <a:ea typeface="Calibri" pitchFamily="34" charset="-122"/>
                <a:cs typeface="Calibri" pitchFamily="34" charset="-120"/>
              </a:rPr>
              <a:t>i n s i g h t</a:t>
            </a:r>
            <a:endParaRPr lang="en-US" sz="1200" dirty="0"/>
          </a:p>
        </p:txBody>
      </p:sp>
      <p:sp>
        <p:nvSpPr>
          <p:cNvPr id="12" name="Text 10"/>
          <p:cNvSpPr/>
          <p:nvPr/>
        </p:nvSpPr>
        <p:spPr>
          <a:xfrm>
            <a:off x="1828800" y="4526280"/>
            <a:ext cx="5486400" cy="274320"/>
          </a:xfrm>
          <a:prstGeom prst="rect">
            <a:avLst/>
          </a:prstGeom>
          <a:noFill/>
          <a:ln/>
        </p:spPr>
        <p:txBody>
          <a:bodyPr wrap="square" lIns="0" tIns="0" rIns="0" bIns="0"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h-insight.jp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33333"/>
                </a:solidFill>
                <a:latin typeface="Calibri" pitchFamily="34" charset="0"/>
                <a:ea typeface="Calibri" pitchFamily="34" charset="-122"/>
                <a:cs typeface="Calibri" pitchFamily="34" charset="-120"/>
              </a:rPr>
              <a:t>従来の承認プロセスの課題</a:t>
            </a:r>
            <a:endParaRPr lang="en-US" sz="2800" dirty="0"/>
          </a:p>
        </p:txBody>
      </p:sp>
      <p:sp>
        <p:nvSpPr>
          <p:cNvPr id="3" name="Shape 1"/>
          <p:cNvSpPr/>
          <p:nvPr/>
        </p:nvSpPr>
        <p:spPr>
          <a:xfrm>
            <a:off x="457200" y="822960"/>
            <a:ext cx="1828800" cy="0"/>
          </a:xfrm>
          <a:prstGeom prst="line">
            <a:avLst/>
          </a:prstGeom>
          <a:noFill/>
          <a:ln w="38100">
            <a:solidFill>
              <a:srgbClr val="C4A855"/>
            </a:solidFill>
            <a:prstDash val="solid"/>
          </a:ln>
        </p:spPr>
        <p:txBody>
          <a:bodyPr/>
          <a:lstStyle/>
          <a:p>
            <a:endParaRPr lang="ja-JP" altLang="en-US"/>
          </a:p>
        </p:txBody>
      </p:sp>
      <p:sp>
        <p:nvSpPr>
          <p:cNvPr id="4" name="Shape 2"/>
          <p:cNvSpPr/>
          <p:nvPr/>
        </p:nvSpPr>
        <p:spPr>
          <a:xfrm>
            <a:off x="457200" y="1188720"/>
            <a:ext cx="1920240" cy="2560320"/>
          </a:xfrm>
          <a:prstGeom prst="rect">
            <a:avLst/>
          </a:prstGeom>
          <a:solidFill>
            <a:srgbClr val="FFFFFF"/>
          </a:solidFill>
          <a:ln w="12700">
            <a:solidFill>
              <a:srgbClr val="E0D9C8"/>
            </a:solidFill>
            <a:prstDash val="solid"/>
          </a:ln>
        </p:spPr>
        <p:txBody>
          <a:bodyPr/>
          <a:lstStyle/>
          <a:p>
            <a:endParaRPr lang="ja-JP" altLang="en-US"/>
          </a:p>
        </p:txBody>
      </p:sp>
      <p:sp>
        <p:nvSpPr>
          <p:cNvPr id="5" name="Shape 3"/>
          <p:cNvSpPr/>
          <p:nvPr/>
        </p:nvSpPr>
        <p:spPr>
          <a:xfrm>
            <a:off x="1051560" y="1417320"/>
            <a:ext cx="731520" cy="731520"/>
          </a:xfrm>
          <a:prstGeom prst="ellipse">
            <a:avLst/>
          </a:prstGeom>
          <a:solidFill>
            <a:srgbClr val="F5F0E6"/>
          </a:solidFill>
          <a:ln w="12700">
            <a:solidFill>
              <a:srgbClr val="E0D9C8"/>
            </a:solidFill>
            <a:prstDash val="solid"/>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188720" y="1554480"/>
            <a:ext cx="457200" cy="457200"/>
          </a:xfrm>
          <a:prstGeom prst="rect">
            <a:avLst/>
          </a:prstGeom>
        </p:spPr>
      </p:pic>
      <p:sp>
        <p:nvSpPr>
          <p:cNvPr id="7" name="Text 4"/>
          <p:cNvSpPr/>
          <p:nvPr/>
        </p:nvSpPr>
        <p:spPr>
          <a:xfrm>
            <a:off x="548640" y="2286000"/>
            <a:ext cx="1737360" cy="365760"/>
          </a:xfrm>
          <a:prstGeom prst="rect">
            <a:avLst/>
          </a:prstGeom>
          <a:noFill/>
          <a:ln/>
        </p:spPr>
        <p:txBody>
          <a:bodyPr wrap="square" lIns="0" tIns="0" rIns="0" bIns="0" rtlCol="0" anchor="ctr"/>
          <a:lstStyle/>
          <a:p>
            <a:pPr marL="0" indent="0" algn="ctr">
              <a:buNone/>
            </a:pPr>
            <a:r>
              <a:rPr lang="en-US" sz="1600" b="1" dirty="0">
                <a:solidFill>
                  <a:srgbClr val="333333"/>
                </a:solidFill>
                <a:latin typeface="Calibri" pitchFamily="34" charset="0"/>
                <a:ea typeface="Calibri" pitchFamily="34" charset="-122"/>
                <a:cs typeface="Calibri" pitchFamily="34" charset="-120"/>
              </a:rPr>
              <a:t>遅延</a:t>
            </a:r>
            <a:endParaRPr lang="en-US" sz="1600" dirty="0"/>
          </a:p>
        </p:txBody>
      </p:sp>
      <p:sp>
        <p:nvSpPr>
          <p:cNvPr id="8" name="Text 5"/>
          <p:cNvSpPr/>
          <p:nvPr/>
        </p:nvSpPr>
        <p:spPr>
          <a:xfrm>
            <a:off x="548640" y="2697480"/>
            <a:ext cx="1737360" cy="822960"/>
          </a:xfrm>
          <a:prstGeom prst="rect">
            <a:avLst/>
          </a:prstGeom>
          <a:noFill/>
          <a:ln/>
        </p:spPr>
        <p:txBody>
          <a:bodyPr wrap="square" lIns="0" tIns="0" rIns="0" bIns="0" rtlCol="0" anchor="ctr"/>
          <a:lstStyle/>
          <a:p>
            <a:pPr marL="0" indent="0" algn="ctr">
              <a:lnSpc>
                <a:spcPct val="120000"/>
              </a:lnSpc>
              <a:buNone/>
            </a:pPr>
            <a:r>
              <a:rPr lang="en-US" sz="1100" dirty="0">
                <a:solidFill>
                  <a:srgbClr val="666666"/>
                </a:solidFill>
                <a:latin typeface="Calibri" pitchFamily="34" charset="0"/>
                <a:ea typeface="Calibri" pitchFamily="34" charset="-122"/>
                <a:cs typeface="Calibri" pitchFamily="34" charset="-120"/>
              </a:rPr>
              <a:t>承認者の不在・多忙で</a:t>
            </a:r>
            <a:endParaRPr lang="en-US" sz="1100" dirty="0"/>
          </a:p>
          <a:p>
            <a:pPr marL="0" indent="0" algn="ctr">
              <a:lnSpc>
                <a:spcPct val="120000"/>
              </a:lnSpc>
              <a:buNone/>
            </a:pPr>
            <a:r>
              <a:rPr lang="en-US" sz="1100" dirty="0">
                <a:solidFill>
                  <a:srgbClr val="666666"/>
                </a:solidFill>
                <a:latin typeface="Calibri" pitchFamily="34" charset="0"/>
                <a:ea typeface="Calibri" pitchFamily="34" charset="-122"/>
                <a:cs typeface="Calibri" pitchFamily="34" charset="-120"/>
              </a:rPr>
              <a:t>プロセスが停滞</a:t>
            </a:r>
            <a:endParaRPr lang="en-US" sz="1100" dirty="0"/>
          </a:p>
        </p:txBody>
      </p:sp>
      <p:sp>
        <p:nvSpPr>
          <p:cNvPr id="9" name="Shape 6"/>
          <p:cNvSpPr/>
          <p:nvPr/>
        </p:nvSpPr>
        <p:spPr>
          <a:xfrm>
            <a:off x="2560320" y="1188720"/>
            <a:ext cx="1920240" cy="2560320"/>
          </a:xfrm>
          <a:prstGeom prst="rect">
            <a:avLst/>
          </a:prstGeom>
          <a:solidFill>
            <a:srgbClr val="FFFFFF"/>
          </a:solidFill>
          <a:ln w="12700">
            <a:solidFill>
              <a:srgbClr val="E0D9C8"/>
            </a:solidFill>
            <a:prstDash val="solid"/>
          </a:ln>
        </p:spPr>
        <p:txBody>
          <a:bodyPr/>
          <a:lstStyle/>
          <a:p>
            <a:endParaRPr lang="ja-JP" altLang="en-US"/>
          </a:p>
        </p:txBody>
      </p:sp>
      <p:sp>
        <p:nvSpPr>
          <p:cNvPr id="10" name="Shape 7"/>
          <p:cNvSpPr/>
          <p:nvPr/>
        </p:nvSpPr>
        <p:spPr>
          <a:xfrm>
            <a:off x="3154680" y="1417320"/>
            <a:ext cx="731520" cy="731520"/>
          </a:xfrm>
          <a:prstGeom prst="ellipse">
            <a:avLst/>
          </a:prstGeom>
          <a:solidFill>
            <a:srgbClr val="F5F0E6"/>
          </a:solidFill>
          <a:ln w="12700">
            <a:solidFill>
              <a:srgbClr val="E0D9C8"/>
            </a:solidFill>
            <a:prstDash val="solid"/>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3291840" y="1554480"/>
            <a:ext cx="457200" cy="457200"/>
          </a:xfrm>
          <a:prstGeom prst="rect">
            <a:avLst/>
          </a:prstGeom>
        </p:spPr>
      </p:pic>
      <p:sp>
        <p:nvSpPr>
          <p:cNvPr id="12" name="Text 8"/>
          <p:cNvSpPr/>
          <p:nvPr/>
        </p:nvSpPr>
        <p:spPr>
          <a:xfrm>
            <a:off x="2651760" y="2286000"/>
            <a:ext cx="1737360" cy="365760"/>
          </a:xfrm>
          <a:prstGeom prst="rect">
            <a:avLst/>
          </a:prstGeom>
          <a:noFill/>
          <a:ln/>
        </p:spPr>
        <p:txBody>
          <a:bodyPr wrap="square" lIns="0" tIns="0" rIns="0" bIns="0" rtlCol="0" anchor="ctr"/>
          <a:lstStyle/>
          <a:p>
            <a:pPr marL="0" indent="0" algn="ctr">
              <a:buNone/>
            </a:pPr>
            <a:r>
              <a:rPr lang="en-US" sz="1600" b="1" dirty="0">
                <a:solidFill>
                  <a:srgbClr val="333333"/>
                </a:solidFill>
                <a:latin typeface="Calibri" pitchFamily="34" charset="0"/>
                <a:ea typeface="Calibri" pitchFamily="34" charset="-122"/>
                <a:cs typeface="Calibri" pitchFamily="34" charset="-120"/>
              </a:rPr>
              <a:t>属人化</a:t>
            </a:r>
            <a:endParaRPr lang="en-US" sz="1600" dirty="0"/>
          </a:p>
        </p:txBody>
      </p:sp>
      <p:sp>
        <p:nvSpPr>
          <p:cNvPr id="13" name="Text 9"/>
          <p:cNvSpPr/>
          <p:nvPr/>
        </p:nvSpPr>
        <p:spPr>
          <a:xfrm>
            <a:off x="2651760" y="2697480"/>
            <a:ext cx="1737360" cy="822960"/>
          </a:xfrm>
          <a:prstGeom prst="rect">
            <a:avLst/>
          </a:prstGeom>
          <a:noFill/>
          <a:ln/>
        </p:spPr>
        <p:txBody>
          <a:bodyPr wrap="square" lIns="0" tIns="0" rIns="0" bIns="0" rtlCol="0" anchor="ctr"/>
          <a:lstStyle/>
          <a:p>
            <a:pPr marL="0" indent="0" algn="ctr">
              <a:lnSpc>
                <a:spcPct val="120000"/>
              </a:lnSpc>
              <a:buNone/>
            </a:pPr>
            <a:r>
              <a:rPr lang="en-US" sz="1100" dirty="0">
                <a:solidFill>
                  <a:srgbClr val="666666"/>
                </a:solidFill>
                <a:latin typeface="Calibri" pitchFamily="34" charset="0"/>
                <a:ea typeface="Calibri" pitchFamily="34" charset="-122"/>
                <a:cs typeface="Calibri" pitchFamily="34" charset="-120"/>
              </a:rPr>
              <a:t>判断基準が承認者ごとに</a:t>
            </a:r>
            <a:endParaRPr lang="en-US" sz="1100" dirty="0"/>
          </a:p>
          <a:p>
            <a:pPr marL="0" indent="0" algn="ctr">
              <a:lnSpc>
                <a:spcPct val="120000"/>
              </a:lnSpc>
              <a:buNone/>
            </a:pPr>
            <a:r>
              <a:rPr lang="en-US" sz="1100" dirty="0">
                <a:solidFill>
                  <a:srgbClr val="666666"/>
                </a:solidFill>
                <a:latin typeface="Calibri" pitchFamily="34" charset="0"/>
                <a:ea typeface="Calibri" pitchFamily="34" charset="-122"/>
                <a:cs typeface="Calibri" pitchFamily="34" charset="-120"/>
              </a:rPr>
              <a:t>ばらつき品質が不安定</a:t>
            </a:r>
            <a:endParaRPr lang="en-US" sz="1100" dirty="0"/>
          </a:p>
        </p:txBody>
      </p:sp>
      <p:sp>
        <p:nvSpPr>
          <p:cNvPr id="14" name="Shape 10"/>
          <p:cNvSpPr/>
          <p:nvPr/>
        </p:nvSpPr>
        <p:spPr>
          <a:xfrm>
            <a:off x="4663440" y="1188720"/>
            <a:ext cx="1920240" cy="2560320"/>
          </a:xfrm>
          <a:prstGeom prst="rect">
            <a:avLst/>
          </a:prstGeom>
          <a:solidFill>
            <a:srgbClr val="FFFFFF"/>
          </a:solidFill>
          <a:ln w="12700">
            <a:solidFill>
              <a:srgbClr val="E0D9C8"/>
            </a:solidFill>
            <a:prstDash val="solid"/>
          </a:ln>
        </p:spPr>
        <p:txBody>
          <a:bodyPr/>
          <a:lstStyle/>
          <a:p>
            <a:endParaRPr lang="ja-JP" altLang="en-US"/>
          </a:p>
        </p:txBody>
      </p:sp>
      <p:sp>
        <p:nvSpPr>
          <p:cNvPr id="15" name="Shape 11"/>
          <p:cNvSpPr/>
          <p:nvPr/>
        </p:nvSpPr>
        <p:spPr>
          <a:xfrm>
            <a:off x="5257800" y="1417320"/>
            <a:ext cx="731520" cy="731520"/>
          </a:xfrm>
          <a:prstGeom prst="ellipse">
            <a:avLst/>
          </a:prstGeom>
          <a:solidFill>
            <a:srgbClr val="F5F0E6"/>
          </a:solidFill>
          <a:ln w="12700">
            <a:solidFill>
              <a:srgbClr val="E0D9C8"/>
            </a:solidFill>
            <a:prstDash val="solid"/>
          </a:ln>
        </p:spPr>
        <p:txBody>
          <a:bodyPr/>
          <a:lstStyle/>
          <a:p>
            <a:endParaRPr lang="ja-JP" altLang="en-US"/>
          </a:p>
        </p:txBody>
      </p:sp>
      <p:pic>
        <p:nvPicPr>
          <p:cNvPr id="16" name="Image 2" descr="preencoded.png"/>
          <p:cNvPicPr>
            <a:picLocks noChangeAspect="1"/>
          </p:cNvPicPr>
          <p:nvPr/>
        </p:nvPicPr>
        <p:blipFill>
          <a:blip r:embed="rId5"/>
          <a:stretch>
            <a:fillRect/>
          </a:stretch>
        </p:blipFill>
        <p:spPr>
          <a:xfrm>
            <a:off x="5394960" y="1554480"/>
            <a:ext cx="457200" cy="457200"/>
          </a:xfrm>
          <a:prstGeom prst="rect">
            <a:avLst/>
          </a:prstGeom>
        </p:spPr>
      </p:pic>
      <p:sp>
        <p:nvSpPr>
          <p:cNvPr id="17" name="Text 12"/>
          <p:cNvSpPr/>
          <p:nvPr/>
        </p:nvSpPr>
        <p:spPr>
          <a:xfrm>
            <a:off x="4754880" y="2286000"/>
            <a:ext cx="1737360" cy="365760"/>
          </a:xfrm>
          <a:prstGeom prst="rect">
            <a:avLst/>
          </a:prstGeom>
          <a:noFill/>
          <a:ln/>
        </p:spPr>
        <p:txBody>
          <a:bodyPr wrap="square" lIns="0" tIns="0" rIns="0" bIns="0" rtlCol="0" anchor="ctr"/>
          <a:lstStyle/>
          <a:p>
            <a:pPr marL="0" indent="0" algn="ctr">
              <a:buNone/>
            </a:pPr>
            <a:r>
              <a:rPr lang="en-US" sz="1600" b="1" dirty="0">
                <a:solidFill>
                  <a:srgbClr val="333333"/>
                </a:solidFill>
                <a:latin typeface="Calibri" pitchFamily="34" charset="0"/>
                <a:ea typeface="Calibri" pitchFamily="34" charset="-122"/>
                <a:cs typeface="Calibri" pitchFamily="34" charset="-120"/>
              </a:rPr>
              <a:t>形骸化</a:t>
            </a:r>
            <a:endParaRPr lang="en-US" sz="1600" dirty="0"/>
          </a:p>
        </p:txBody>
      </p:sp>
      <p:sp>
        <p:nvSpPr>
          <p:cNvPr id="18" name="Text 13"/>
          <p:cNvSpPr/>
          <p:nvPr/>
        </p:nvSpPr>
        <p:spPr>
          <a:xfrm>
            <a:off x="4754880" y="2697480"/>
            <a:ext cx="1737360" cy="822960"/>
          </a:xfrm>
          <a:prstGeom prst="rect">
            <a:avLst/>
          </a:prstGeom>
          <a:noFill/>
          <a:ln/>
        </p:spPr>
        <p:txBody>
          <a:bodyPr wrap="square" lIns="0" tIns="0" rIns="0" bIns="0" rtlCol="0" anchor="ctr"/>
          <a:lstStyle/>
          <a:p>
            <a:pPr marL="0" indent="0" algn="ctr">
              <a:lnSpc>
                <a:spcPct val="120000"/>
              </a:lnSpc>
              <a:buNone/>
            </a:pPr>
            <a:r>
              <a:rPr lang="en-US" sz="1100" dirty="0">
                <a:solidFill>
                  <a:srgbClr val="666666"/>
                </a:solidFill>
                <a:latin typeface="Calibri" pitchFamily="34" charset="0"/>
                <a:ea typeface="Calibri" pitchFamily="34" charset="-122"/>
                <a:cs typeface="Calibri" pitchFamily="34" charset="-120"/>
              </a:rPr>
              <a:t>件数が多く確認が</a:t>
            </a:r>
            <a:endParaRPr lang="en-US" sz="1100" dirty="0"/>
          </a:p>
          <a:p>
            <a:pPr marL="0" indent="0" algn="ctr">
              <a:lnSpc>
                <a:spcPct val="120000"/>
              </a:lnSpc>
              <a:buNone/>
            </a:pPr>
            <a:r>
              <a:rPr lang="en-US" sz="1100" dirty="0">
                <a:solidFill>
                  <a:srgbClr val="666666"/>
                </a:solidFill>
                <a:latin typeface="Calibri" pitchFamily="34" charset="0"/>
                <a:ea typeface="Calibri" pitchFamily="34" charset="-122"/>
                <a:cs typeface="Calibri" pitchFamily="34" charset="-120"/>
              </a:rPr>
              <a:t>形式的になりがち</a:t>
            </a:r>
            <a:endParaRPr lang="en-US" sz="1100" dirty="0"/>
          </a:p>
        </p:txBody>
      </p:sp>
      <p:sp>
        <p:nvSpPr>
          <p:cNvPr id="19" name="Shape 14"/>
          <p:cNvSpPr/>
          <p:nvPr/>
        </p:nvSpPr>
        <p:spPr>
          <a:xfrm>
            <a:off x="6766560" y="1188720"/>
            <a:ext cx="1920240" cy="2560320"/>
          </a:xfrm>
          <a:prstGeom prst="rect">
            <a:avLst/>
          </a:prstGeom>
          <a:solidFill>
            <a:srgbClr val="FFFFFF"/>
          </a:solidFill>
          <a:ln w="12700">
            <a:solidFill>
              <a:srgbClr val="E0D9C8"/>
            </a:solidFill>
            <a:prstDash val="solid"/>
          </a:ln>
        </p:spPr>
        <p:txBody>
          <a:bodyPr/>
          <a:lstStyle/>
          <a:p>
            <a:endParaRPr lang="ja-JP" altLang="en-US"/>
          </a:p>
        </p:txBody>
      </p:sp>
      <p:sp>
        <p:nvSpPr>
          <p:cNvPr id="20" name="Shape 15"/>
          <p:cNvSpPr/>
          <p:nvPr/>
        </p:nvSpPr>
        <p:spPr>
          <a:xfrm>
            <a:off x="7360920" y="1417320"/>
            <a:ext cx="731520" cy="731520"/>
          </a:xfrm>
          <a:prstGeom prst="ellipse">
            <a:avLst/>
          </a:prstGeom>
          <a:solidFill>
            <a:srgbClr val="F5F0E6"/>
          </a:solidFill>
          <a:ln w="12700">
            <a:solidFill>
              <a:srgbClr val="E0D9C8"/>
            </a:solidFill>
            <a:prstDash val="solid"/>
          </a:ln>
        </p:spPr>
        <p:txBody>
          <a:bodyPr/>
          <a:lstStyle/>
          <a:p>
            <a:endParaRPr lang="ja-JP" altLang="en-US"/>
          </a:p>
        </p:txBody>
      </p:sp>
      <p:pic>
        <p:nvPicPr>
          <p:cNvPr id="21" name="Image 3" descr="preencoded.png"/>
          <p:cNvPicPr>
            <a:picLocks noChangeAspect="1"/>
          </p:cNvPicPr>
          <p:nvPr/>
        </p:nvPicPr>
        <p:blipFill>
          <a:blip r:embed="rId6"/>
          <a:stretch>
            <a:fillRect/>
          </a:stretch>
        </p:blipFill>
        <p:spPr>
          <a:xfrm>
            <a:off x="7498080" y="1554480"/>
            <a:ext cx="457200" cy="457200"/>
          </a:xfrm>
          <a:prstGeom prst="rect">
            <a:avLst/>
          </a:prstGeom>
        </p:spPr>
      </p:pic>
      <p:sp>
        <p:nvSpPr>
          <p:cNvPr id="22" name="Text 16"/>
          <p:cNvSpPr/>
          <p:nvPr/>
        </p:nvSpPr>
        <p:spPr>
          <a:xfrm>
            <a:off x="6858000" y="2286000"/>
            <a:ext cx="1737360" cy="365760"/>
          </a:xfrm>
          <a:prstGeom prst="rect">
            <a:avLst/>
          </a:prstGeom>
          <a:noFill/>
          <a:ln/>
        </p:spPr>
        <p:txBody>
          <a:bodyPr wrap="square" lIns="0" tIns="0" rIns="0" bIns="0" rtlCol="0" anchor="ctr"/>
          <a:lstStyle/>
          <a:p>
            <a:pPr marL="0" indent="0" algn="ctr">
              <a:buNone/>
            </a:pPr>
            <a:r>
              <a:rPr lang="en-US" sz="1600" b="1" dirty="0">
                <a:solidFill>
                  <a:srgbClr val="333333"/>
                </a:solidFill>
                <a:latin typeface="Calibri" pitchFamily="34" charset="0"/>
                <a:ea typeface="Calibri" pitchFamily="34" charset="-122"/>
                <a:cs typeface="Calibri" pitchFamily="34" charset="-120"/>
              </a:rPr>
              <a:t>不透明性</a:t>
            </a:r>
            <a:endParaRPr lang="en-US" sz="1600" dirty="0"/>
          </a:p>
        </p:txBody>
      </p:sp>
      <p:sp>
        <p:nvSpPr>
          <p:cNvPr id="23" name="Text 17"/>
          <p:cNvSpPr/>
          <p:nvPr/>
        </p:nvSpPr>
        <p:spPr>
          <a:xfrm>
            <a:off x="6858000" y="2697480"/>
            <a:ext cx="1737360" cy="822960"/>
          </a:xfrm>
          <a:prstGeom prst="rect">
            <a:avLst/>
          </a:prstGeom>
          <a:noFill/>
          <a:ln/>
        </p:spPr>
        <p:txBody>
          <a:bodyPr wrap="square" lIns="0" tIns="0" rIns="0" bIns="0" rtlCol="0" anchor="ctr"/>
          <a:lstStyle/>
          <a:p>
            <a:pPr marL="0" indent="0" algn="ctr">
              <a:lnSpc>
                <a:spcPct val="120000"/>
              </a:lnSpc>
              <a:buNone/>
            </a:pPr>
            <a:r>
              <a:rPr lang="en-US" sz="1100" dirty="0">
                <a:solidFill>
                  <a:srgbClr val="666666"/>
                </a:solidFill>
                <a:latin typeface="Calibri" pitchFamily="34" charset="0"/>
                <a:ea typeface="Calibri" pitchFamily="34" charset="-122"/>
                <a:cs typeface="Calibri" pitchFamily="34" charset="-120"/>
              </a:rPr>
              <a:t>なぜ承認/却下されたか</a:t>
            </a:r>
            <a:endParaRPr lang="en-US" sz="1100" dirty="0"/>
          </a:p>
          <a:p>
            <a:pPr marL="0" indent="0" algn="ctr">
              <a:lnSpc>
                <a:spcPct val="120000"/>
              </a:lnSpc>
              <a:buNone/>
            </a:pPr>
            <a:r>
              <a:rPr lang="en-US" sz="1100" dirty="0">
                <a:solidFill>
                  <a:srgbClr val="666666"/>
                </a:solidFill>
                <a:latin typeface="Calibri" pitchFamily="34" charset="0"/>
                <a:ea typeface="Calibri" pitchFamily="34" charset="-122"/>
                <a:cs typeface="Calibri" pitchFamily="34" charset="-120"/>
              </a:rPr>
              <a:t>理由が残らない</a:t>
            </a:r>
            <a:endParaRPr lang="en-US" sz="1100" dirty="0"/>
          </a:p>
        </p:txBody>
      </p:sp>
      <p:sp>
        <p:nvSpPr>
          <p:cNvPr id="24" name="Shape 18"/>
          <p:cNvSpPr/>
          <p:nvPr/>
        </p:nvSpPr>
        <p:spPr>
          <a:xfrm>
            <a:off x="457200" y="4023360"/>
            <a:ext cx="8229600" cy="502920"/>
          </a:xfrm>
          <a:prstGeom prst="rect">
            <a:avLst/>
          </a:prstGeom>
          <a:solidFill>
            <a:srgbClr val="F5F0E6"/>
          </a:solidFill>
          <a:ln w="12700">
            <a:solidFill>
              <a:srgbClr val="E0D9C8"/>
            </a:solidFill>
            <a:prstDash val="solid"/>
          </a:ln>
        </p:spPr>
        <p:txBody>
          <a:bodyPr/>
          <a:lstStyle/>
          <a:p>
            <a:endParaRPr lang="ja-JP" altLang="en-US"/>
          </a:p>
        </p:txBody>
      </p:sp>
      <p:sp>
        <p:nvSpPr>
          <p:cNvPr id="25" name="Text 19"/>
          <p:cNvSpPr/>
          <p:nvPr/>
        </p:nvSpPr>
        <p:spPr>
          <a:xfrm>
            <a:off x="457200" y="4023360"/>
            <a:ext cx="8229600" cy="502920"/>
          </a:xfrm>
          <a:prstGeom prst="rect">
            <a:avLst/>
          </a:prstGeom>
          <a:noFill/>
          <a:ln/>
        </p:spPr>
        <p:txBody>
          <a:bodyPr wrap="square" lIns="0" tIns="0" rIns="0" bIns="0" rtlCol="0" anchor="ctr"/>
          <a:lstStyle/>
          <a:p>
            <a:pPr marL="0" indent="0" algn="ctr">
              <a:buNone/>
            </a:pPr>
            <a:r>
              <a:rPr lang="en-US" sz="1200" b="1" dirty="0">
                <a:solidFill>
                  <a:srgbClr val="8B7536"/>
                </a:solidFill>
                <a:latin typeface="Calibri" pitchFamily="34" charset="0"/>
                <a:ea typeface="Calibri" pitchFamily="34" charset="-122"/>
                <a:cs typeface="Calibri" pitchFamily="34" charset="-120"/>
              </a:rPr>
              <a:t>これらの課題は業種・規模を問わず、あらゆる承認プロセスに共通する構造的問題</a:t>
            </a:r>
            <a:endParaRPr lang="en-US" sz="1200" dirty="0"/>
          </a:p>
        </p:txBody>
      </p:sp>
      <p:sp>
        <p:nvSpPr>
          <p:cNvPr id="26" name="Shape 20"/>
          <p:cNvSpPr/>
          <p:nvPr/>
        </p:nvSpPr>
        <p:spPr>
          <a:xfrm>
            <a:off x="457200" y="4800600"/>
            <a:ext cx="8229600" cy="0"/>
          </a:xfrm>
          <a:prstGeom prst="line">
            <a:avLst/>
          </a:prstGeom>
          <a:noFill/>
          <a:ln w="19050">
            <a:solidFill>
              <a:srgbClr val="C4A855"/>
            </a:solidFill>
            <a:prstDash val="solid"/>
          </a:ln>
        </p:spPr>
        <p:txBody>
          <a:bodyPr/>
          <a:lstStyle/>
          <a:p>
            <a:endParaRPr lang="ja-JP" altLang="en-US"/>
          </a:p>
        </p:txBody>
      </p:sp>
      <p:sp>
        <p:nvSpPr>
          <p:cNvPr id="27" name="Text 21"/>
          <p:cNvSpPr/>
          <p:nvPr/>
        </p:nvSpPr>
        <p:spPr>
          <a:xfrm>
            <a:off x="457200" y="4846320"/>
            <a:ext cx="3657600" cy="22860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H A R M O N I C   i n s i g h t</a:t>
            </a:r>
            <a:endParaRPr lang="en-US" sz="900" dirty="0"/>
          </a:p>
        </p:txBody>
      </p:sp>
      <p:sp>
        <p:nvSpPr>
          <p:cNvPr id="28" name="Text 22"/>
          <p:cNvSpPr/>
          <p:nvPr/>
        </p:nvSpPr>
        <p:spPr>
          <a:xfrm>
            <a:off x="7772400" y="4846320"/>
            <a:ext cx="914400" cy="22860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33333"/>
                </a:solidFill>
                <a:latin typeface="Calibri" pitchFamily="34" charset="0"/>
                <a:ea typeface="Calibri" pitchFamily="34" charset="-122"/>
                <a:cs typeface="Calibri" pitchFamily="34" charset="-120"/>
              </a:rPr>
              <a:t>AI承認の基本アーキテクチャ</a:t>
            </a:r>
            <a:endParaRPr lang="en-US" sz="2800" dirty="0"/>
          </a:p>
        </p:txBody>
      </p:sp>
      <p:sp>
        <p:nvSpPr>
          <p:cNvPr id="3" name="Shape 1"/>
          <p:cNvSpPr/>
          <p:nvPr/>
        </p:nvSpPr>
        <p:spPr>
          <a:xfrm>
            <a:off x="457200" y="822960"/>
            <a:ext cx="1828800" cy="0"/>
          </a:xfrm>
          <a:prstGeom prst="line">
            <a:avLst/>
          </a:prstGeom>
          <a:noFill/>
          <a:ln w="38100">
            <a:solidFill>
              <a:srgbClr val="C4A855"/>
            </a:solidFill>
            <a:prstDash val="solid"/>
          </a:ln>
        </p:spPr>
        <p:txBody>
          <a:bodyPr/>
          <a:lstStyle/>
          <a:p>
            <a:endParaRPr lang="ja-JP" altLang="en-US"/>
          </a:p>
        </p:txBody>
      </p:sp>
      <p:sp>
        <p:nvSpPr>
          <p:cNvPr id="4" name="Shape 2"/>
          <p:cNvSpPr/>
          <p:nvPr/>
        </p:nvSpPr>
        <p:spPr>
          <a:xfrm>
            <a:off x="868680" y="1005840"/>
            <a:ext cx="457200" cy="457200"/>
          </a:xfrm>
          <a:prstGeom prst="ellipse">
            <a:avLst/>
          </a:prstGeom>
          <a:solidFill>
            <a:srgbClr val="8B7536"/>
          </a:solidFill>
          <a:ln/>
        </p:spPr>
        <p:txBody>
          <a:bodyPr/>
          <a:lstStyle/>
          <a:p>
            <a:endParaRPr lang="ja-JP" altLang="en-US"/>
          </a:p>
        </p:txBody>
      </p:sp>
      <p:sp>
        <p:nvSpPr>
          <p:cNvPr id="5" name="Text 3"/>
          <p:cNvSpPr/>
          <p:nvPr/>
        </p:nvSpPr>
        <p:spPr>
          <a:xfrm>
            <a:off x="868680" y="10058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pic>
        <p:nvPicPr>
          <p:cNvPr id="6" name="Image 0" descr="preencoded.png"/>
          <p:cNvPicPr>
            <a:picLocks noChangeAspect="1"/>
          </p:cNvPicPr>
          <p:nvPr/>
        </p:nvPicPr>
        <p:blipFill>
          <a:blip r:embed="rId3"/>
          <a:stretch>
            <a:fillRect/>
          </a:stretch>
        </p:blipFill>
        <p:spPr>
          <a:xfrm>
            <a:off x="868680" y="1554480"/>
            <a:ext cx="457200" cy="457200"/>
          </a:xfrm>
          <a:prstGeom prst="rect">
            <a:avLst/>
          </a:prstGeom>
        </p:spPr>
      </p:pic>
      <p:sp>
        <p:nvSpPr>
          <p:cNvPr id="7" name="Text 4"/>
          <p:cNvSpPr/>
          <p:nvPr/>
        </p:nvSpPr>
        <p:spPr>
          <a:xfrm>
            <a:off x="274320" y="2057400"/>
            <a:ext cx="1645920" cy="274320"/>
          </a:xfrm>
          <a:prstGeom prst="rect">
            <a:avLst/>
          </a:prstGeom>
          <a:noFill/>
          <a:ln/>
        </p:spPr>
        <p:txBody>
          <a:bodyPr wrap="square" lIns="0" tIns="0" rIns="0" bIns="0"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申請</a:t>
            </a:r>
            <a:endParaRPr lang="en-US" sz="1200" dirty="0"/>
          </a:p>
        </p:txBody>
      </p:sp>
      <p:sp>
        <p:nvSpPr>
          <p:cNvPr id="8" name="Text 5"/>
          <p:cNvSpPr/>
          <p:nvPr/>
        </p:nvSpPr>
        <p:spPr>
          <a:xfrm>
            <a:off x="274320" y="2331720"/>
            <a:ext cx="1645920" cy="457200"/>
          </a:xfrm>
          <a:prstGeom prst="rect">
            <a:avLst/>
          </a:prstGeom>
          <a:noFill/>
          <a:ln/>
        </p:spPr>
        <p:txBody>
          <a:bodyPr wrap="square" lIns="0" tIns="0" rIns="0" bIns="0" rtlCol="0" anchor="ctr"/>
          <a:lstStyle/>
          <a:p>
            <a:pPr marL="0" indent="0" algn="ctr">
              <a:lnSpc>
                <a:spcPct val="120000"/>
              </a:lnSpc>
              <a:buNone/>
            </a:pPr>
            <a:r>
              <a:rPr lang="en-US" sz="900" dirty="0">
                <a:solidFill>
                  <a:srgbClr val="666666"/>
                </a:solidFill>
                <a:latin typeface="Calibri" pitchFamily="34" charset="0"/>
                <a:ea typeface="Calibri" pitchFamily="34" charset="-122"/>
                <a:cs typeface="Calibri" pitchFamily="34" charset="-120"/>
              </a:rPr>
              <a:t>従業員が</a:t>
            </a:r>
            <a:endParaRPr lang="en-US" sz="900" dirty="0"/>
          </a:p>
          <a:p>
            <a:pPr marL="0" indent="0" algn="ctr">
              <a:lnSpc>
                <a:spcPct val="120000"/>
              </a:lnSpc>
              <a:buNone/>
            </a:pPr>
            <a:r>
              <a:rPr lang="en-US" sz="900" dirty="0">
                <a:solidFill>
                  <a:srgbClr val="666666"/>
                </a:solidFill>
                <a:latin typeface="Calibri" pitchFamily="34" charset="0"/>
                <a:ea typeface="Calibri" pitchFamily="34" charset="-122"/>
                <a:cs typeface="Calibri" pitchFamily="34" charset="-120"/>
              </a:rPr>
              <a:t>申請を提出</a:t>
            </a:r>
            <a:endParaRPr lang="en-US" sz="900" dirty="0"/>
          </a:p>
        </p:txBody>
      </p:sp>
      <p:sp>
        <p:nvSpPr>
          <p:cNvPr id="9" name="Text 6"/>
          <p:cNvSpPr/>
          <p:nvPr/>
        </p:nvSpPr>
        <p:spPr>
          <a:xfrm>
            <a:off x="1920240" y="1554480"/>
            <a:ext cx="731520" cy="457200"/>
          </a:xfrm>
          <a:prstGeom prst="rect">
            <a:avLst/>
          </a:prstGeom>
          <a:noFill/>
          <a:ln/>
        </p:spPr>
        <p:txBody>
          <a:bodyPr wrap="square" lIns="0" tIns="0" rIns="0" bIns="0" rtlCol="0" anchor="ctr"/>
          <a:lstStyle/>
          <a:p>
            <a:pPr marL="0" indent="0" algn="ctr">
              <a:buNone/>
            </a:pPr>
            <a:r>
              <a:rPr lang="en-US" sz="2000" dirty="0">
                <a:solidFill>
                  <a:srgbClr val="C4A855"/>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3246120" y="1005840"/>
            <a:ext cx="457200" cy="457200"/>
          </a:xfrm>
          <a:prstGeom prst="ellipse">
            <a:avLst/>
          </a:prstGeom>
          <a:solidFill>
            <a:srgbClr val="8B7536"/>
          </a:solidFill>
          <a:ln/>
        </p:spPr>
        <p:txBody>
          <a:bodyPr/>
          <a:lstStyle/>
          <a:p>
            <a:endParaRPr lang="ja-JP" altLang="en-US"/>
          </a:p>
        </p:txBody>
      </p:sp>
      <p:sp>
        <p:nvSpPr>
          <p:cNvPr id="11" name="Text 8"/>
          <p:cNvSpPr/>
          <p:nvPr/>
        </p:nvSpPr>
        <p:spPr>
          <a:xfrm>
            <a:off x="3246120" y="10058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pic>
        <p:nvPicPr>
          <p:cNvPr id="12" name="Image 1" descr="preencoded.png"/>
          <p:cNvPicPr>
            <a:picLocks noChangeAspect="1"/>
          </p:cNvPicPr>
          <p:nvPr/>
        </p:nvPicPr>
        <p:blipFill>
          <a:blip r:embed="rId4"/>
          <a:stretch>
            <a:fillRect/>
          </a:stretch>
        </p:blipFill>
        <p:spPr>
          <a:xfrm>
            <a:off x="3246120" y="1554480"/>
            <a:ext cx="457200" cy="457200"/>
          </a:xfrm>
          <a:prstGeom prst="rect">
            <a:avLst/>
          </a:prstGeom>
        </p:spPr>
      </p:pic>
      <p:sp>
        <p:nvSpPr>
          <p:cNvPr id="13" name="Text 9"/>
          <p:cNvSpPr/>
          <p:nvPr/>
        </p:nvSpPr>
        <p:spPr>
          <a:xfrm>
            <a:off x="2651760" y="2057400"/>
            <a:ext cx="1645920" cy="274320"/>
          </a:xfrm>
          <a:prstGeom prst="rect">
            <a:avLst/>
          </a:prstGeom>
          <a:noFill/>
          <a:ln/>
        </p:spPr>
        <p:txBody>
          <a:bodyPr wrap="square" lIns="0" tIns="0" rIns="0" bIns="0"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AIチェック</a:t>
            </a:r>
            <a:endParaRPr lang="en-US" sz="1200" dirty="0"/>
          </a:p>
        </p:txBody>
      </p:sp>
      <p:sp>
        <p:nvSpPr>
          <p:cNvPr id="14" name="Text 10"/>
          <p:cNvSpPr/>
          <p:nvPr/>
        </p:nvSpPr>
        <p:spPr>
          <a:xfrm>
            <a:off x="2651760" y="2331720"/>
            <a:ext cx="1645920" cy="457200"/>
          </a:xfrm>
          <a:prstGeom prst="rect">
            <a:avLst/>
          </a:prstGeom>
          <a:noFill/>
          <a:ln/>
        </p:spPr>
        <p:txBody>
          <a:bodyPr wrap="square" lIns="0" tIns="0" rIns="0" bIns="0" rtlCol="0" anchor="ctr"/>
          <a:lstStyle/>
          <a:p>
            <a:pPr marL="0" indent="0" algn="ctr">
              <a:lnSpc>
                <a:spcPct val="120000"/>
              </a:lnSpc>
              <a:buNone/>
            </a:pPr>
            <a:r>
              <a:rPr lang="en-US" sz="900" dirty="0">
                <a:solidFill>
                  <a:srgbClr val="666666"/>
                </a:solidFill>
                <a:latin typeface="Calibri" pitchFamily="34" charset="0"/>
                <a:ea typeface="Calibri" pitchFamily="34" charset="-122"/>
                <a:cs typeface="Calibri" pitchFamily="34" charset="-120"/>
              </a:rPr>
              <a:t>ルール・AIが</a:t>
            </a:r>
            <a:endParaRPr lang="en-US" sz="900" dirty="0"/>
          </a:p>
          <a:p>
            <a:pPr marL="0" indent="0" algn="ctr">
              <a:lnSpc>
                <a:spcPct val="120000"/>
              </a:lnSpc>
              <a:buNone/>
            </a:pPr>
            <a:r>
              <a:rPr lang="en-US" sz="900" dirty="0">
                <a:solidFill>
                  <a:srgbClr val="666666"/>
                </a:solidFill>
                <a:latin typeface="Calibri" pitchFamily="34" charset="0"/>
                <a:ea typeface="Calibri" pitchFamily="34" charset="-122"/>
                <a:cs typeface="Calibri" pitchFamily="34" charset="-120"/>
              </a:rPr>
              <a:t>自動検証</a:t>
            </a:r>
            <a:endParaRPr lang="en-US" sz="900" dirty="0"/>
          </a:p>
        </p:txBody>
      </p:sp>
      <p:sp>
        <p:nvSpPr>
          <p:cNvPr id="15" name="Text 11"/>
          <p:cNvSpPr/>
          <p:nvPr/>
        </p:nvSpPr>
        <p:spPr>
          <a:xfrm>
            <a:off x="4297680" y="1554480"/>
            <a:ext cx="731520" cy="457200"/>
          </a:xfrm>
          <a:prstGeom prst="rect">
            <a:avLst/>
          </a:prstGeom>
          <a:noFill/>
          <a:ln/>
        </p:spPr>
        <p:txBody>
          <a:bodyPr wrap="square" lIns="0" tIns="0" rIns="0" bIns="0" rtlCol="0" anchor="ctr"/>
          <a:lstStyle/>
          <a:p>
            <a:pPr marL="0" indent="0" algn="ctr">
              <a:buNone/>
            </a:pPr>
            <a:r>
              <a:rPr lang="en-US" sz="2000" dirty="0">
                <a:solidFill>
                  <a:srgbClr val="C4A855"/>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5623560" y="1005840"/>
            <a:ext cx="457200" cy="457200"/>
          </a:xfrm>
          <a:prstGeom prst="ellipse">
            <a:avLst/>
          </a:prstGeom>
          <a:solidFill>
            <a:srgbClr val="8B7536"/>
          </a:solidFill>
          <a:ln/>
        </p:spPr>
        <p:txBody>
          <a:bodyPr/>
          <a:lstStyle/>
          <a:p>
            <a:endParaRPr lang="ja-JP" altLang="en-US"/>
          </a:p>
        </p:txBody>
      </p:sp>
      <p:sp>
        <p:nvSpPr>
          <p:cNvPr id="17" name="Text 13"/>
          <p:cNvSpPr/>
          <p:nvPr/>
        </p:nvSpPr>
        <p:spPr>
          <a:xfrm>
            <a:off x="5623560" y="10058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pic>
        <p:nvPicPr>
          <p:cNvPr id="18" name="Image 2" descr="preencoded.png"/>
          <p:cNvPicPr>
            <a:picLocks noChangeAspect="1"/>
          </p:cNvPicPr>
          <p:nvPr/>
        </p:nvPicPr>
        <p:blipFill>
          <a:blip r:embed="rId5"/>
          <a:stretch>
            <a:fillRect/>
          </a:stretch>
        </p:blipFill>
        <p:spPr>
          <a:xfrm>
            <a:off x="5623560" y="1554480"/>
            <a:ext cx="457200" cy="457200"/>
          </a:xfrm>
          <a:prstGeom prst="rect">
            <a:avLst/>
          </a:prstGeom>
        </p:spPr>
      </p:pic>
      <p:sp>
        <p:nvSpPr>
          <p:cNvPr id="19" name="Text 14"/>
          <p:cNvSpPr/>
          <p:nvPr/>
        </p:nvSpPr>
        <p:spPr>
          <a:xfrm>
            <a:off x="5029200" y="2057400"/>
            <a:ext cx="1645920" cy="274320"/>
          </a:xfrm>
          <a:prstGeom prst="rect">
            <a:avLst/>
          </a:prstGeom>
          <a:noFill/>
          <a:ln/>
        </p:spPr>
        <p:txBody>
          <a:bodyPr wrap="square" lIns="0" tIns="0" rIns="0" bIns="0"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判定</a:t>
            </a:r>
            <a:endParaRPr lang="en-US" sz="1200" dirty="0"/>
          </a:p>
        </p:txBody>
      </p:sp>
      <p:sp>
        <p:nvSpPr>
          <p:cNvPr id="20" name="Text 15"/>
          <p:cNvSpPr/>
          <p:nvPr/>
        </p:nvSpPr>
        <p:spPr>
          <a:xfrm>
            <a:off x="5029200" y="2331720"/>
            <a:ext cx="1645920" cy="457200"/>
          </a:xfrm>
          <a:prstGeom prst="rect">
            <a:avLst/>
          </a:prstGeom>
          <a:noFill/>
          <a:ln/>
        </p:spPr>
        <p:txBody>
          <a:bodyPr wrap="square" lIns="0" tIns="0" rIns="0" bIns="0" rtlCol="0" anchor="ctr"/>
          <a:lstStyle/>
          <a:p>
            <a:pPr marL="0" indent="0" algn="ctr">
              <a:lnSpc>
                <a:spcPct val="120000"/>
              </a:lnSpc>
              <a:buNone/>
            </a:pPr>
            <a:r>
              <a:rPr lang="en-US" sz="900" dirty="0">
                <a:solidFill>
                  <a:srgbClr val="666666"/>
                </a:solidFill>
                <a:latin typeface="Calibri" pitchFamily="34" charset="0"/>
                <a:ea typeface="Calibri" pitchFamily="34" charset="-122"/>
                <a:cs typeface="Calibri" pitchFamily="34" charset="-120"/>
              </a:rPr>
              <a:t>OK / NG / 要確認</a:t>
            </a:r>
            <a:endParaRPr lang="en-US" sz="900" dirty="0"/>
          </a:p>
          <a:p>
            <a:pPr marL="0" indent="0" algn="ctr">
              <a:lnSpc>
                <a:spcPct val="120000"/>
              </a:lnSpc>
              <a:buNone/>
            </a:pPr>
            <a:r>
              <a:rPr lang="en-US" sz="900" dirty="0">
                <a:solidFill>
                  <a:srgbClr val="666666"/>
                </a:solidFill>
                <a:latin typeface="Calibri" pitchFamily="34" charset="0"/>
                <a:ea typeface="Calibri" pitchFamily="34" charset="-122"/>
                <a:cs typeface="Calibri" pitchFamily="34" charset="-120"/>
              </a:rPr>
              <a:t>自動振り分け</a:t>
            </a:r>
            <a:endParaRPr lang="en-US" sz="900" dirty="0"/>
          </a:p>
        </p:txBody>
      </p:sp>
      <p:sp>
        <p:nvSpPr>
          <p:cNvPr id="21" name="Shape 16"/>
          <p:cNvSpPr/>
          <p:nvPr/>
        </p:nvSpPr>
        <p:spPr>
          <a:xfrm>
            <a:off x="274320" y="2788920"/>
            <a:ext cx="2286000" cy="1005840"/>
          </a:xfrm>
          <a:prstGeom prst="rect">
            <a:avLst/>
          </a:prstGeom>
          <a:solidFill>
            <a:srgbClr val="FFFFFF"/>
          </a:solidFill>
          <a:ln w="12700">
            <a:solidFill>
              <a:srgbClr val="E0D9C8"/>
            </a:solidFill>
            <a:prstDash val="solid"/>
          </a:ln>
        </p:spPr>
        <p:txBody>
          <a:bodyPr/>
          <a:lstStyle/>
          <a:p>
            <a:endParaRPr lang="ja-JP" altLang="en-US"/>
          </a:p>
        </p:txBody>
      </p:sp>
      <p:sp>
        <p:nvSpPr>
          <p:cNvPr id="22" name="Shape 17"/>
          <p:cNvSpPr/>
          <p:nvPr/>
        </p:nvSpPr>
        <p:spPr>
          <a:xfrm>
            <a:off x="274320" y="2788920"/>
            <a:ext cx="2286000" cy="274320"/>
          </a:xfrm>
          <a:prstGeom prst="rect">
            <a:avLst/>
          </a:prstGeom>
          <a:solidFill>
            <a:srgbClr val="27AE60"/>
          </a:solidFill>
          <a:ln/>
        </p:spPr>
        <p:txBody>
          <a:bodyPr/>
          <a:lstStyle/>
          <a:p>
            <a:endParaRPr lang="ja-JP" altLang="en-US"/>
          </a:p>
        </p:txBody>
      </p:sp>
      <p:sp>
        <p:nvSpPr>
          <p:cNvPr id="23" name="Text 18"/>
          <p:cNvSpPr/>
          <p:nvPr/>
        </p:nvSpPr>
        <p:spPr>
          <a:xfrm>
            <a:off x="274320" y="2788920"/>
            <a:ext cx="22860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OK → 自動承認</a:t>
            </a:r>
            <a:endParaRPr lang="en-US" sz="1000" dirty="0"/>
          </a:p>
        </p:txBody>
      </p:sp>
      <p:pic>
        <p:nvPicPr>
          <p:cNvPr id="24" name="Image 3" descr="preencoded.png"/>
          <p:cNvPicPr>
            <a:picLocks noChangeAspect="1"/>
          </p:cNvPicPr>
          <p:nvPr/>
        </p:nvPicPr>
        <p:blipFill>
          <a:blip r:embed="rId6"/>
          <a:stretch>
            <a:fillRect/>
          </a:stretch>
        </p:blipFill>
        <p:spPr>
          <a:xfrm>
            <a:off x="411480" y="3154680"/>
            <a:ext cx="320040" cy="320040"/>
          </a:xfrm>
          <a:prstGeom prst="rect">
            <a:avLst/>
          </a:prstGeom>
        </p:spPr>
      </p:pic>
      <p:sp>
        <p:nvSpPr>
          <p:cNvPr id="25" name="Text 19"/>
          <p:cNvSpPr/>
          <p:nvPr/>
        </p:nvSpPr>
        <p:spPr>
          <a:xfrm>
            <a:off x="822960" y="3108960"/>
            <a:ext cx="1645920" cy="502920"/>
          </a:xfrm>
          <a:prstGeom prst="rect">
            <a:avLst/>
          </a:prstGeom>
          <a:noFill/>
          <a:ln/>
        </p:spPr>
        <p:txBody>
          <a:bodyPr wrap="square" lIns="0" tIns="0" rIns="0" bIns="0" rtlCol="0" anchor="ctr"/>
          <a:lstStyle/>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基準適合なら即時承認</a:t>
            </a:r>
            <a:endParaRPr lang="en-US" sz="900" dirty="0"/>
          </a:p>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承認記録を自動保存</a:t>
            </a:r>
            <a:endParaRPr lang="en-US" sz="900" dirty="0"/>
          </a:p>
        </p:txBody>
      </p:sp>
      <p:sp>
        <p:nvSpPr>
          <p:cNvPr id="26" name="Shape 20"/>
          <p:cNvSpPr/>
          <p:nvPr/>
        </p:nvSpPr>
        <p:spPr>
          <a:xfrm>
            <a:off x="3017520" y="2788920"/>
            <a:ext cx="2286000" cy="1005840"/>
          </a:xfrm>
          <a:prstGeom prst="rect">
            <a:avLst/>
          </a:prstGeom>
          <a:solidFill>
            <a:srgbClr val="FFFFFF"/>
          </a:solidFill>
          <a:ln w="12700">
            <a:solidFill>
              <a:srgbClr val="E0D9C8"/>
            </a:solidFill>
            <a:prstDash val="solid"/>
          </a:ln>
        </p:spPr>
        <p:txBody>
          <a:bodyPr/>
          <a:lstStyle/>
          <a:p>
            <a:endParaRPr lang="ja-JP" altLang="en-US"/>
          </a:p>
        </p:txBody>
      </p:sp>
      <p:sp>
        <p:nvSpPr>
          <p:cNvPr id="27" name="Shape 21"/>
          <p:cNvSpPr/>
          <p:nvPr/>
        </p:nvSpPr>
        <p:spPr>
          <a:xfrm>
            <a:off x="3017520" y="2788920"/>
            <a:ext cx="2286000" cy="274320"/>
          </a:xfrm>
          <a:prstGeom prst="rect">
            <a:avLst/>
          </a:prstGeom>
          <a:solidFill>
            <a:srgbClr val="8B7536"/>
          </a:solidFill>
          <a:ln/>
        </p:spPr>
        <p:txBody>
          <a:bodyPr/>
          <a:lstStyle/>
          <a:p>
            <a:endParaRPr lang="ja-JP" altLang="en-US"/>
          </a:p>
        </p:txBody>
      </p:sp>
      <p:sp>
        <p:nvSpPr>
          <p:cNvPr id="28" name="Text 22"/>
          <p:cNvSpPr/>
          <p:nvPr/>
        </p:nvSpPr>
        <p:spPr>
          <a:xfrm>
            <a:off x="3017520" y="2788920"/>
            <a:ext cx="22860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要確認 → 人間レビュー</a:t>
            </a:r>
            <a:endParaRPr lang="en-US" sz="1000" dirty="0"/>
          </a:p>
        </p:txBody>
      </p:sp>
      <p:pic>
        <p:nvPicPr>
          <p:cNvPr id="29" name="Image 4" descr="preencoded.png"/>
          <p:cNvPicPr>
            <a:picLocks noChangeAspect="1"/>
          </p:cNvPicPr>
          <p:nvPr/>
        </p:nvPicPr>
        <p:blipFill>
          <a:blip r:embed="rId7"/>
          <a:stretch>
            <a:fillRect/>
          </a:stretch>
        </p:blipFill>
        <p:spPr>
          <a:xfrm>
            <a:off x="3154680" y="3154680"/>
            <a:ext cx="320040" cy="320040"/>
          </a:xfrm>
          <a:prstGeom prst="rect">
            <a:avLst/>
          </a:prstGeom>
        </p:spPr>
      </p:pic>
      <p:sp>
        <p:nvSpPr>
          <p:cNvPr id="30" name="Text 23"/>
          <p:cNvSpPr/>
          <p:nvPr/>
        </p:nvSpPr>
        <p:spPr>
          <a:xfrm>
            <a:off x="3566160" y="3108960"/>
            <a:ext cx="1645920" cy="502920"/>
          </a:xfrm>
          <a:prstGeom prst="rect">
            <a:avLst/>
          </a:prstGeom>
          <a:noFill/>
          <a:ln/>
        </p:spPr>
        <p:txBody>
          <a:bodyPr wrap="square" lIns="0" tIns="0" rIns="0" bIns="0" rtlCol="0" anchor="ctr"/>
          <a:lstStyle/>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例外・高額案件は</a:t>
            </a:r>
            <a:endParaRPr lang="en-US" sz="900" dirty="0"/>
          </a:p>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担当者が最終判断</a:t>
            </a:r>
            <a:endParaRPr lang="en-US" sz="900" dirty="0"/>
          </a:p>
        </p:txBody>
      </p:sp>
      <p:sp>
        <p:nvSpPr>
          <p:cNvPr id="31" name="Shape 24"/>
          <p:cNvSpPr/>
          <p:nvPr/>
        </p:nvSpPr>
        <p:spPr>
          <a:xfrm>
            <a:off x="5760720" y="2788920"/>
            <a:ext cx="2286000" cy="1005840"/>
          </a:xfrm>
          <a:prstGeom prst="rect">
            <a:avLst/>
          </a:prstGeom>
          <a:solidFill>
            <a:srgbClr val="FFFFFF"/>
          </a:solidFill>
          <a:ln w="12700">
            <a:solidFill>
              <a:srgbClr val="E0D9C8"/>
            </a:solidFill>
            <a:prstDash val="solid"/>
          </a:ln>
        </p:spPr>
        <p:txBody>
          <a:bodyPr/>
          <a:lstStyle/>
          <a:p>
            <a:endParaRPr lang="ja-JP" altLang="en-US"/>
          </a:p>
        </p:txBody>
      </p:sp>
      <p:sp>
        <p:nvSpPr>
          <p:cNvPr id="32" name="Shape 25"/>
          <p:cNvSpPr/>
          <p:nvPr/>
        </p:nvSpPr>
        <p:spPr>
          <a:xfrm>
            <a:off x="5760720" y="2788920"/>
            <a:ext cx="2286000" cy="274320"/>
          </a:xfrm>
          <a:prstGeom prst="rect">
            <a:avLst/>
          </a:prstGeom>
          <a:solidFill>
            <a:srgbClr val="C0392B"/>
          </a:solidFill>
          <a:ln/>
        </p:spPr>
        <p:txBody>
          <a:bodyPr/>
          <a:lstStyle/>
          <a:p>
            <a:endParaRPr lang="ja-JP" altLang="en-US"/>
          </a:p>
        </p:txBody>
      </p:sp>
      <p:sp>
        <p:nvSpPr>
          <p:cNvPr id="33" name="Text 26"/>
          <p:cNvSpPr/>
          <p:nvPr/>
        </p:nvSpPr>
        <p:spPr>
          <a:xfrm>
            <a:off x="5760720" y="2788920"/>
            <a:ext cx="22860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NG → 差し戻し</a:t>
            </a:r>
            <a:endParaRPr lang="en-US" sz="1000" dirty="0"/>
          </a:p>
        </p:txBody>
      </p:sp>
      <p:pic>
        <p:nvPicPr>
          <p:cNvPr id="34" name="Image 5" descr="preencoded.png"/>
          <p:cNvPicPr>
            <a:picLocks noChangeAspect="1"/>
          </p:cNvPicPr>
          <p:nvPr/>
        </p:nvPicPr>
        <p:blipFill>
          <a:blip r:embed="rId8"/>
          <a:stretch>
            <a:fillRect/>
          </a:stretch>
        </p:blipFill>
        <p:spPr>
          <a:xfrm>
            <a:off x="5897880" y="3154680"/>
            <a:ext cx="320040" cy="320040"/>
          </a:xfrm>
          <a:prstGeom prst="rect">
            <a:avLst/>
          </a:prstGeom>
        </p:spPr>
      </p:pic>
      <p:sp>
        <p:nvSpPr>
          <p:cNvPr id="35" name="Text 27"/>
          <p:cNvSpPr/>
          <p:nvPr/>
        </p:nvSpPr>
        <p:spPr>
          <a:xfrm>
            <a:off x="6309360" y="3108960"/>
            <a:ext cx="1645920" cy="502920"/>
          </a:xfrm>
          <a:prstGeom prst="rect">
            <a:avLst/>
          </a:prstGeom>
          <a:noFill/>
          <a:ln/>
        </p:spPr>
        <p:txBody>
          <a:bodyPr wrap="square" lIns="0" tIns="0" rIns="0" bIns="0" rtlCol="0" anchor="ctr"/>
          <a:lstStyle/>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不備・規定違反は</a:t>
            </a:r>
            <a:endParaRPr lang="en-US" sz="900" dirty="0"/>
          </a:p>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理由明示して申請者へ返却</a:t>
            </a:r>
            <a:endParaRPr lang="en-US" sz="900" dirty="0"/>
          </a:p>
        </p:txBody>
      </p:sp>
      <p:sp>
        <p:nvSpPr>
          <p:cNvPr id="36" name="Shape 28"/>
          <p:cNvSpPr/>
          <p:nvPr/>
        </p:nvSpPr>
        <p:spPr>
          <a:xfrm>
            <a:off x="457200" y="3977640"/>
            <a:ext cx="8229600" cy="640080"/>
          </a:xfrm>
          <a:prstGeom prst="rect">
            <a:avLst/>
          </a:prstGeom>
          <a:solidFill>
            <a:srgbClr val="F5F0E6"/>
          </a:solidFill>
          <a:ln w="25400">
            <a:solidFill>
              <a:srgbClr val="C4A855"/>
            </a:solidFill>
            <a:prstDash val="solid"/>
          </a:ln>
        </p:spPr>
        <p:txBody>
          <a:bodyPr/>
          <a:lstStyle/>
          <a:p>
            <a:endParaRPr lang="ja-JP" altLang="en-US"/>
          </a:p>
        </p:txBody>
      </p:sp>
      <p:sp>
        <p:nvSpPr>
          <p:cNvPr id="37" name="Text 29"/>
          <p:cNvSpPr/>
          <p:nvPr/>
        </p:nvSpPr>
        <p:spPr>
          <a:xfrm>
            <a:off x="640080" y="3977640"/>
            <a:ext cx="7863840" cy="640080"/>
          </a:xfrm>
          <a:prstGeom prst="rect">
            <a:avLst/>
          </a:prstGeom>
          <a:noFill/>
          <a:ln/>
        </p:spPr>
        <p:txBody>
          <a:bodyPr wrap="square" lIns="0" tIns="0" rIns="0" bIns="0" rtlCol="0" anchor="ctr"/>
          <a:lstStyle/>
          <a:p>
            <a:pPr marL="0" indent="0">
              <a:buNone/>
            </a:pPr>
            <a:r>
              <a:rPr lang="en-US" sz="1300" b="1" dirty="0">
                <a:solidFill>
                  <a:srgbClr val="8B7536"/>
                </a:solidFill>
                <a:latin typeface="Calibri" pitchFamily="34" charset="0"/>
                <a:ea typeface="Calibri" pitchFamily="34" charset="-122"/>
                <a:cs typeface="Calibri" pitchFamily="34" charset="-120"/>
              </a:rPr>
              <a:t>核心：Human-in-the-Loop  </a:t>
            </a:r>
            <a:r>
              <a:rPr lang="en-US" sz="1100" dirty="0">
                <a:solidFill>
                  <a:srgbClr val="333333"/>
                </a:solidFill>
                <a:latin typeface="Calibri" pitchFamily="34" charset="0"/>
                <a:ea typeface="Calibri" pitchFamily="34" charset="-122"/>
                <a:cs typeface="Calibri" pitchFamily="34" charset="-120"/>
              </a:rPr>
              <a:t>AIが処理できる定型判断は自動化し、例外・判断が必要なケースのみ人間にエスカレーション。完全自動化ではなく「AIと人の最適な分担」がポイント。</a:t>
            </a:r>
            <a:endParaRPr lang="en-US" sz="1300" dirty="0"/>
          </a:p>
        </p:txBody>
      </p:sp>
      <p:sp>
        <p:nvSpPr>
          <p:cNvPr id="38" name="Shape 30"/>
          <p:cNvSpPr/>
          <p:nvPr/>
        </p:nvSpPr>
        <p:spPr>
          <a:xfrm>
            <a:off x="457200" y="4800600"/>
            <a:ext cx="8229600" cy="0"/>
          </a:xfrm>
          <a:prstGeom prst="line">
            <a:avLst/>
          </a:prstGeom>
          <a:noFill/>
          <a:ln w="19050">
            <a:solidFill>
              <a:srgbClr val="C4A855"/>
            </a:solidFill>
            <a:prstDash val="solid"/>
          </a:ln>
        </p:spPr>
        <p:txBody>
          <a:bodyPr/>
          <a:lstStyle/>
          <a:p>
            <a:endParaRPr lang="ja-JP" altLang="en-US"/>
          </a:p>
        </p:txBody>
      </p:sp>
      <p:sp>
        <p:nvSpPr>
          <p:cNvPr id="39" name="Text 31"/>
          <p:cNvSpPr/>
          <p:nvPr/>
        </p:nvSpPr>
        <p:spPr>
          <a:xfrm>
            <a:off x="457200" y="4846320"/>
            <a:ext cx="3657600" cy="22860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H A R M O N I C   i n s i g h t</a:t>
            </a:r>
            <a:endParaRPr lang="en-US" sz="900" dirty="0"/>
          </a:p>
        </p:txBody>
      </p:sp>
      <p:sp>
        <p:nvSpPr>
          <p:cNvPr id="40" name="Text 32"/>
          <p:cNvSpPr/>
          <p:nvPr/>
        </p:nvSpPr>
        <p:spPr>
          <a:xfrm>
            <a:off x="7772400" y="4846320"/>
            <a:ext cx="914400" cy="22860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33333"/>
                </a:solidFill>
                <a:latin typeface="Calibri" pitchFamily="34" charset="0"/>
                <a:ea typeface="Calibri" pitchFamily="34" charset="-122"/>
                <a:cs typeface="Calibri" pitchFamily="34" charset="-120"/>
              </a:rPr>
              <a:t>AIが担う承認チェック機能（一般化）</a:t>
            </a:r>
            <a:endParaRPr lang="en-US" sz="2800" dirty="0"/>
          </a:p>
        </p:txBody>
      </p:sp>
      <p:sp>
        <p:nvSpPr>
          <p:cNvPr id="3" name="Shape 1"/>
          <p:cNvSpPr/>
          <p:nvPr/>
        </p:nvSpPr>
        <p:spPr>
          <a:xfrm>
            <a:off x="457200" y="822960"/>
            <a:ext cx="1828800" cy="0"/>
          </a:xfrm>
          <a:prstGeom prst="line">
            <a:avLst/>
          </a:prstGeom>
          <a:noFill/>
          <a:ln w="38100">
            <a:solidFill>
              <a:srgbClr val="C4A855"/>
            </a:solidFill>
            <a:prstDash val="solid"/>
          </a:ln>
        </p:spPr>
        <p:txBody>
          <a:bodyPr/>
          <a:lstStyle/>
          <a:p>
            <a:endParaRPr lang="ja-JP" altLang="en-US"/>
          </a:p>
        </p:txBody>
      </p:sp>
      <p:sp>
        <p:nvSpPr>
          <p:cNvPr id="4" name="Shape 2"/>
          <p:cNvSpPr/>
          <p:nvPr/>
        </p:nvSpPr>
        <p:spPr>
          <a:xfrm>
            <a:off x="320040" y="1051560"/>
            <a:ext cx="2606040" cy="1554480"/>
          </a:xfrm>
          <a:prstGeom prst="rect">
            <a:avLst/>
          </a:prstGeom>
          <a:solidFill>
            <a:srgbClr val="FFFFFF"/>
          </a:solidFill>
          <a:ln w="12700">
            <a:solidFill>
              <a:srgbClr val="E0D9C8"/>
            </a:solidFill>
            <a:prstDash val="solid"/>
          </a:ln>
        </p:spPr>
        <p:txBody>
          <a:bodyPr/>
          <a:lstStyle/>
          <a:p>
            <a:endParaRPr lang="ja-JP" altLang="en-US"/>
          </a:p>
        </p:txBody>
      </p:sp>
      <p:sp>
        <p:nvSpPr>
          <p:cNvPr id="5" name="Shape 3"/>
          <p:cNvSpPr/>
          <p:nvPr/>
        </p:nvSpPr>
        <p:spPr>
          <a:xfrm>
            <a:off x="411480" y="1143000"/>
            <a:ext cx="365760" cy="365760"/>
          </a:xfrm>
          <a:prstGeom prst="ellipse">
            <a:avLst/>
          </a:prstGeom>
          <a:solidFill>
            <a:srgbClr val="8B7536"/>
          </a:solidFill>
          <a:ln/>
        </p:spPr>
        <p:txBody>
          <a:bodyPr/>
          <a:lstStyle/>
          <a:p>
            <a:endParaRPr lang="ja-JP" altLang="en-US"/>
          </a:p>
        </p:txBody>
      </p:sp>
      <p:sp>
        <p:nvSpPr>
          <p:cNvPr id="6" name="Text 4"/>
          <p:cNvSpPr/>
          <p:nvPr/>
        </p:nvSpPr>
        <p:spPr>
          <a:xfrm>
            <a:off x="411480" y="11430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pic>
        <p:nvPicPr>
          <p:cNvPr id="7" name="Image 0" descr="preencoded.png"/>
          <p:cNvPicPr>
            <a:picLocks noChangeAspect="1"/>
          </p:cNvPicPr>
          <p:nvPr/>
        </p:nvPicPr>
        <p:blipFill>
          <a:blip r:embed="rId3"/>
          <a:stretch>
            <a:fillRect/>
          </a:stretch>
        </p:blipFill>
        <p:spPr>
          <a:xfrm>
            <a:off x="868680" y="1143000"/>
            <a:ext cx="320040" cy="320040"/>
          </a:xfrm>
          <a:prstGeom prst="rect">
            <a:avLst/>
          </a:prstGeom>
        </p:spPr>
      </p:pic>
      <p:sp>
        <p:nvSpPr>
          <p:cNvPr id="8" name="Text 5"/>
          <p:cNvSpPr/>
          <p:nvPr/>
        </p:nvSpPr>
        <p:spPr>
          <a:xfrm>
            <a:off x="1234440" y="1143000"/>
            <a:ext cx="1554480" cy="320040"/>
          </a:xfrm>
          <a:prstGeom prst="rect">
            <a:avLst/>
          </a:prstGeom>
          <a:noFill/>
          <a:ln/>
        </p:spPr>
        <p:txBody>
          <a:bodyPr wrap="square" lIns="0" tIns="0" rIns="0" bIns="0" rtlCol="0" anchor="ctr"/>
          <a:lstStyle/>
          <a:p>
            <a:pPr marL="0" indent="0">
              <a:buNone/>
            </a:pPr>
            <a:r>
              <a:rPr lang="en-US" sz="1200" b="1" dirty="0">
                <a:solidFill>
                  <a:srgbClr val="333333"/>
                </a:solidFill>
                <a:latin typeface="Calibri" pitchFamily="34" charset="0"/>
                <a:ea typeface="Calibri" pitchFamily="34" charset="-122"/>
                <a:cs typeface="Calibri" pitchFamily="34" charset="-120"/>
              </a:rPr>
              <a:t>ルール準拠チェック</a:t>
            </a:r>
            <a:endParaRPr lang="en-US" sz="1200" dirty="0"/>
          </a:p>
        </p:txBody>
      </p:sp>
      <p:sp>
        <p:nvSpPr>
          <p:cNvPr id="9" name="Text 6"/>
          <p:cNvSpPr/>
          <p:nvPr/>
        </p:nvSpPr>
        <p:spPr>
          <a:xfrm>
            <a:off x="457200" y="1600200"/>
            <a:ext cx="2331720" cy="502920"/>
          </a:xfrm>
          <a:prstGeom prst="rect">
            <a:avLst/>
          </a:prstGeom>
          <a:noFill/>
          <a:ln/>
        </p:spPr>
        <p:txBody>
          <a:bodyPr wrap="square" lIns="0" tIns="0" rIns="0" bIns="0" rtlCol="0" anchor="ctr"/>
          <a:lstStyle/>
          <a:p>
            <a:pPr marL="0" indent="0">
              <a:lnSpc>
                <a:spcPct val="120000"/>
              </a:lnSpc>
              <a:buNone/>
            </a:pPr>
            <a:r>
              <a:rPr lang="en-US" sz="1000" dirty="0">
                <a:solidFill>
                  <a:srgbClr val="666666"/>
                </a:solidFill>
                <a:latin typeface="Calibri" pitchFamily="34" charset="0"/>
                <a:ea typeface="Calibri" pitchFamily="34" charset="-122"/>
                <a:cs typeface="Calibri" pitchFamily="34" charset="-120"/>
              </a:rPr>
              <a:t>社内規定・法規制への</a:t>
            </a:r>
            <a:endParaRPr lang="en-US" sz="1000" dirty="0"/>
          </a:p>
          <a:p>
            <a:pPr marL="0" indent="0">
              <a:lnSpc>
                <a:spcPct val="120000"/>
              </a:lnSpc>
              <a:buNone/>
            </a:pPr>
            <a:r>
              <a:rPr lang="en-US" sz="1000" dirty="0">
                <a:solidFill>
                  <a:srgbClr val="666666"/>
                </a:solidFill>
                <a:latin typeface="Calibri" pitchFamily="34" charset="0"/>
                <a:ea typeface="Calibri" pitchFamily="34" charset="-122"/>
                <a:cs typeface="Calibri" pitchFamily="34" charset="-120"/>
              </a:rPr>
              <a:t>適合を自動検証</a:t>
            </a:r>
            <a:endParaRPr lang="en-US" sz="1000" dirty="0"/>
          </a:p>
        </p:txBody>
      </p:sp>
      <p:sp>
        <p:nvSpPr>
          <p:cNvPr id="10" name="Shape 7"/>
          <p:cNvSpPr/>
          <p:nvPr/>
        </p:nvSpPr>
        <p:spPr>
          <a:xfrm>
            <a:off x="457200" y="2148840"/>
            <a:ext cx="2331720" cy="320040"/>
          </a:xfrm>
          <a:prstGeom prst="rect">
            <a:avLst/>
          </a:prstGeom>
          <a:solidFill>
            <a:srgbClr val="F5F0E6"/>
          </a:solidFill>
          <a:ln/>
        </p:spPr>
        <p:txBody>
          <a:bodyPr/>
          <a:lstStyle/>
          <a:p>
            <a:endParaRPr lang="ja-JP" altLang="en-US"/>
          </a:p>
        </p:txBody>
      </p:sp>
      <p:sp>
        <p:nvSpPr>
          <p:cNvPr id="11" name="Text 8"/>
          <p:cNvSpPr/>
          <p:nvPr/>
        </p:nvSpPr>
        <p:spPr>
          <a:xfrm>
            <a:off x="548640" y="2148840"/>
            <a:ext cx="2194560" cy="320040"/>
          </a:xfrm>
          <a:prstGeom prst="rect">
            <a:avLst/>
          </a:prstGeom>
          <a:noFill/>
          <a:ln/>
        </p:spPr>
        <p:txBody>
          <a:bodyPr wrap="square" lIns="0" tIns="0" rIns="0" bIns="0" rtlCol="0" anchor="ctr"/>
          <a:lstStyle/>
          <a:p>
            <a:pPr marL="0" indent="0">
              <a:buNone/>
            </a:pPr>
            <a:r>
              <a:rPr lang="en-US" sz="900" dirty="0">
                <a:solidFill>
                  <a:srgbClr val="8B7536"/>
                </a:solidFill>
                <a:latin typeface="Calibri" pitchFamily="34" charset="0"/>
                <a:ea typeface="Calibri" pitchFamily="34" charset="-122"/>
                <a:cs typeface="Calibri" pitchFamily="34" charset="-120"/>
              </a:rPr>
              <a:t>規定、ポリシー、法令との照合</a:t>
            </a:r>
            <a:endParaRPr lang="en-US" sz="900" dirty="0"/>
          </a:p>
        </p:txBody>
      </p:sp>
      <p:sp>
        <p:nvSpPr>
          <p:cNvPr id="12" name="Shape 9"/>
          <p:cNvSpPr/>
          <p:nvPr/>
        </p:nvSpPr>
        <p:spPr>
          <a:xfrm>
            <a:off x="3200400" y="1051560"/>
            <a:ext cx="2606040" cy="1554480"/>
          </a:xfrm>
          <a:prstGeom prst="rect">
            <a:avLst/>
          </a:prstGeom>
          <a:solidFill>
            <a:srgbClr val="FFFFFF"/>
          </a:solidFill>
          <a:ln w="12700">
            <a:solidFill>
              <a:srgbClr val="E0D9C8"/>
            </a:solidFill>
            <a:prstDash val="solid"/>
          </a:ln>
        </p:spPr>
        <p:txBody>
          <a:bodyPr/>
          <a:lstStyle/>
          <a:p>
            <a:endParaRPr lang="ja-JP" altLang="en-US"/>
          </a:p>
        </p:txBody>
      </p:sp>
      <p:sp>
        <p:nvSpPr>
          <p:cNvPr id="13" name="Shape 10"/>
          <p:cNvSpPr/>
          <p:nvPr/>
        </p:nvSpPr>
        <p:spPr>
          <a:xfrm>
            <a:off x="3291840" y="1143000"/>
            <a:ext cx="365760" cy="365760"/>
          </a:xfrm>
          <a:prstGeom prst="ellipse">
            <a:avLst/>
          </a:prstGeom>
          <a:solidFill>
            <a:srgbClr val="8B7536"/>
          </a:solidFill>
          <a:ln/>
        </p:spPr>
        <p:txBody>
          <a:bodyPr/>
          <a:lstStyle/>
          <a:p>
            <a:endParaRPr lang="ja-JP" altLang="en-US"/>
          </a:p>
        </p:txBody>
      </p:sp>
      <p:sp>
        <p:nvSpPr>
          <p:cNvPr id="14" name="Text 11"/>
          <p:cNvSpPr/>
          <p:nvPr/>
        </p:nvSpPr>
        <p:spPr>
          <a:xfrm>
            <a:off x="3291840" y="11430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pic>
        <p:nvPicPr>
          <p:cNvPr id="15" name="Image 1" descr="preencoded.png"/>
          <p:cNvPicPr>
            <a:picLocks noChangeAspect="1"/>
          </p:cNvPicPr>
          <p:nvPr/>
        </p:nvPicPr>
        <p:blipFill>
          <a:blip r:embed="rId4"/>
          <a:stretch>
            <a:fillRect/>
          </a:stretch>
        </p:blipFill>
        <p:spPr>
          <a:xfrm>
            <a:off x="3749040" y="1143000"/>
            <a:ext cx="320040" cy="320040"/>
          </a:xfrm>
          <a:prstGeom prst="rect">
            <a:avLst/>
          </a:prstGeom>
        </p:spPr>
      </p:pic>
      <p:sp>
        <p:nvSpPr>
          <p:cNvPr id="16" name="Text 12"/>
          <p:cNvSpPr/>
          <p:nvPr/>
        </p:nvSpPr>
        <p:spPr>
          <a:xfrm>
            <a:off x="4114800" y="1143000"/>
            <a:ext cx="1554480" cy="320040"/>
          </a:xfrm>
          <a:prstGeom prst="rect">
            <a:avLst/>
          </a:prstGeom>
          <a:noFill/>
          <a:ln/>
        </p:spPr>
        <p:txBody>
          <a:bodyPr wrap="square" lIns="0" tIns="0" rIns="0" bIns="0" rtlCol="0" anchor="ctr"/>
          <a:lstStyle/>
          <a:p>
            <a:pPr marL="0" indent="0">
              <a:buNone/>
            </a:pPr>
            <a:r>
              <a:rPr lang="en-US" sz="1200" b="1" dirty="0">
                <a:solidFill>
                  <a:srgbClr val="333333"/>
                </a:solidFill>
                <a:latin typeface="Calibri" pitchFamily="34" charset="0"/>
                <a:ea typeface="Calibri" pitchFamily="34" charset="-122"/>
                <a:cs typeface="Calibri" pitchFamily="34" charset="-120"/>
              </a:rPr>
              <a:t>書類・データ完全性</a:t>
            </a:r>
            <a:endParaRPr lang="en-US" sz="1200" dirty="0"/>
          </a:p>
        </p:txBody>
      </p:sp>
      <p:sp>
        <p:nvSpPr>
          <p:cNvPr id="17" name="Text 13"/>
          <p:cNvSpPr/>
          <p:nvPr/>
        </p:nvSpPr>
        <p:spPr>
          <a:xfrm>
            <a:off x="3337560" y="1600200"/>
            <a:ext cx="2331720" cy="502920"/>
          </a:xfrm>
          <a:prstGeom prst="rect">
            <a:avLst/>
          </a:prstGeom>
          <a:noFill/>
          <a:ln/>
        </p:spPr>
        <p:txBody>
          <a:bodyPr wrap="square" lIns="0" tIns="0" rIns="0" bIns="0" rtlCol="0" anchor="ctr"/>
          <a:lstStyle/>
          <a:p>
            <a:pPr marL="0" indent="0">
              <a:lnSpc>
                <a:spcPct val="120000"/>
              </a:lnSpc>
              <a:buNone/>
            </a:pPr>
            <a:r>
              <a:rPr lang="en-US" sz="1000" dirty="0">
                <a:solidFill>
                  <a:srgbClr val="666666"/>
                </a:solidFill>
                <a:latin typeface="Calibri" pitchFamily="34" charset="0"/>
                <a:ea typeface="Calibri" pitchFamily="34" charset="-122"/>
                <a:cs typeface="Calibri" pitchFamily="34" charset="-120"/>
              </a:rPr>
              <a:t>必要書類の添付漏れ、</a:t>
            </a:r>
            <a:endParaRPr lang="en-US" sz="1000" dirty="0"/>
          </a:p>
          <a:p>
            <a:pPr marL="0" indent="0">
              <a:lnSpc>
                <a:spcPct val="120000"/>
              </a:lnSpc>
              <a:buNone/>
            </a:pPr>
            <a:r>
              <a:rPr lang="en-US" sz="1000" dirty="0">
                <a:solidFill>
                  <a:srgbClr val="666666"/>
                </a:solidFill>
                <a:latin typeface="Calibri" pitchFamily="34" charset="0"/>
                <a:ea typeface="Calibri" pitchFamily="34" charset="-122"/>
                <a:cs typeface="Calibri" pitchFamily="34" charset="-120"/>
              </a:rPr>
              <a:t>必須項目の記入漏れ検出</a:t>
            </a:r>
            <a:endParaRPr lang="en-US" sz="1000" dirty="0"/>
          </a:p>
        </p:txBody>
      </p:sp>
      <p:sp>
        <p:nvSpPr>
          <p:cNvPr id="18" name="Shape 14"/>
          <p:cNvSpPr/>
          <p:nvPr/>
        </p:nvSpPr>
        <p:spPr>
          <a:xfrm>
            <a:off x="3337560" y="2148840"/>
            <a:ext cx="2331720" cy="320040"/>
          </a:xfrm>
          <a:prstGeom prst="rect">
            <a:avLst/>
          </a:prstGeom>
          <a:solidFill>
            <a:srgbClr val="F5F0E6"/>
          </a:solidFill>
          <a:ln/>
        </p:spPr>
        <p:txBody>
          <a:bodyPr/>
          <a:lstStyle/>
          <a:p>
            <a:endParaRPr lang="ja-JP" altLang="en-US"/>
          </a:p>
        </p:txBody>
      </p:sp>
      <p:sp>
        <p:nvSpPr>
          <p:cNvPr id="19" name="Text 15"/>
          <p:cNvSpPr/>
          <p:nvPr/>
        </p:nvSpPr>
        <p:spPr>
          <a:xfrm>
            <a:off x="3429000" y="2148840"/>
            <a:ext cx="2194560" cy="320040"/>
          </a:xfrm>
          <a:prstGeom prst="rect">
            <a:avLst/>
          </a:prstGeom>
          <a:noFill/>
          <a:ln/>
        </p:spPr>
        <p:txBody>
          <a:bodyPr wrap="square" lIns="0" tIns="0" rIns="0" bIns="0" rtlCol="0" anchor="ctr"/>
          <a:lstStyle/>
          <a:p>
            <a:pPr marL="0" indent="0">
              <a:buNone/>
            </a:pPr>
            <a:r>
              <a:rPr lang="en-US" sz="900" dirty="0">
                <a:solidFill>
                  <a:srgbClr val="8B7536"/>
                </a:solidFill>
                <a:latin typeface="Calibri" pitchFamily="34" charset="0"/>
                <a:ea typeface="Calibri" pitchFamily="34" charset="-122"/>
                <a:cs typeface="Calibri" pitchFamily="34" charset="-120"/>
              </a:rPr>
              <a:t>領収書、契約書、証明書類の確認</a:t>
            </a:r>
            <a:endParaRPr lang="en-US" sz="900" dirty="0"/>
          </a:p>
        </p:txBody>
      </p:sp>
      <p:sp>
        <p:nvSpPr>
          <p:cNvPr id="20" name="Shape 16"/>
          <p:cNvSpPr/>
          <p:nvPr/>
        </p:nvSpPr>
        <p:spPr>
          <a:xfrm>
            <a:off x="6080760" y="1051560"/>
            <a:ext cx="2606040" cy="1554480"/>
          </a:xfrm>
          <a:prstGeom prst="rect">
            <a:avLst/>
          </a:prstGeom>
          <a:solidFill>
            <a:srgbClr val="FFFFFF"/>
          </a:solidFill>
          <a:ln w="12700">
            <a:solidFill>
              <a:srgbClr val="E0D9C8"/>
            </a:solidFill>
            <a:prstDash val="solid"/>
          </a:ln>
        </p:spPr>
        <p:txBody>
          <a:bodyPr/>
          <a:lstStyle/>
          <a:p>
            <a:endParaRPr lang="ja-JP" altLang="en-US"/>
          </a:p>
        </p:txBody>
      </p:sp>
      <p:sp>
        <p:nvSpPr>
          <p:cNvPr id="21" name="Shape 17"/>
          <p:cNvSpPr/>
          <p:nvPr/>
        </p:nvSpPr>
        <p:spPr>
          <a:xfrm>
            <a:off x="6172200" y="1143000"/>
            <a:ext cx="365760" cy="365760"/>
          </a:xfrm>
          <a:prstGeom prst="ellipse">
            <a:avLst/>
          </a:prstGeom>
          <a:solidFill>
            <a:srgbClr val="8B7536"/>
          </a:solidFill>
          <a:ln/>
        </p:spPr>
        <p:txBody>
          <a:bodyPr/>
          <a:lstStyle/>
          <a:p>
            <a:endParaRPr lang="ja-JP" altLang="en-US"/>
          </a:p>
        </p:txBody>
      </p:sp>
      <p:sp>
        <p:nvSpPr>
          <p:cNvPr id="22" name="Text 18"/>
          <p:cNvSpPr/>
          <p:nvPr/>
        </p:nvSpPr>
        <p:spPr>
          <a:xfrm>
            <a:off x="6172200" y="11430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pic>
        <p:nvPicPr>
          <p:cNvPr id="23" name="Image 2" descr="preencoded.png"/>
          <p:cNvPicPr>
            <a:picLocks noChangeAspect="1"/>
          </p:cNvPicPr>
          <p:nvPr/>
        </p:nvPicPr>
        <p:blipFill>
          <a:blip r:embed="rId5"/>
          <a:stretch>
            <a:fillRect/>
          </a:stretch>
        </p:blipFill>
        <p:spPr>
          <a:xfrm>
            <a:off x="6629400" y="1143000"/>
            <a:ext cx="320040" cy="320040"/>
          </a:xfrm>
          <a:prstGeom prst="rect">
            <a:avLst/>
          </a:prstGeom>
        </p:spPr>
      </p:pic>
      <p:sp>
        <p:nvSpPr>
          <p:cNvPr id="24" name="Text 19"/>
          <p:cNvSpPr/>
          <p:nvPr/>
        </p:nvSpPr>
        <p:spPr>
          <a:xfrm>
            <a:off x="6995160" y="1143000"/>
            <a:ext cx="1554480" cy="320040"/>
          </a:xfrm>
          <a:prstGeom prst="rect">
            <a:avLst/>
          </a:prstGeom>
          <a:noFill/>
          <a:ln/>
        </p:spPr>
        <p:txBody>
          <a:bodyPr wrap="square" lIns="0" tIns="0" rIns="0" bIns="0" rtlCol="0" anchor="ctr"/>
          <a:lstStyle/>
          <a:p>
            <a:pPr marL="0" indent="0">
              <a:buNone/>
            </a:pPr>
            <a:r>
              <a:rPr lang="en-US" sz="1200" b="1" dirty="0">
                <a:solidFill>
                  <a:srgbClr val="333333"/>
                </a:solidFill>
                <a:latin typeface="Calibri" pitchFamily="34" charset="0"/>
                <a:ea typeface="Calibri" pitchFamily="34" charset="-122"/>
                <a:cs typeface="Calibri" pitchFamily="34" charset="-120"/>
              </a:rPr>
              <a:t>整合性・妥当性検証</a:t>
            </a:r>
            <a:endParaRPr lang="en-US" sz="1200" dirty="0"/>
          </a:p>
        </p:txBody>
      </p:sp>
      <p:sp>
        <p:nvSpPr>
          <p:cNvPr id="25" name="Text 20"/>
          <p:cNvSpPr/>
          <p:nvPr/>
        </p:nvSpPr>
        <p:spPr>
          <a:xfrm>
            <a:off x="6217920" y="1600200"/>
            <a:ext cx="2331720" cy="502920"/>
          </a:xfrm>
          <a:prstGeom prst="rect">
            <a:avLst/>
          </a:prstGeom>
          <a:noFill/>
          <a:ln/>
        </p:spPr>
        <p:txBody>
          <a:bodyPr wrap="square" lIns="0" tIns="0" rIns="0" bIns="0" rtlCol="0" anchor="ctr"/>
          <a:lstStyle/>
          <a:p>
            <a:pPr marL="0" indent="0">
              <a:lnSpc>
                <a:spcPct val="120000"/>
              </a:lnSpc>
              <a:buNone/>
            </a:pPr>
            <a:r>
              <a:rPr lang="en-US" sz="1000" dirty="0">
                <a:solidFill>
                  <a:srgbClr val="666666"/>
                </a:solidFill>
                <a:latin typeface="Calibri" pitchFamily="34" charset="0"/>
                <a:ea typeface="Calibri" pitchFamily="34" charset="-122"/>
                <a:cs typeface="Calibri" pitchFamily="34" charset="-120"/>
              </a:rPr>
              <a:t>金額・日付・分類の</a:t>
            </a:r>
            <a:endParaRPr lang="en-US" sz="1000" dirty="0"/>
          </a:p>
          <a:p>
            <a:pPr marL="0" indent="0">
              <a:lnSpc>
                <a:spcPct val="120000"/>
              </a:lnSpc>
              <a:buNone/>
            </a:pPr>
            <a:r>
              <a:rPr lang="en-US" sz="1000" dirty="0">
                <a:solidFill>
                  <a:srgbClr val="666666"/>
                </a:solidFill>
                <a:latin typeface="Calibri" pitchFamily="34" charset="0"/>
                <a:ea typeface="Calibri" pitchFamily="34" charset="-122"/>
                <a:cs typeface="Calibri" pitchFamily="34" charset="-120"/>
              </a:rPr>
              <a:t>論理的整合性を確認</a:t>
            </a:r>
            <a:endParaRPr lang="en-US" sz="1000" dirty="0"/>
          </a:p>
        </p:txBody>
      </p:sp>
      <p:sp>
        <p:nvSpPr>
          <p:cNvPr id="26" name="Shape 21"/>
          <p:cNvSpPr/>
          <p:nvPr/>
        </p:nvSpPr>
        <p:spPr>
          <a:xfrm>
            <a:off x="6217920" y="2148840"/>
            <a:ext cx="2331720" cy="320040"/>
          </a:xfrm>
          <a:prstGeom prst="rect">
            <a:avLst/>
          </a:prstGeom>
          <a:solidFill>
            <a:srgbClr val="F5F0E6"/>
          </a:solidFill>
          <a:ln/>
        </p:spPr>
        <p:txBody>
          <a:bodyPr/>
          <a:lstStyle/>
          <a:p>
            <a:endParaRPr lang="ja-JP" altLang="en-US"/>
          </a:p>
        </p:txBody>
      </p:sp>
      <p:sp>
        <p:nvSpPr>
          <p:cNvPr id="27" name="Text 22"/>
          <p:cNvSpPr/>
          <p:nvPr/>
        </p:nvSpPr>
        <p:spPr>
          <a:xfrm>
            <a:off x="6309360" y="2148840"/>
            <a:ext cx="2194560" cy="320040"/>
          </a:xfrm>
          <a:prstGeom prst="rect">
            <a:avLst/>
          </a:prstGeom>
          <a:noFill/>
          <a:ln/>
        </p:spPr>
        <p:txBody>
          <a:bodyPr wrap="square" lIns="0" tIns="0" rIns="0" bIns="0" rtlCol="0" anchor="ctr"/>
          <a:lstStyle/>
          <a:p>
            <a:pPr marL="0" indent="0">
              <a:buNone/>
            </a:pPr>
            <a:r>
              <a:rPr lang="en-US" sz="900" dirty="0">
                <a:solidFill>
                  <a:srgbClr val="8B7536"/>
                </a:solidFill>
                <a:latin typeface="Calibri" pitchFamily="34" charset="0"/>
                <a:ea typeface="Calibri" pitchFamily="34" charset="-122"/>
                <a:cs typeface="Calibri" pitchFamily="34" charset="-120"/>
              </a:rPr>
              <a:t>科目、数値範囲、日付矛盾の検出</a:t>
            </a:r>
            <a:endParaRPr lang="en-US" sz="900" dirty="0"/>
          </a:p>
        </p:txBody>
      </p:sp>
      <p:sp>
        <p:nvSpPr>
          <p:cNvPr id="28" name="Shape 23"/>
          <p:cNvSpPr/>
          <p:nvPr/>
        </p:nvSpPr>
        <p:spPr>
          <a:xfrm>
            <a:off x="1737360" y="2926080"/>
            <a:ext cx="2606040" cy="1554480"/>
          </a:xfrm>
          <a:prstGeom prst="rect">
            <a:avLst/>
          </a:prstGeom>
          <a:solidFill>
            <a:srgbClr val="FFFFFF"/>
          </a:solidFill>
          <a:ln w="12700">
            <a:solidFill>
              <a:srgbClr val="E0D9C8"/>
            </a:solidFill>
            <a:prstDash val="solid"/>
          </a:ln>
        </p:spPr>
        <p:txBody>
          <a:bodyPr/>
          <a:lstStyle/>
          <a:p>
            <a:endParaRPr lang="ja-JP" altLang="en-US"/>
          </a:p>
        </p:txBody>
      </p:sp>
      <p:sp>
        <p:nvSpPr>
          <p:cNvPr id="29" name="Shape 24"/>
          <p:cNvSpPr/>
          <p:nvPr/>
        </p:nvSpPr>
        <p:spPr>
          <a:xfrm>
            <a:off x="1828800" y="3017520"/>
            <a:ext cx="365760" cy="365760"/>
          </a:xfrm>
          <a:prstGeom prst="ellipse">
            <a:avLst/>
          </a:prstGeom>
          <a:solidFill>
            <a:srgbClr val="8B7536"/>
          </a:solidFill>
          <a:ln/>
        </p:spPr>
        <p:txBody>
          <a:bodyPr/>
          <a:lstStyle/>
          <a:p>
            <a:endParaRPr lang="ja-JP" altLang="en-US"/>
          </a:p>
        </p:txBody>
      </p:sp>
      <p:sp>
        <p:nvSpPr>
          <p:cNvPr id="30" name="Text 25"/>
          <p:cNvSpPr/>
          <p:nvPr/>
        </p:nvSpPr>
        <p:spPr>
          <a:xfrm>
            <a:off x="1828800" y="30175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pic>
        <p:nvPicPr>
          <p:cNvPr id="31" name="Image 3" descr="preencoded.png"/>
          <p:cNvPicPr>
            <a:picLocks noChangeAspect="1"/>
          </p:cNvPicPr>
          <p:nvPr/>
        </p:nvPicPr>
        <p:blipFill>
          <a:blip r:embed="rId6"/>
          <a:stretch>
            <a:fillRect/>
          </a:stretch>
        </p:blipFill>
        <p:spPr>
          <a:xfrm>
            <a:off x="2286000" y="3017520"/>
            <a:ext cx="320040" cy="320040"/>
          </a:xfrm>
          <a:prstGeom prst="rect">
            <a:avLst/>
          </a:prstGeom>
        </p:spPr>
      </p:pic>
      <p:sp>
        <p:nvSpPr>
          <p:cNvPr id="32" name="Text 26"/>
          <p:cNvSpPr/>
          <p:nvPr/>
        </p:nvSpPr>
        <p:spPr>
          <a:xfrm>
            <a:off x="2651760" y="3017520"/>
            <a:ext cx="1554480" cy="320040"/>
          </a:xfrm>
          <a:prstGeom prst="rect">
            <a:avLst/>
          </a:prstGeom>
          <a:noFill/>
          <a:ln/>
        </p:spPr>
        <p:txBody>
          <a:bodyPr wrap="square" lIns="0" tIns="0" rIns="0" bIns="0" rtlCol="0" anchor="ctr"/>
          <a:lstStyle/>
          <a:p>
            <a:pPr marL="0" indent="0">
              <a:buNone/>
            </a:pPr>
            <a:r>
              <a:rPr lang="en-US" sz="1200" b="1" dirty="0">
                <a:solidFill>
                  <a:srgbClr val="333333"/>
                </a:solidFill>
                <a:latin typeface="Calibri" pitchFamily="34" charset="0"/>
                <a:ea typeface="Calibri" pitchFamily="34" charset="-122"/>
                <a:cs typeface="Calibri" pitchFamily="34" charset="-120"/>
              </a:rPr>
              <a:t>コンプライアンス確認</a:t>
            </a:r>
            <a:endParaRPr lang="en-US" sz="1200" dirty="0"/>
          </a:p>
        </p:txBody>
      </p:sp>
      <p:sp>
        <p:nvSpPr>
          <p:cNvPr id="33" name="Text 27"/>
          <p:cNvSpPr/>
          <p:nvPr/>
        </p:nvSpPr>
        <p:spPr>
          <a:xfrm>
            <a:off x="1874520" y="3474720"/>
            <a:ext cx="2331720" cy="502920"/>
          </a:xfrm>
          <a:prstGeom prst="rect">
            <a:avLst/>
          </a:prstGeom>
          <a:noFill/>
          <a:ln/>
        </p:spPr>
        <p:txBody>
          <a:bodyPr wrap="square" lIns="0" tIns="0" rIns="0" bIns="0" rtlCol="0" anchor="ctr"/>
          <a:lstStyle/>
          <a:p>
            <a:pPr marL="0" indent="0">
              <a:lnSpc>
                <a:spcPct val="120000"/>
              </a:lnSpc>
              <a:buNone/>
            </a:pPr>
            <a:r>
              <a:rPr lang="en-US" sz="1000" dirty="0">
                <a:solidFill>
                  <a:srgbClr val="666666"/>
                </a:solidFill>
                <a:latin typeface="Calibri" pitchFamily="34" charset="0"/>
                <a:ea typeface="Calibri" pitchFamily="34" charset="-122"/>
                <a:cs typeface="Calibri" pitchFamily="34" charset="-120"/>
              </a:rPr>
              <a:t>法的要件・外部基準</a:t>
            </a:r>
            <a:endParaRPr lang="en-US" sz="1000" dirty="0"/>
          </a:p>
          <a:p>
            <a:pPr marL="0" indent="0">
              <a:lnSpc>
                <a:spcPct val="120000"/>
              </a:lnSpc>
              <a:buNone/>
            </a:pPr>
            <a:r>
              <a:rPr lang="en-US" sz="1000" dirty="0">
                <a:solidFill>
                  <a:srgbClr val="666666"/>
                </a:solidFill>
                <a:latin typeface="Calibri" pitchFamily="34" charset="0"/>
                <a:ea typeface="Calibri" pitchFamily="34" charset="-122"/>
                <a:cs typeface="Calibri" pitchFamily="34" charset="-120"/>
              </a:rPr>
              <a:t>への準拠を検証</a:t>
            </a:r>
            <a:endParaRPr lang="en-US" sz="1000" dirty="0"/>
          </a:p>
        </p:txBody>
      </p:sp>
      <p:sp>
        <p:nvSpPr>
          <p:cNvPr id="34" name="Shape 28"/>
          <p:cNvSpPr/>
          <p:nvPr/>
        </p:nvSpPr>
        <p:spPr>
          <a:xfrm>
            <a:off x="1874520" y="4023360"/>
            <a:ext cx="2331720" cy="320040"/>
          </a:xfrm>
          <a:prstGeom prst="rect">
            <a:avLst/>
          </a:prstGeom>
          <a:solidFill>
            <a:srgbClr val="F5F0E6"/>
          </a:solidFill>
          <a:ln/>
        </p:spPr>
        <p:txBody>
          <a:bodyPr/>
          <a:lstStyle/>
          <a:p>
            <a:endParaRPr lang="ja-JP" altLang="en-US"/>
          </a:p>
        </p:txBody>
      </p:sp>
      <p:sp>
        <p:nvSpPr>
          <p:cNvPr id="35" name="Text 29"/>
          <p:cNvSpPr/>
          <p:nvPr/>
        </p:nvSpPr>
        <p:spPr>
          <a:xfrm>
            <a:off x="1965960" y="4023360"/>
            <a:ext cx="2194560" cy="320040"/>
          </a:xfrm>
          <a:prstGeom prst="rect">
            <a:avLst/>
          </a:prstGeom>
          <a:noFill/>
          <a:ln/>
        </p:spPr>
        <p:txBody>
          <a:bodyPr wrap="square" lIns="0" tIns="0" rIns="0" bIns="0" rtlCol="0" anchor="ctr"/>
          <a:lstStyle/>
          <a:p>
            <a:pPr marL="0" indent="0">
              <a:buNone/>
            </a:pPr>
            <a:r>
              <a:rPr lang="en-US" sz="900" dirty="0">
                <a:solidFill>
                  <a:srgbClr val="8B7536"/>
                </a:solidFill>
                <a:latin typeface="Calibri" pitchFamily="34" charset="0"/>
                <a:ea typeface="Calibri" pitchFamily="34" charset="-122"/>
                <a:cs typeface="Calibri" pitchFamily="34" charset="-120"/>
              </a:rPr>
              <a:t>インボイス番号、税務要件の確認</a:t>
            </a:r>
            <a:endParaRPr lang="en-US" sz="900" dirty="0"/>
          </a:p>
        </p:txBody>
      </p:sp>
      <p:sp>
        <p:nvSpPr>
          <p:cNvPr id="36" name="Shape 30"/>
          <p:cNvSpPr/>
          <p:nvPr/>
        </p:nvSpPr>
        <p:spPr>
          <a:xfrm>
            <a:off x="4617720" y="2926080"/>
            <a:ext cx="2606040" cy="1554480"/>
          </a:xfrm>
          <a:prstGeom prst="rect">
            <a:avLst/>
          </a:prstGeom>
          <a:solidFill>
            <a:srgbClr val="FFFFFF"/>
          </a:solidFill>
          <a:ln w="12700">
            <a:solidFill>
              <a:srgbClr val="E0D9C8"/>
            </a:solidFill>
            <a:prstDash val="solid"/>
          </a:ln>
        </p:spPr>
        <p:txBody>
          <a:bodyPr/>
          <a:lstStyle/>
          <a:p>
            <a:endParaRPr lang="ja-JP" altLang="en-US"/>
          </a:p>
        </p:txBody>
      </p:sp>
      <p:sp>
        <p:nvSpPr>
          <p:cNvPr id="37" name="Shape 31"/>
          <p:cNvSpPr/>
          <p:nvPr/>
        </p:nvSpPr>
        <p:spPr>
          <a:xfrm>
            <a:off x="4709160" y="3017520"/>
            <a:ext cx="365760" cy="365760"/>
          </a:xfrm>
          <a:prstGeom prst="ellipse">
            <a:avLst/>
          </a:prstGeom>
          <a:solidFill>
            <a:srgbClr val="8B7536"/>
          </a:solidFill>
          <a:ln/>
        </p:spPr>
        <p:txBody>
          <a:bodyPr/>
          <a:lstStyle/>
          <a:p>
            <a:endParaRPr lang="ja-JP" altLang="en-US"/>
          </a:p>
        </p:txBody>
      </p:sp>
      <p:sp>
        <p:nvSpPr>
          <p:cNvPr id="38" name="Text 32"/>
          <p:cNvSpPr/>
          <p:nvPr/>
        </p:nvSpPr>
        <p:spPr>
          <a:xfrm>
            <a:off x="4709160" y="30175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pic>
        <p:nvPicPr>
          <p:cNvPr id="39" name="Image 4" descr="preencoded.png"/>
          <p:cNvPicPr>
            <a:picLocks noChangeAspect="1"/>
          </p:cNvPicPr>
          <p:nvPr/>
        </p:nvPicPr>
        <p:blipFill>
          <a:blip r:embed="rId7"/>
          <a:stretch>
            <a:fillRect/>
          </a:stretch>
        </p:blipFill>
        <p:spPr>
          <a:xfrm>
            <a:off x="5166360" y="3017520"/>
            <a:ext cx="320040" cy="320040"/>
          </a:xfrm>
          <a:prstGeom prst="rect">
            <a:avLst/>
          </a:prstGeom>
        </p:spPr>
      </p:pic>
      <p:sp>
        <p:nvSpPr>
          <p:cNvPr id="40" name="Text 33"/>
          <p:cNvSpPr/>
          <p:nvPr/>
        </p:nvSpPr>
        <p:spPr>
          <a:xfrm>
            <a:off x="5532120" y="3017520"/>
            <a:ext cx="1554480" cy="320040"/>
          </a:xfrm>
          <a:prstGeom prst="rect">
            <a:avLst/>
          </a:prstGeom>
          <a:noFill/>
          <a:ln/>
        </p:spPr>
        <p:txBody>
          <a:bodyPr wrap="square" lIns="0" tIns="0" rIns="0" bIns="0" rtlCol="0" anchor="ctr"/>
          <a:lstStyle/>
          <a:p>
            <a:pPr marL="0" indent="0">
              <a:buNone/>
            </a:pPr>
            <a:r>
              <a:rPr lang="en-US" sz="1200" b="1" dirty="0">
                <a:solidFill>
                  <a:srgbClr val="333333"/>
                </a:solidFill>
                <a:latin typeface="Calibri" pitchFamily="34" charset="0"/>
                <a:ea typeface="Calibri" pitchFamily="34" charset="-122"/>
                <a:cs typeface="Calibri" pitchFamily="34" charset="-120"/>
              </a:rPr>
              <a:t>異常検知・リスク評価</a:t>
            </a:r>
            <a:endParaRPr lang="en-US" sz="1200" dirty="0"/>
          </a:p>
        </p:txBody>
      </p:sp>
      <p:sp>
        <p:nvSpPr>
          <p:cNvPr id="41" name="Text 34"/>
          <p:cNvSpPr/>
          <p:nvPr/>
        </p:nvSpPr>
        <p:spPr>
          <a:xfrm>
            <a:off x="4754880" y="3474720"/>
            <a:ext cx="2331720" cy="502920"/>
          </a:xfrm>
          <a:prstGeom prst="rect">
            <a:avLst/>
          </a:prstGeom>
          <a:noFill/>
          <a:ln/>
        </p:spPr>
        <p:txBody>
          <a:bodyPr wrap="square" lIns="0" tIns="0" rIns="0" bIns="0" rtlCol="0" anchor="ctr"/>
          <a:lstStyle/>
          <a:p>
            <a:pPr marL="0" indent="0">
              <a:lnSpc>
                <a:spcPct val="120000"/>
              </a:lnSpc>
              <a:buNone/>
            </a:pPr>
            <a:r>
              <a:rPr lang="en-US" sz="1000" dirty="0">
                <a:solidFill>
                  <a:srgbClr val="666666"/>
                </a:solidFill>
                <a:latin typeface="Calibri" pitchFamily="34" charset="0"/>
                <a:ea typeface="Calibri" pitchFamily="34" charset="-122"/>
                <a:cs typeface="Calibri" pitchFamily="34" charset="-120"/>
              </a:rPr>
              <a:t>過去データとの比較で</a:t>
            </a:r>
            <a:endParaRPr lang="en-US" sz="1000" dirty="0"/>
          </a:p>
          <a:p>
            <a:pPr marL="0" indent="0">
              <a:lnSpc>
                <a:spcPct val="120000"/>
              </a:lnSpc>
              <a:buNone/>
            </a:pPr>
            <a:r>
              <a:rPr lang="en-US" sz="1000" dirty="0">
                <a:solidFill>
                  <a:srgbClr val="666666"/>
                </a:solidFill>
                <a:latin typeface="Calibri" pitchFamily="34" charset="0"/>
                <a:ea typeface="Calibri" pitchFamily="34" charset="-122"/>
                <a:cs typeface="Calibri" pitchFamily="34" charset="-120"/>
              </a:rPr>
              <a:t>異常値・不正パターンを検出</a:t>
            </a:r>
            <a:endParaRPr lang="en-US" sz="1000" dirty="0"/>
          </a:p>
        </p:txBody>
      </p:sp>
      <p:sp>
        <p:nvSpPr>
          <p:cNvPr id="42" name="Shape 35"/>
          <p:cNvSpPr/>
          <p:nvPr/>
        </p:nvSpPr>
        <p:spPr>
          <a:xfrm>
            <a:off x="4754880" y="4023360"/>
            <a:ext cx="2331720" cy="320040"/>
          </a:xfrm>
          <a:prstGeom prst="rect">
            <a:avLst/>
          </a:prstGeom>
          <a:solidFill>
            <a:srgbClr val="F5F0E6"/>
          </a:solidFill>
          <a:ln/>
        </p:spPr>
        <p:txBody>
          <a:bodyPr/>
          <a:lstStyle/>
          <a:p>
            <a:endParaRPr lang="ja-JP" altLang="en-US"/>
          </a:p>
        </p:txBody>
      </p:sp>
      <p:sp>
        <p:nvSpPr>
          <p:cNvPr id="43" name="Text 36"/>
          <p:cNvSpPr/>
          <p:nvPr/>
        </p:nvSpPr>
        <p:spPr>
          <a:xfrm>
            <a:off x="4846320" y="4023360"/>
            <a:ext cx="2194560" cy="320040"/>
          </a:xfrm>
          <a:prstGeom prst="rect">
            <a:avLst/>
          </a:prstGeom>
          <a:noFill/>
          <a:ln/>
        </p:spPr>
        <p:txBody>
          <a:bodyPr wrap="square" lIns="0" tIns="0" rIns="0" bIns="0" rtlCol="0" anchor="ctr"/>
          <a:lstStyle/>
          <a:p>
            <a:pPr marL="0" indent="0">
              <a:buNone/>
            </a:pPr>
            <a:r>
              <a:rPr lang="en-US" sz="900" dirty="0">
                <a:solidFill>
                  <a:srgbClr val="8B7536"/>
                </a:solidFill>
                <a:latin typeface="Calibri" pitchFamily="34" charset="0"/>
                <a:ea typeface="Calibri" pitchFamily="34" charset="-122"/>
                <a:cs typeface="Calibri" pitchFamily="34" charset="-120"/>
              </a:rPr>
              <a:t>統計的外れ値、重複申請の検知</a:t>
            </a:r>
            <a:endParaRPr lang="en-US" sz="900" dirty="0"/>
          </a:p>
        </p:txBody>
      </p:sp>
      <p:sp>
        <p:nvSpPr>
          <p:cNvPr id="44" name="Shape 37"/>
          <p:cNvSpPr/>
          <p:nvPr/>
        </p:nvSpPr>
        <p:spPr>
          <a:xfrm>
            <a:off x="457200" y="4800600"/>
            <a:ext cx="8229600" cy="0"/>
          </a:xfrm>
          <a:prstGeom prst="line">
            <a:avLst/>
          </a:prstGeom>
          <a:noFill/>
          <a:ln w="19050">
            <a:solidFill>
              <a:srgbClr val="C4A855"/>
            </a:solidFill>
            <a:prstDash val="solid"/>
          </a:ln>
        </p:spPr>
        <p:txBody>
          <a:bodyPr/>
          <a:lstStyle/>
          <a:p>
            <a:endParaRPr lang="ja-JP" altLang="en-US"/>
          </a:p>
        </p:txBody>
      </p:sp>
      <p:sp>
        <p:nvSpPr>
          <p:cNvPr id="45" name="Text 38"/>
          <p:cNvSpPr/>
          <p:nvPr/>
        </p:nvSpPr>
        <p:spPr>
          <a:xfrm>
            <a:off x="457200" y="4846320"/>
            <a:ext cx="3657600" cy="22860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H A R M O N I C   i n s i g h t</a:t>
            </a:r>
            <a:endParaRPr lang="en-US" sz="900" dirty="0"/>
          </a:p>
        </p:txBody>
      </p:sp>
      <p:sp>
        <p:nvSpPr>
          <p:cNvPr id="46" name="Text 39"/>
          <p:cNvSpPr/>
          <p:nvPr/>
        </p:nvSpPr>
        <p:spPr>
          <a:xfrm>
            <a:off x="7772400" y="4846320"/>
            <a:ext cx="914400" cy="22860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33333"/>
                </a:solidFill>
                <a:latin typeface="Calibri" pitchFamily="34" charset="0"/>
                <a:ea typeface="Calibri" pitchFamily="34" charset="-122"/>
                <a:cs typeface="Calibri" pitchFamily="34" charset="-120"/>
              </a:rPr>
              <a:t>AI承認導入の3原則</a:t>
            </a:r>
            <a:endParaRPr lang="en-US" sz="2800" dirty="0"/>
          </a:p>
        </p:txBody>
      </p:sp>
      <p:sp>
        <p:nvSpPr>
          <p:cNvPr id="3" name="Shape 1"/>
          <p:cNvSpPr/>
          <p:nvPr/>
        </p:nvSpPr>
        <p:spPr>
          <a:xfrm>
            <a:off x="457200" y="822960"/>
            <a:ext cx="1828800" cy="0"/>
          </a:xfrm>
          <a:prstGeom prst="line">
            <a:avLst/>
          </a:prstGeom>
          <a:noFill/>
          <a:ln w="38100">
            <a:solidFill>
              <a:srgbClr val="C4A855"/>
            </a:solidFill>
            <a:prstDash val="solid"/>
          </a:ln>
        </p:spPr>
        <p:txBody>
          <a:bodyPr/>
          <a:lstStyle/>
          <a:p>
            <a:endParaRPr lang="ja-JP" altLang="en-US"/>
          </a:p>
        </p:txBody>
      </p:sp>
      <p:sp>
        <p:nvSpPr>
          <p:cNvPr id="4" name="Shape 2"/>
          <p:cNvSpPr/>
          <p:nvPr/>
        </p:nvSpPr>
        <p:spPr>
          <a:xfrm>
            <a:off x="365760" y="1051560"/>
            <a:ext cx="2697480" cy="3474720"/>
          </a:xfrm>
          <a:prstGeom prst="rect">
            <a:avLst/>
          </a:prstGeom>
          <a:solidFill>
            <a:srgbClr val="FFFFFF"/>
          </a:solidFill>
          <a:ln w="12700">
            <a:solidFill>
              <a:srgbClr val="E0D9C8"/>
            </a:solidFill>
            <a:prstDash val="solid"/>
          </a:ln>
        </p:spPr>
        <p:txBody>
          <a:bodyPr/>
          <a:lstStyle/>
          <a:p>
            <a:endParaRPr lang="ja-JP" altLang="en-US"/>
          </a:p>
        </p:txBody>
      </p:sp>
      <p:sp>
        <p:nvSpPr>
          <p:cNvPr id="5" name="Text 3"/>
          <p:cNvSpPr/>
          <p:nvPr/>
        </p:nvSpPr>
        <p:spPr>
          <a:xfrm>
            <a:off x="502920" y="1188720"/>
            <a:ext cx="548640" cy="365760"/>
          </a:xfrm>
          <a:prstGeom prst="rect">
            <a:avLst/>
          </a:prstGeom>
          <a:noFill/>
          <a:ln/>
        </p:spPr>
        <p:txBody>
          <a:bodyPr wrap="square" lIns="0" tIns="0" rIns="0" bIns="0" rtlCol="0" anchor="ctr"/>
          <a:lstStyle/>
          <a:p>
            <a:pPr marL="0" indent="0">
              <a:buNone/>
            </a:pPr>
            <a:r>
              <a:rPr lang="en-US" sz="2400" b="1" dirty="0">
                <a:solidFill>
                  <a:srgbClr val="C4A855"/>
                </a:solidFill>
                <a:latin typeface="Calibri" pitchFamily="34" charset="0"/>
                <a:ea typeface="Calibri" pitchFamily="34" charset="-122"/>
                <a:cs typeface="Calibri" pitchFamily="34" charset="-120"/>
              </a:rPr>
              <a:t>01</a:t>
            </a:r>
            <a:endParaRPr lang="en-US" sz="2400" dirty="0"/>
          </a:p>
        </p:txBody>
      </p:sp>
      <p:pic>
        <p:nvPicPr>
          <p:cNvPr id="6" name="Image 0" descr="preencoded.png"/>
          <p:cNvPicPr>
            <a:picLocks noChangeAspect="1"/>
          </p:cNvPicPr>
          <p:nvPr/>
        </p:nvPicPr>
        <p:blipFill>
          <a:blip r:embed="rId3"/>
          <a:stretch>
            <a:fillRect/>
          </a:stretch>
        </p:blipFill>
        <p:spPr>
          <a:xfrm>
            <a:off x="2423160" y="1188720"/>
            <a:ext cx="411480" cy="411480"/>
          </a:xfrm>
          <a:prstGeom prst="rect">
            <a:avLst/>
          </a:prstGeom>
        </p:spPr>
      </p:pic>
      <p:sp>
        <p:nvSpPr>
          <p:cNvPr id="7" name="Text 4"/>
          <p:cNvSpPr/>
          <p:nvPr/>
        </p:nvSpPr>
        <p:spPr>
          <a:xfrm>
            <a:off x="502920" y="1645920"/>
            <a:ext cx="2423160" cy="365760"/>
          </a:xfrm>
          <a:prstGeom prst="rect">
            <a:avLst/>
          </a:prstGeom>
          <a:noFill/>
          <a:ln/>
        </p:spPr>
        <p:txBody>
          <a:bodyPr wrap="square" lIns="0" tIns="0" rIns="0" bIns="0" rtlCol="0" anchor="ctr"/>
          <a:lstStyle/>
          <a:p>
            <a:pPr marL="0" indent="0">
              <a:buNone/>
            </a:pPr>
            <a:r>
              <a:rPr lang="en-US" sz="2000" b="1" dirty="0">
                <a:solidFill>
                  <a:srgbClr val="333333"/>
                </a:solidFill>
                <a:latin typeface="Calibri" pitchFamily="34" charset="0"/>
                <a:ea typeface="Calibri" pitchFamily="34" charset="-122"/>
                <a:cs typeface="Calibri" pitchFamily="34" charset="-120"/>
              </a:rPr>
              <a:t>透明性</a:t>
            </a:r>
            <a:endParaRPr lang="en-US" sz="2000" dirty="0"/>
          </a:p>
        </p:txBody>
      </p:sp>
      <p:sp>
        <p:nvSpPr>
          <p:cNvPr id="8" name="Text 5"/>
          <p:cNvSpPr/>
          <p:nvPr/>
        </p:nvSpPr>
        <p:spPr>
          <a:xfrm>
            <a:off x="502920" y="1965960"/>
            <a:ext cx="2423160" cy="228600"/>
          </a:xfrm>
          <a:prstGeom prst="rect">
            <a:avLst/>
          </a:prstGeom>
          <a:noFill/>
          <a:ln/>
        </p:spPr>
        <p:txBody>
          <a:bodyPr wrap="square" lIns="0" tIns="0" rIns="0" bIns="0" rtlCol="0" anchor="ctr"/>
          <a:lstStyle/>
          <a:p>
            <a:pPr marL="0" indent="0">
              <a:buNone/>
            </a:pPr>
            <a:r>
              <a:rPr lang="en-US" sz="1000" dirty="0">
                <a:solidFill>
                  <a:srgbClr val="AAAAAA"/>
                </a:solidFill>
                <a:latin typeface="Calibri" pitchFamily="34" charset="0"/>
                <a:ea typeface="Calibri" pitchFamily="34" charset="-122"/>
                <a:cs typeface="Calibri" pitchFamily="34" charset="-120"/>
              </a:rPr>
              <a:t>Transparency</a:t>
            </a:r>
            <a:endParaRPr lang="en-US" sz="1000" dirty="0"/>
          </a:p>
        </p:txBody>
      </p:sp>
      <p:sp>
        <p:nvSpPr>
          <p:cNvPr id="9" name="Shape 6"/>
          <p:cNvSpPr/>
          <p:nvPr/>
        </p:nvSpPr>
        <p:spPr>
          <a:xfrm>
            <a:off x="502920" y="2286000"/>
            <a:ext cx="1097280" cy="0"/>
          </a:xfrm>
          <a:prstGeom prst="line">
            <a:avLst/>
          </a:prstGeom>
          <a:noFill/>
          <a:ln w="25400">
            <a:solidFill>
              <a:srgbClr val="C4A855"/>
            </a:solidFill>
            <a:prstDash val="solid"/>
          </a:ln>
        </p:spPr>
        <p:txBody>
          <a:bodyPr/>
          <a:lstStyle/>
          <a:p>
            <a:endParaRPr lang="ja-JP" altLang="en-US"/>
          </a:p>
        </p:txBody>
      </p:sp>
      <p:sp>
        <p:nvSpPr>
          <p:cNvPr id="10" name="Text 7"/>
          <p:cNvSpPr/>
          <p:nvPr/>
        </p:nvSpPr>
        <p:spPr>
          <a:xfrm>
            <a:off x="502920" y="2423160"/>
            <a:ext cx="2423160" cy="365760"/>
          </a:xfrm>
          <a:prstGeom prst="rect">
            <a:avLst/>
          </a:prstGeom>
          <a:noFill/>
          <a:ln/>
        </p:spPr>
        <p:txBody>
          <a:bodyPr wrap="square" lIns="0" tIns="0" rIns="0" bIns="0" rtlCol="0" anchor="ctr"/>
          <a:lstStyle/>
          <a:p>
            <a:pPr marL="0" indent="0">
              <a:buNone/>
            </a:pPr>
            <a:r>
              <a:rPr lang="en-US" sz="1100" b="1" dirty="0">
                <a:solidFill>
                  <a:srgbClr val="8B7536"/>
                </a:solidFill>
                <a:latin typeface="Calibri" pitchFamily="34" charset="0"/>
                <a:ea typeface="Calibri" pitchFamily="34" charset="-122"/>
                <a:cs typeface="Calibri" pitchFamily="34" charset="-120"/>
              </a:rPr>
              <a:t>AIの判断理由を必ず可視化する</a:t>
            </a:r>
            <a:endParaRPr lang="en-US" sz="1100" dirty="0"/>
          </a:p>
        </p:txBody>
      </p:sp>
      <p:sp>
        <p:nvSpPr>
          <p:cNvPr id="11" name="Text 8"/>
          <p:cNvSpPr/>
          <p:nvPr/>
        </p:nvSpPr>
        <p:spPr>
          <a:xfrm>
            <a:off x="502920" y="2880360"/>
            <a:ext cx="2423160" cy="1463040"/>
          </a:xfrm>
          <a:prstGeom prst="rect">
            <a:avLst/>
          </a:prstGeom>
          <a:noFill/>
          <a:ln/>
        </p:spPr>
        <p:txBody>
          <a:bodyPr wrap="square" lIns="0" tIns="0" rIns="0" bIns="0" rtlCol="0" anchor="ctr"/>
          <a:lstStyle/>
          <a:p>
            <a:pPr marL="342900" indent="-342900">
              <a:lnSpc>
                <a:spcPct val="130000"/>
              </a:lnSpc>
              <a:spcAft>
                <a:spcPts val="600"/>
              </a:spcAft>
              <a:buSzPct val="100000"/>
              <a:buChar char="•"/>
            </a:pPr>
            <a:r>
              <a:rPr lang="en-US" sz="1000" dirty="0">
                <a:solidFill>
                  <a:srgbClr val="666666"/>
                </a:solidFill>
                <a:latin typeface="Calibri" pitchFamily="34" charset="0"/>
                <a:ea typeface="Calibri" pitchFamily="34" charset="-122"/>
                <a:cs typeface="Calibri" pitchFamily="34" charset="-120"/>
              </a:rPr>
              <a:t>NG理由をコメントとして表示</a:t>
            </a:r>
            <a:endParaRPr lang="en-US" sz="1000" dirty="0"/>
          </a:p>
          <a:p>
            <a:pPr marL="342900" indent="-342900">
              <a:lnSpc>
                <a:spcPct val="130000"/>
              </a:lnSpc>
              <a:spcAft>
                <a:spcPts val="600"/>
              </a:spcAft>
              <a:buSzPct val="100000"/>
              <a:buChar char="•"/>
            </a:pPr>
            <a:r>
              <a:rPr lang="en-US" sz="1000" dirty="0">
                <a:solidFill>
                  <a:srgbClr val="666666"/>
                </a:solidFill>
                <a:latin typeface="Calibri" pitchFamily="34" charset="0"/>
                <a:ea typeface="Calibri" pitchFamily="34" charset="-122"/>
                <a:cs typeface="Calibri" pitchFamily="34" charset="-120"/>
              </a:rPr>
              <a:t>判断に使用したルールを明示</a:t>
            </a:r>
            <a:endParaRPr lang="en-US" sz="1000" dirty="0"/>
          </a:p>
          <a:p>
            <a:pPr marL="342900" indent="-342900">
              <a:lnSpc>
                <a:spcPct val="130000"/>
              </a:lnSpc>
              <a:spcAft>
                <a:spcPts val="600"/>
              </a:spcAft>
              <a:buSzPct val="100000"/>
              <a:buChar char="•"/>
            </a:pPr>
            <a:r>
              <a:rPr lang="en-US" sz="1000" dirty="0">
                <a:solidFill>
                  <a:srgbClr val="666666"/>
                </a:solidFill>
                <a:latin typeface="Calibri" pitchFamily="34" charset="0"/>
                <a:ea typeface="Calibri" pitchFamily="34" charset="-122"/>
                <a:cs typeface="Calibri" pitchFamily="34" charset="-120"/>
              </a:rPr>
              <a:t>監査証跡（Audit Trail）を自動記録</a:t>
            </a:r>
            <a:endParaRPr lang="en-US" sz="1000" dirty="0"/>
          </a:p>
        </p:txBody>
      </p:sp>
      <p:sp>
        <p:nvSpPr>
          <p:cNvPr id="12" name="Shape 9"/>
          <p:cNvSpPr/>
          <p:nvPr/>
        </p:nvSpPr>
        <p:spPr>
          <a:xfrm>
            <a:off x="3246120" y="1051560"/>
            <a:ext cx="2697480" cy="3474720"/>
          </a:xfrm>
          <a:prstGeom prst="rect">
            <a:avLst/>
          </a:prstGeom>
          <a:solidFill>
            <a:srgbClr val="FFFFFF"/>
          </a:solidFill>
          <a:ln w="12700">
            <a:solidFill>
              <a:srgbClr val="E0D9C8"/>
            </a:solidFill>
            <a:prstDash val="solid"/>
          </a:ln>
        </p:spPr>
        <p:txBody>
          <a:bodyPr/>
          <a:lstStyle/>
          <a:p>
            <a:endParaRPr lang="ja-JP" altLang="en-US"/>
          </a:p>
        </p:txBody>
      </p:sp>
      <p:sp>
        <p:nvSpPr>
          <p:cNvPr id="13" name="Text 10"/>
          <p:cNvSpPr/>
          <p:nvPr/>
        </p:nvSpPr>
        <p:spPr>
          <a:xfrm>
            <a:off x="3383280" y="1188720"/>
            <a:ext cx="548640" cy="365760"/>
          </a:xfrm>
          <a:prstGeom prst="rect">
            <a:avLst/>
          </a:prstGeom>
          <a:noFill/>
          <a:ln/>
        </p:spPr>
        <p:txBody>
          <a:bodyPr wrap="square" lIns="0" tIns="0" rIns="0" bIns="0" rtlCol="0" anchor="ctr"/>
          <a:lstStyle/>
          <a:p>
            <a:pPr marL="0" indent="0">
              <a:buNone/>
            </a:pPr>
            <a:r>
              <a:rPr lang="en-US" sz="2400" b="1" dirty="0">
                <a:solidFill>
                  <a:srgbClr val="C4A855"/>
                </a:solidFill>
                <a:latin typeface="Calibri" pitchFamily="34" charset="0"/>
                <a:ea typeface="Calibri" pitchFamily="34" charset="-122"/>
                <a:cs typeface="Calibri" pitchFamily="34" charset="-120"/>
              </a:rPr>
              <a:t>02</a:t>
            </a:r>
            <a:endParaRPr lang="en-US" sz="2400" dirty="0"/>
          </a:p>
        </p:txBody>
      </p:sp>
      <p:pic>
        <p:nvPicPr>
          <p:cNvPr id="14" name="Image 1" descr="preencoded.png"/>
          <p:cNvPicPr>
            <a:picLocks noChangeAspect="1"/>
          </p:cNvPicPr>
          <p:nvPr/>
        </p:nvPicPr>
        <p:blipFill>
          <a:blip r:embed="rId4"/>
          <a:stretch>
            <a:fillRect/>
          </a:stretch>
        </p:blipFill>
        <p:spPr>
          <a:xfrm>
            <a:off x="5303520" y="1188720"/>
            <a:ext cx="411480" cy="411480"/>
          </a:xfrm>
          <a:prstGeom prst="rect">
            <a:avLst/>
          </a:prstGeom>
        </p:spPr>
      </p:pic>
      <p:sp>
        <p:nvSpPr>
          <p:cNvPr id="15" name="Text 11"/>
          <p:cNvSpPr/>
          <p:nvPr/>
        </p:nvSpPr>
        <p:spPr>
          <a:xfrm>
            <a:off x="3383280" y="1645920"/>
            <a:ext cx="2423160" cy="365760"/>
          </a:xfrm>
          <a:prstGeom prst="rect">
            <a:avLst/>
          </a:prstGeom>
          <a:noFill/>
          <a:ln/>
        </p:spPr>
        <p:txBody>
          <a:bodyPr wrap="square" lIns="0" tIns="0" rIns="0" bIns="0" rtlCol="0" anchor="ctr"/>
          <a:lstStyle/>
          <a:p>
            <a:pPr marL="0" indent="0">
              <a:buNone/>
            </a:pPr>
            <a:r>
              <a:rPr lang="en-US" sz="2000" b="1" dirty="0">
                <a:solidFill>
                  <a:srgbClr val="333333"/>
                </a:solidFill>
                <a:latin typeface="Calibri" pitchFamily="34" charset="0"/>
                <a:ea typeface="Calibri" pitchFamily="34" charset="-122"/>
                <a:cs typeface="Calibri" pitchFamily="34" charset="-120"/>
              </a:rPr>
              <a:t>段階性</a:t>
            </a:r>
            <a:endParaRPr lang="en-US" sz="2000" dirty="0"/>
          </a:p>
        </p:txBody>
      </p:sp>
      <p:sp>
        <p:nvSpPr>
          <p:cNvPr id="16" name="Text 12"/>
          <p:cNvSpPr/>
          <p:nvPr/>
        </p:nvSpPr>
        <p:spPr>
          <a:xfrm>
            <a:off x="3383280" y="1965960"/>
            <a:ext cx="2423160" cy="228600"/>
          </a:xfrm>
          <a:prstGeom prst="rect">
            <a:avLst/>
          </a:prstGeom>
          <a:noFill/>
          <a:ln/>
        </p:spPr>
        <p:txBody>
          <a:bodyPr wrap="square" lIns="0" tIns="0" rIns="0" bIns="0" rtlCol="0" anchor="ctr"/>
          <a:lstStyle/>
          <a:p>
            <a:pPr marL="0" indent="0">
              <a:buNone/>
            </a:pPr>
            <a:r>
              <a:rPr lang="en-US" sz="1000" dirty="0">
                <a:solidFill>
                  <a:srgbClr val="AAAAAA"/>
                </a:solidFill>
                <a:latin typeface="Calibri" pitchFamily="34" charset="0"/>
                <a:ea typeface="Calibri" pitchFamily="34" charset="-122"/>
                <a:cs typeface="Calibri" pitchFamily="34" charset="-120"/>
              </a:rPr>
              <a:t>Gradual Adoption</a:t>
            </a:r>
            <a:endParaRPr lang="en-US" sz="1000" dirty="0"/>
          </a:p>
        </p:txBody>
      </p:sp>
      <p:sp>
        <p:nvSpPr>
          <p:cNvPr id="17" name="Shape 13"/>
          <p:cNvSpPr/>
          <p:nvPr/>
        </p:nvSpPr>
        <p:spPr>
          <a:xfrm>
            <a:off x="3383280" y="2286000"/>
            <a:ext cx="1097280" cy="0"/>
          </a:xfrm>
          <a:prstGeom prst="line">
            <a:avLst/>
          </a:prstGeom>
          <a:noFill/>
          <a:ln w="25400">
            <a:solidFill>
              <a:srgbClr val="C4A855"/>
            </a:solidFill>
            <a:prstDash val="solid"/>
          </a:ln>
        </p:spPr>
        <p:txBody>
          <a:bodyPr/>
          <a:lstStyle/>
          <a:p>
            <a:endParaRPr lang="ja-JP" altLang="en-US"/>
          </a:p>
        </p:txBody>
      </p:sp>
      <p:sp>
        <p:nvSpPr>
          <p:cNvPr id="18" name="Text 14"/>
          <p:cNvSpPr/>
          <p:nvPr/>
        </p:nvSpPr>
        <p:spPr>
          <a:xfrm>
            <a:off x="3383280" y="2423160"/>
            <a:ext cx="2423160" cy="365760"/>
          </a:xfrm>
          <a:prstGeom prst="rect">
            <a:avLst/>
          </a:prstGeom>
          <a:noFill/>
          <a:ln/>
        </p:spPr>
        <p:txBody>
          <a:bodyPr wrap="square" lIns="0" tIns="0" rIns="0" bIns="0" rtlCol="0" anchor="ctr"/>
          <a:lstStyle/>
          <a:p>
            <a:pPr marL="0" indent="0">
              <a:buNone/>
            </a:pPr>
            <a:r>
              <a:rPr lang="en-US" sz="1100" b="1" dirty="0">
                <a:solidFill>
                  <a:srgbClr val="8B7536"/>
                </a:solidFill>
                <a:latin typeface="Calibri" pitchFamily="34" charset="0"/>
                <a:ea typeface="Calibri" pitchFamily="34" charset="-122"/>
                <a:cs typeface="Calibri" pitchFamily="34" charset="-120"/>
              </a:rPr>
              <a:t>小さく始めて段階的に拡大する</a:t>
            </a:r>
            <a:endParaRPr lang="en-US" sz="1100" dirty="0"/>
          </a:p>
        </p:txBody>
      </p:sp>
      <p:sp>
        <p:nvSpPr>
          <p:cNvPr id="19" name="Text 15"/>
          <p:cNvSpPr/>
          <p:nvPr/>
        </p:nvSpPr>
        <p:spPr>
          <a:xfrm>
            <a:off x="3383280" y="2880360"/>
            <a:ext cx="2423160" cy="1463040"/>
          </a:xfrm>
          <a:prstGeom prst="rect">
            <a:avLst/>
          </a:prstGeom>
          <a:noFill/>
          <a:ln/>
        </p:spPr>
        <p:txBody>
          <a:bodyPr wrap="square" lIns="0" tIns="0" rIns="0" bIns="0" rtlCol="0" anchor="ctr"/>
          <a:lstStyle/>
          <a:p>
            <a:pPr marL="342900" indent="-342900">
              <a:lnSpc>
                <a:spcPct val="130000"/>
              </a:lnSpc>
              <a:spcAft>
                <a:spcPts val="600"/>
              </a:spcAft>
              <a:buSzPct val="100000"/>
              <a:buChar char="•"/>
            </a:pPr>
            <a:r>
              <a:rPr lang="en-US" sz="1000" dirty="0">
                <a:solidFill>
                  <a:srgbClr val="666666"/>
                </a:solidFill>
                <a:latin typeface="Calibri" pitchFamily="34" charset="0"/>
                <a:ea typeface="Calibri" pitchFamily="34" charset="-122"/>
                <a:cs typeface="Calibri" pitchFamily="34" charset="-120"/>
              </a:rPr>
              <a:t>まず定型的な承認から自動化</a:t>
            </a:r>
            <a:endParaRPr lang="en-US" sz="1000" dirty="0"/>
          </a:p>
          <a:p>
            <a:pPr marL="342900" indent="-342900">
              <a:lnSpc>
                <a:spcPct val="130000"/>
              </a:lnSpc>
              <a:spcAft>
                <a:spcPts val="600"/>
              </a:spcAft>
              <a:buSzPct val="100000"/>
              <a:buChar char="•"/>
            </a:pPr>
            <a:r>
              <a:rPr lang="en-US" sz="1000" dirty="0">
                <a:solidFill>
                  <a:srgbClr val="666666"/>
                </a:solidFill>
                <a:latin typeface="Calibri" pitchFamily="34" charset="0"/>
                <a:ea typeface="Calibri" pitchFamily="34" charset="-122"/>
                <a:cs typeface="Calibri" pitchFamily="34" charset="-120"/>
              </a:rPr>
              <a:t>成功実績を積み対象領域を拡大</a:t>
            </a:r>
            <a:endParaRPr lang="en-US" sz="1000" dirty="0"/>
          </a:p>
          <a:p>
            <a:pPr marL="342900" indent="-342900">
              <a:lnSpc>
                <a:spcPct val="130000"/>
              </a:lnSpc>
              <a:spcAft>
                <a:spcPts val="600"/>
              </a:spcAft>
              <a:buSzPct val="100000"/>
              <a:buChar char="•"/>
            </a:pPr>
            <a:r>
              <a:rPr lang="en-US" sz="1000" dirty="0">
                <a:solidFill>
                  <a:srgbClr val="666666"/>
                </a:solidFill>
                <a:latin typeface="Calibri" pitchFamily="34" charset="0"/>
                <a:ea typeface="Calibri" pitchFamily="34" charset="-122"/>
                <a:cs typeface="Calibri" pitchFamily="34" charset="-120"/>
              </a:rPr>
              <a:t>人間の監視レベルを徐々に調整</a:t>
            </a:r>
            <a:endParaRPr lang="en-US" sz="1000" dirty="0"/>
          </a:p>
        </p:txBody>
      </p:sp>
      <p:sp>
        <p:nvSpPr>
          <p:cNvPr id="20" name="Shape 16"/>
          <p:cNvSpPr/>
          <p:nvPr/>
        </p:nvSpPr>
        <p:spPr>
          <a:xfrm>
            <a:off x="6126480" y="1051560"/>
            <a:ext cx="2697480" cy="3474720"/>
          </a:xfrm>
          <a:prstGeom prst="rect">
            <a:avLst/>
          </a:prstGeom>
          <a:solidFill>
            <a:srgbClr val="FFFFFF"/>
          </a:solidFill>
          <a:ln w="12700">
            <a:solidFill>
              <a:srgbClr val="E0D9C8"/>
            </a:solidFill>
            <a:prstDash val="solid"/>
          </a:ln>
        </p:spPr>
        <p:txBody>
          <a:bodyPr/>
          <a:lstStyle/>
          <a:p>
            <a:endParaRPr lang="ja-JP" altLang="en-US"/>
          </a:p>
        </p:txBody>
      </p:sp>
      <p:sp>
        <p:nvSpPr>
          <p:cNvPr id="21" name="Text 17"/>
          <p:cNvSpPr/>
          <p:nvPr/>
        </p:nvSpPr>
        <p:spPr>
          <a:xfrm>
            <a:off x="6263640" y="1188720"/>
            <a:ext cx="548640" cy="365760"/>
          </a:xfrm>
          <a:prstGeom prst="rect">
            <a:avLst/>
          </a:prstGeom>
          <a:noFill/>
          <a:ln/>
        </p:spPr>
        <p:txBody>
          <a:bodyPr wrap="square" lIns="0" tIns="0" rIns="0" bIns="0" rtlCol="0" anchor="ctr"/>
          <a:lstStyle/>
          <a:p>
            <a:pPr marL="0" indent="0">
              <a:buNone/>
            </a:pPr>
            <a:r>
              <a:rPr lang="en-US" sz="2400" b="1" dirty="0">
                <a:solidFill>
                  <a:srgbClr val="C4A855"/>
                </a:solidFill>
                <a:latin typeface="Calibri" pitchFamily="34" charset="0"/>
                <a:ea typeface="Calibri" pitchFamily="34" charset="-122"/>
                <a:cs typeface="Calibri" pitchFamily="34" charset="-120"/>
              </a:rPr>
              <a:t>03</a:t>
            </a:r>
            <a:endParaRPr lang="en-US" sz="2400" dirty="0"/>
          </a:p>
        </p:txBody>
      </p:sp>
      <p:pic>
        <p:nvPicPr>
          <p:cNvPr id="22" name="Image 2" descr="preencoded.png"/>
          <p:cNvPicPr>
            <a:picLocks noChangeAspect="1"/>
          </p:cNvPicPr>
          <p:nvPr/>
        </p:nvPicPr>
        <p:blipFill>
          <a:blip r:embed="rId5"/>
          <a:stretch>
            <a:fillRect/>
          </a:stretch>
        </p:blipFill>
        <p:spPr>
          <a:xfrm>
            <a:off x="8183880" y="1188720"/>
            <a:ext cx="411480" cy="411480"/>
          </a:xfrm>
          <a:prstGeom prst="rect">
            <a:avLst/>
          </a:prstGeom>
        </p:spPr>
      </p:pic>
      <p:sp>
        <p:nvSpPr>
          <p:cNvPr id="23" name="Text 18"/>
          <p:cNvSpPr/>
          <p:nvPr/>
        </p:nvSpPr>
        <p:spPr>
          <a:xfrm>
            <a:off x="6263640" y="1645920"/>
            <a:ext cx="2423160" cy="365760"/>
          </a:xfrm>
          <a:prstGeom prst="rect">
            <a:avLst/>
          </a:prstGeom>
          <a:noFill/>
          <a:ln/>
        </p:spPr>
        <p:txBody>
          <a:bodyPr wrap="square" lIns="0" tIns="0" rIns="0" bIns="0" rtlCol="0" anchor="ctr"/>
          <a:lstStyle/>
          <a:p>
            <a:pPr marL="0" indent="0">
              <a:buNone/>
            </a:pPr>
            <a:r>
              <a:rPr lang="en-US" sz="2000" b="1" dirty="0">
                <a:solidFill>
                  <a:srgbClr val="333333"/>
                </a:solidFill>
                <a:latin typeface="Calibri" pitchFamily="34" charset="0"/>
                <a:ea typeface="Calibri" pitchFamily="34" charset="-122"/>
                <a:cs typeface="Calibri" pitchFamily="34" charset="-120"/>
              </a:rPr>
              <a:t>協働性</a:t>
            </a:r>
            <a:endParaRPr lang="en-US" sz="2000" dirty="0"/>
          </a:p>
        </p:txBody>
      </p:sp>
      <p:sp>
        <p:nvSpPr>
          <p:cNvPr id="24" name="Text 19"/>
          <p:cNvSpPr/>
          <p:nvPr/>
        </p:nvSpPr>
        <p:spPr>
          <a:xfrm>
            <a:off x="6263640" y="1965960"/>
            <a:ext cx="2423160" cy="228600"/>
          </a:xfrm>
          <a:prstGeom prst="rect">
            <a:avLst/>
          </a:prstGeom>
          <a:noFill/>
          <a:ln/>
        </p:spPr>
        <p:txBody>
          <a:bodyPr wrap="square" lIns="0" tIns="0" rIns="0" bIns="0" rtlCol="0" anchor="ctr"/>
          <a:lstStyle/>
          <a:p>
            <a:pPr marL="0" indent="0">
              <a:buNone/>
            </a:pPr>
            <a:r>
              <a:rPr lang="en-US" sz="1000" dirty="0">
                <a:solidFill>
                  <a:srgbClr val="AAAAAA"/>
                </a:solidFill>
                <a:latin typeface="Calibri" pitchFamily="34" charset="0"/>
                <a:ea typeface="Calibri" pitchFamily="34" charset="-122"/>
                <a:cs typeface="Calibri" pitchFamily="34" charset="-120"/>
              </a:rPr>
              <a:t>Human-AI Collaboration</a:t>
            </a:r>
            <a:endParaRPr lang="en-US" sz="1000" dirty="0"/>
          </a:p>
        </p:txBody>
      </p:sp>
      <p:sp>
        <p:nvSpPr>
          <p:cNvPr id="25" name="Shape 20"/>
          <p:cNvSpPr/>
          <p:nvPr/>
        </p:nvSpPr>
        <p:spPr>
          <a:xfrm>
            <a:off x="6263640" y="2286000"/>
            <a:ext cx="1097280" cy="0"/>
          </a:xfrm>
          <a:prstGeom prst="line">
            <a:avLst/>
          </a:prstGeom>
          <a:noFill/>
          <a:ln w="25400">
            <a:solidFill>
              <a:srgbClr val="C4A855"/>
            </a:solidFill>
            <a:prstDash val="solid"/>
          </a:ln>
        </p:spPr>
        <p:txBody>
          <a:bodyPr/>
          <a:lstStyle/>
          <a:p>
            <a:endParaRPr lang="ja-JP" altLang="en-US"/>
          </a:p>
        </p:txBody>
      </p:sp>
      <p:sp>
        <p:nvSpPr>
          <p:cNvPr id="26" name="Text 21"/>
          <p:cNvSpPr/>
          <p:nvPr/>
        </p:nvSpPr>
        <p:spPr>
          <a:xfrm>
            <a:off x="6263640" y="2423160"/>
            <a:ext cx="2423160" cy="365760"/>
          </a:xfrm>
          <a:prstGeom prst="rect">
            <a:avLst/>
          </a:prstGeom>
          <a:noFill/>
          <a:ln/>
        </p:spPr>
        <p:txBody>
          <a:bodyPr wrap="square" lIns="0" tIns="0" rIns="0" bIns="0" rtlCol="0" anchor="ctr"/>
          <a:lstStyle/>
          <a:p>
            <a:pPr marL="0" indent="0">
              <a:buNone/>
            </a:pPr>
            <a:r>
              <a:rPr lang="en-US" sz="1100" b="1" dirty="0">
                <a:solidFill>
                  <a:srgbClr val="8B7536"/>
                </a:solidFill>
                <a:latin typeface="Calibri" pitchFamily="34" charset="0"/>
                <a:ea typeface="Calibri" pitchFamily="34" charset="-122"/>
                <a:cs typeface="Calibri" pitchFamily="34" charset="-120"/>
              </a:rPr>
              <a:t>AIと人間の役割を明確に分担する</a:t>
            </a:r>
            <a:endParaRPr lang="en-US" sz="1100" dirty="0"/>
          </a:p>
        </p:txBody>
      </p:sp>
      <p:sp>
        <p:nvSpPr>
          <p:cNvPr id="27" name="Text 22"/>
          <p:cNvSpPr/>
          <p:nvPr/>
        </p:nvSpPr>
        <p:spPr>
          <a:xfrm>
            <a:off x="6263640" y="2880360"/>
            <a:ext cx="2423160" cy="1463040"/>
          </a:xfrm>
          <a:prstGeom prst="rect">
            <a:avLst/>
          </a:prstGeom>
          <a:noFill/>
          <a:ln/>
        </p:spPr>
        <p:txBody>
          <a:bodyPr wrap="square" lIns="0" tIns="0" rIns="0" bIns="0" rtlCol="0" anchor="ctr"/>
          <a:lstStyle/>
          <a:p>
            <a:pPr marL="342900" indent="-342900">
              <a:lnSpc>
                <a:spcPct val="130000"/>
              </a:lnSpc>
              <a:spcAft>
                <a:spcPts val="600"/>
              </a:spcAft>
              <a:buSzPct val="100000"/>
              <a:buChar char="•"/>
            </a:pPr>
            <a:r>
              <a:rPr lang="en-US" sz="1000" dirty="0">
                <a:solidFill>
                  <a:srgbClr val="666666"/>
                </a:solidFill>
                <a:latin typeface="Calibri" pitchFamily="34" charset="0"/>
                <a:ea typeface="Calibri" pitchFamily="34" charset="-122"/>
                <a:cs typeface="Calibri" pitchFamily="34" charset="-120"/>
              </a:rPr>
              <a:t>AIは定型チェック・一次判断を担当</a:t>
            </a:r>
            <a:endParaRPr lang="en-US" sz="1000" dirty="0"/>
          </a:p>
          <a:p>
            <a:pPr marL="342900" indent="-342900">
              <a:lnSpc>
                <a:spcPct val="130000"/>
              </a:lnSpc>
              <a:spcAft>
                <a:spcPts val="600"/>
              </a:spcAft>
              <a:buSzPct val="100000"/>
              <a:buChar char="•"/>
            </a:pPr>
            <a:r>
              <a:rPr lang="en-US" sz="1000" dirty="0">
                <a:solidFill>
                  <a:srgbClr val="666666"/>
                </a:solidFill>
                <a:latin typeface="Calibri" pitchFamily="34" charset="0"/>
                <a:ea typeface="Calibri" pitchFamily="34" charset="-122"/>
                <a:cs typeface="Calibri" pitchFamily="34" charset="-120"/>
              </a:rPr>
              <a:t>人間は例外対応・最終判断に集中</a:t>
            </a:r>
            <a:endParaRPr lang="en-US" sz="1000" dirty="0"/>
          </a:p>
          <a:p>
            <a:pPr marL="342900" indent="-342900">
              <a:lnSpc>
                <a:spcPct val="130000"/>
              </a:lnSpc>
              <a:spcAft>
                <a:spcPts val="600"/>
              </a:spcAft>
              <a:buSzPct val="100000"/>
              <a:buChar char="•"/>
            </a:pPr>
            <a:r>
              <a:rPr lang="en-US" sz="1000" dirty="0">
                <a:solidFill>
                  <a:srgbClr val="666666"/>
                </a:solidFill>
                <a:latin typeface="Calibri" pitchFamily="34" charset="0"/>
                <a:ea typeface="Calibri" pitchFamily="34" charset="-122"/>
                <a:cs typeface="Calibri" pitchFamily="34" charset="-120"/>
              </a:rPr>
              <a:t>全従業員がAIの処理内容を理解</a:t>
            </a:r>
            <a:endParaRPr lang="en-US" sz="1000" dirty="0"/>
          </a:p>
        </p:txBody>
      </p:sp>
      <p:sp>
        <p:nvSpPr>
          <p:cNvPr id="28" name="Shape 23"/>
          <p:cNvSpPr/>
          <p:nvPr/>
        </p:nvSpPr>
        <p:spPr>
          <a:xfrm>
            <a:off x="457200" y="4800600"/>
            <a:ext cx="8229600" cy="0"/>
          </a:xfrm>
          <a:prstGeom prst="line">
            <a:avLst/>
          </a:prstGeom>
          <a:noFill/>
          <a:ln w="19050">
            <a:solidFill>
              <a:srgbClr val="C4A855"/>
            </a:solidFill>
            <a:prstDash val="solid"/>
          </a:ln>
        </p:spPr>
        <p:txBody>
          <a:bodyPr/>
          <a:lstStyle/>
          <a:p>
            <a:endParaRPr lang="ja-JP" altLang="en-US"/>
          </a:p>
        </p:txBody>
      </p:sp>
      <p:sp>
        <p:nvSpPr>
          <p:cNvPr id="29" name="Text 24"/>
          <p:cNvSpPr/>
          <p:nvPr/>
        </p:nvSpPr>
        <p:spPr>
          <a:xfrm>
            <a:off x="457200" y="4846320"/>
            <a:ext cx="3657600" cy="22860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H A R M O N I C   i n s i g h t</a:t>
            </a:r>
            <a:endParaRPr lang="en-US" sz="900" dirty="0"/>
          </a:p>
        </p:txBody>
      </p:sp>
      <p:sp>
        <p:nvSpPr>
          <p:cNvPr id="30" name="Text 25"/>
          <p:cNvSpPr/>
          <p:nvPr/>
        </p:nvSpPr>
        <p:spPr>
          <a:xfrm>
            <a:off x="7772400" y="4846320"/>
            <a:ext cx="914400" cy="22860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33333"/>
                </a:solidFill>
                <a:latin typeface="Calibri" pitchFamily="34" charset="0"/>
                <a:ea typeface="Calibri" pitchFamily="34" charset="-122"/>
                <a:cs typeface="Calibri" pitchFamily="34" charset="-120"/>
              </a:rPr>
              <a:t>AIに任せていいこと・ダメなこと</a:t>
            </a:r>
            <a:endParaRPr lang="en-US" sz="2800" dirty="0"/>
          </a:p>
        </p:txBody>
      </p:sp>
      <p:sp>
        <p:nvSpPr>
          <p:cNvPr id="3" name="Shape 1"/>
          <p:cNvSpPr/>
          <p:nvPr/>
        </p:nvSpPr>
        <p:spPr>
          <a:xfrm>
            <a:off x="457200" y="822960"/>
            <a:ext cx="1828800" cy="0"/>
          </a:xfrm>
          <a:prstGeom prst="line">
            <a:avLst/>
          </a:prstGeom>
          <a:noFill/>
          <a:ln w="38100">
            <a:solidFill>
              <a:srgbClr val="C4A855"/>
            </a:solidFill>
            <a:prstDash val="solid"/>
          </a:ln>
        </p:spPr>
        <p:txBody>
          <a:bodyPr/>
          <a:lstStyle/>
          <a:p>
            <a:endParaRPr lang="ja-JP" altLang="en-US"/>
          </a:p>
        </p:txBody>
      </p:sp>
      <p:sp>
        <p:nvSpPr>
          <p:cNvPr id="4" name="Shape 2"/>
          <p:cNvSpPr/>
          <p:nvPr/>
        </p:nvSpPr>
        <p:spPr>
          <a:xfrm>
            <a:off x="457200" y="960120"/>
            <a:ext cx="8229600" cy="594360"/>
          </a:xfrm>
          <a:prstGeom prst="rect">
            <a:avLst/>
          </a:prstGeom>
          <a:solidFill>
            <a:srgbClr val="F5F0E6"/>
          </a:solidFill>
          <a:ln w="25400">
            <a:solidFill>
              <a:srgbClr val="C4A855"/>
            </a:solidFill>
            <a:prstDash val="solid"/>
          </a:ln>
        </p:spPr>
        <p:txBody>
          <a:bodyPr/>
          <a:lstStyle/>
          <a:p>
            <a:endParaRPr lang="ja-JP" altLang="en-US"/>
          </a:p>
        </p:txBody>
      </p:sp>
      <p:sp>
        <p:nvSpPr>
          <p:cNvPr id="5" name="Text 3"/>
          <p:cNvSpPr/>
          <p:nvPr/>
        </p:nvSpPr>
        <p:spPr>
          <a:xfrm>
            <a:off x="640080" y="960120"/>
            <a:ext cx="7863840" cy="594360"/>
          </a:xfrm>
          <a:prstGeom prst="rect">
            <a:avLst/>
          </a:prstGeom>
          <a:noFill/>
          <a:ln/>
        </p:spPr>
        <p:txBody>
          <a:bodyPr wrap="square" lIns="0" tIns="0" rIns="0" bIns="0" rtlCol="0" anchor="ctr"/>
          <a:lstStyle/>
          <a:p>
            <a:pPr marL="0" indent="0">
              <a:buNone/>
            </a:pPr>
            <a:r>
              <a:rPr lang="en-US" sz="1200" b="1" dirty="0">
                <a:solidFill>
                  <a:srgbClr val="8B7536"/>
                </a:solidFill>
                <a:latin typeface="Calibri" pitchFamily="34" charset="0"/>
                <a:ea typeface="Calibri" pitchFamily="34" charset="-122"/>
                <a:cs typeface="Calibri" pitchFamily="34" charset="-120"/>
              </a:rPr>
              <a:t>大前提：</a:t>
            </a:r>
            <a:r>
              <a:rPr lang="en-US" sz="1100" dirty="0">
                <a:solidFill>
                  <a:srgbClr val="333333"/>
                </a:solidFill>
                <a:latin typeface="Calibri" pitchFamily="34" charset="0"/>
                <a:ea typeface="Calibri" pitchFamily="34" charset="-122"/>
                <a:cs typeface="Calibri" pitchFamily="34" charset="-120"/>
              </a:rPr>
              <a:t>AIは元来「信頼できないもの」。ハルシネーション（もっともらしい嘘）や仮データの生成は避けられない。</a:t>
            </a:r>
            <a:endParaRPr lang="en-US" sz="1200" dirty="0"/>
          </a:p>
          <a:p>
            <a:pPr marL="0" indent="0">
              <a:buNone/>
            </a:pPr>
            <a:r>
              <a:rPr lang="en-US" sz="1100" dirty="0">
                <a:solidFill>
                  <a:srgbClr val="333333"/>
                </a:solidFill>
                <a:latin typeface="Calibri" pitchFamily="34" charset="0"/>
                <a:ea typeface="Calibri" pitchFamily="34" charset="-122"/>
                <a:cs typeface="Calibri" pitchFamily="34" charset="-120"/>
              </a:rPr>
              <a:t>だからこそ、AIに何をやらせ・何をやらせないかの線引きが設計の要になる。</a:t>
            </a:r>
            <a:endParaRPr lang="en-US" sz="1200" dirty="0"/>
          </a:p>
        </p:txBody>
      </p:sp>
      <p:sp>
        <p:nvSpPr>
          <p:cNvPr id="6" name="Shape 4"/>
          <p:cNvSpPr/>
          <p:nvPr/>
        </p:nvSpPr>
        <p:spPr>
          <a:xfrm>
            <a:off x="457200" y="1691640"/>
            <a:ext cx="3886200" cy="365760"/>
          </a:xfrm>
          <a:prstGeom prst="rect">
            <a:avLst/>
          </a:prstGeom>
          <a:solidFill>
            <a:srgbClr val="27AE60"/>
          </a:solidFill>
          <a:ln/>
        </p:spPr>
        <p:txBody>
          <a:bodyPr/>
          <a:lstStyle/>
          <a:p>
            <a:endParaRPr lang="ja-JP" altLang="en-US"/>
          </a:p>
        </p:txBody>
      </p:sp>
      <p:sp>
        <p:nvSpPr>
          <p:cNvPr id="7" name="Text 5"/>
          <p:cNvSpPr/>
          <p:nvPr/>
        </p:nvSpPr>
        <p:spPr>
          <a:xfrm>
            <a:off x="457200" y="1691640"/>
            <a:ext cx="38862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AIに任せてよい領域</a:t>
            </a:r>
            <a:endParaRPr lang="en-US" sz="1300" dirty="0"/>
          </a:p>
        </p:txBody>
      </p:sp>
      <p:sp>
        <p:nvSpPr>
          <p:cNvPr id="8" name="Shape 6"/>
          <p:cNvSpPr/>
          <p:nvPr/>
        </p:nvSpPr>
        <p:spPr>
          <a:xfrm>
            <a:off x="4800600" y="1691640"/>
            <a:ext cx="3886200" cy="365760"/>
          </a:xfrm>
          <a:prstGeom prst="rect">
            <a:avLst/>
          </a:prstGeom>
          <a:solidFill>
            <a:srgbClr val="C0392B"/>
          </a:solidFill>
          <a:ln/>
        </p:spPr>
        <p:txBody>
          <a:bodyPr/>
          <a:lstStyle/>
          <a:p>
            <a:endParaRPr lang="ja-JP" altLang="en-US"/>
          </a:p>
        </p:txBody>
      </p:sp>
      <p:sp>
        <p:nvSpPr>
          <p:cNvPr id="9" name="Text 7"/>
          <p:cNvSpPr/>
          <p:nvPr/>
        </p:nvSpPr>
        <p:spPr>
          <a:xfrm>
            <a:off x="4800600" y="1691640"/>
            <a:ext cx="38862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AIに任せてはいけない領域</a:t>
            </a:r>
            <a:endParaRPr lang="en-US" sz="1300" dirty="0"/>
          </a:p>
        </p:txBody>
      </p:sp>
      <p:sp>
        <p:nvSpPr>
          <p:cNvPr id="10" name="Shape 8"/>
          <p:cNvSpPr/>
          <p:nvPr/>
        </p:nvSpPr>
        <p:spPr>
          <a:xfrm>
            <a:off x="457200" y="2194560"/>
            <a:ext cx="3886200" cy="594360"/>
          </a:xfrm>
          <a:prstGeom prst="rect">
            <a:avLst/>
          </a:prstGeom>
          <a:solidFill>
            <a:srgbClr val="FFFFFF"/>
          </a:solidFill>
          <a:ln w="12700">
            <a:solidFill>
              <a:srgbClr val="E0D9C8"/>
            </a:solidFill>
            <a:prstDash val="solid"/>
          </a:ln>
        </p:spPr>
        <p:txBody>
          <a:bodyPr/>
          <a:lstStyle/>
          <a:p>
            <a:endParaRPr lang="ja-JP" altLang="en-US"/>
          </a:p>
        </p:txBody>
      </p:sp>
      <p:sp>
        <p:nvSpPr>
          <p:cNvPr id="11" name="Shape 9"/>
          <p:cNvSpPr/>
          <p:nvPr/>
        </p:nvSpPr>
        <p:spPr>
          <a:xfrm>
            <a:off x="457200" y="2194560"/>
            <a:ext cx="54864" cy="594360"/>
          </a:xfrm>
          <a:prstGeom prst="rect">
            <a:avLst/>
          </a:prstGeom>
          <a:solidFill>
            <a:srgbClr val="27AE60"/>
          </a:solidFill>
          <a:ln/>
        </p:spPr>
        <p:txBody>
          <a:bodyPr/>
          <a:lstStyle/>
          <a:p>
            <a:endParaRPr lang="ja-JP" altLang="en-US"/>
          </a:p>
        </p:txBody>
      </p:sp>
      <p:sp>
        <p:nvSpPr>
          <p:cNvPr id="12" name="Text 10"/>
          <p:cNvSpPr/>
          <p:nvPr/>
        </p:nvSpPr>
        <p:spPr>
          <a:xfrm>
            <a:off x="640080" y="2221992"/>
            <a:ext cx="3566160" cy="201168"/>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定型ルールのプログラム化</a:t>
            </a:r>
            <a:endParaRPr lang="en-US" sz="1100" dirty="0"/>
          </a:p>
        </p:txBody>
      </p:sp>
      <p:sp>
        <p:nvSpPr>
          <p:cNvPr id="13" name="Text 11"/>
          <p:cNvSpPr/>
          <p:nvPr/>
        </p:nvSpPr>
        <p:spPr>
          <a:xfrm>
            <a:off x="640080" y="2423160"/>
            <a:ext cx="3566160" cy="320040"/>
          </a:xfrm>
          <a:prstGeom prst="rect">
            <a:avLst/>
          </a:prstGeom>
          <a:noFill/>
          <a:ln/>
        </p:spPr>
        <p:txBody>
          <a:bodyPr wrap="square" lIns="0" tIns="0" rIns="0" bIns="0" rtlCol="0" anchor="ctr"/>
          <a:lstStyle/>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「出張日当は日額○円」「○万円以上は部長承認」</a:t>
            </a:r>
            <a:endParaRPr lang="en-US" sz="900" dirty="0"/>
          </a:p>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など、明文化されたルールの自動適用</a:t>
            </a:r>
            <a:endParaRPr lang="en-US" sz="900" dirty="0"/>
          </a:p>
        </p:txBody>
      </p:sp>
      <p:sp>
        <p:nvSpPr>
          <p:cNvPr id="14" name="Shape 12"/>
          <p:cNvSpPr/>
          <p:nvPr/>
        </p:nvSpPr>
        <p:spPr>
          <a:xfrm>
            <a:off x="457200" y="2834640"/>
            <a:ext cx="3886200" cy="594360"/>
          </a:xfrm>
          <a:prstGeom prst="rect">
            <a:avLst/>
          </a:prstGeom>
          <a:solidFill>
            <a:srgbClr val="FFFFFF"/>
          </a:solidFill>
          <a:ln w="12700">
            <a:solidFill>
              <a:srgbClr val="E0D9C8"/>
            </a:solidFill>
            <a:prstDash val="solid"/>
          </a:ln>
        </p:spPr>
        <p:txBody>
          <a:bodyPr/>
          <a:lstStyle/>
          <a:p>
            <a:endParaRPr lang="ja-JP" altLang="en-US"/>
          </a:p>
        </p:txBody>
      </p:sp>
      <p:sp>
        <p:nvSpPr>
          <p:cNvPr id="15" name="Shape 13"/>
          <p:cNvSpPr/>
          <p:nvPr/>
        </p:nvSpPr>
        <p:spPr>
          <a:xfrm>
            <a:off x="457200" y="2834640"/>
            <a:ext cx="54864" cy="594360"/>
          </a:xfrm>
          <a:prstGeom prst="rect">
            <a:avLst/>
          </a:prstGeom>
          <a:solidFill>
            <a:srgbClr val="27AE60"/>
          </a:solidFill>
          <a:ln/>
        </p:spPr>
        <p:txBody>
          <a:bodyPr/>
          <a:lstStyle/>
          <a:p>
            <a:endParaRPr lang="ja-JP" altLang="en-US"/>
          </a:p>
        </p:txBody>
      </p:sp>
      <p:sp>
        <p:nvSpPr>
          <p:cNvPr id="16" name="Text 14"/>
          <p:cNvSpPr/>
          <p:nvPr/>
        </p:nvSpPr>
        <p:spPr>
          <a:xfrm>
            <a:off x="640080" y="2862072"/>
            <a:ext cx="3566160" cy="201168"/>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チェック・検証・照合</a:t>
            </a:r>
            <a:endParaRPr lang="en-US" sz="1100" dirty="0"/>
          </a:p>
        </p:txBody>
      </p:sp>
      <p:sp>
        <p:nvSpPr>
          <p:cNvPr id="17" name="Text 15"/>
          <p:cNvSpPr/>
          <p:nvPr/>
        </p:nvSpPr>
        <p:spPr>
          <a:xfrm>
            <a:off x="640080" y="3063240"/>
            <a:ext cx="3566160" cy="320040"/>
          </a:xfrm>
          <a:prstGeom prst="rect">
            <a:avLst/>
          </a:prstGeom>
          <a:noFill/>
          <a:ln/>
        </p:spPr>
        <p:txBody>
          <a:bodyPr wrap="square" lIns="0" tIns="0" rIns="0" bIns="0" rtlCol="0" anchor="ctr"/>
          <a:lstStyle/>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添付書類の有無、金額と領収書の一致、</a:t>
            </a:r>
            <a:endParaRPr lang="en-US" sz="900" dirty="0"/>
          </a:p>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規定上限との比較など</a:t>
            </a:r>
            <a:endParaRPr lang="en-US" sz="900" dirty="0"/>
          </a:p>
        </p:txBody>
      </p:sp>
      <p:sp>
        <p:nvSpPr>
          <p:cNvPr id="18" name="Shape 16"/>
          <p:cNvSpPr/>
          <p:nvPr/>
        </p:nvSpPr>
        <p:spPr>
          <a:xfrm>
            <a:off x="457200" y="3474720"/>
            <a:ext cx="3886200" cy="594360"/>
          </a:xfrm>
          <a:prstGeom prst="rect">
            <a:avLst/>
          </a:prstGeom>
          <a:solidFill>
            <a:srgbClr val="FFFFFF"/>
          </a:solidFill>
          <a:ln w="12700">
            <a:solidFill>
              <a:srgbClr val="E0D9C8"/>
            </a:solidFill>
            <a:prstDash val="solid"/>
          </a:ln>
        </p:spPr>
        <p:txBody>
          <a:bodyPr/>
          <a:lstStyle/>
          <a:p>
            <a:endParaRPr lang="ja-JP" altLang="en-US"/>
          </a:p>
        </p:txBody>
      </p:sp>
      <p:sp>
        <p:nvSpPr>
          <p:cNvPr id="19" name="Shape 17"/>
          <p:cNvSpPr/>
          <p:nvPr/>
        </p:nvSpPr>
        <p:spPr>
          <a:xfrm>
            <a:off x="457200" y="3474720"/>
            <a:ext cx="54864" cy="594360"/>
          </a:xfrm>
          <a:prstGeom prst="rect">
            <a:avLst/>
          </a:prstGeom>
          <a:solidFill>
            <a:srgbClr val="27AE60"/>
          </a:solidFill>
          <a:ln/>
        </p:spPr>
        <p:txBody>
          <a:bodyPr/>
          <a:lstStyle/>
          <a:p>
            <a:endParaRPr lang="ja-JP" altLang="en-US"/>
          </a:p>
        </p:txBody>
      </p:sp>
      <p:sp>
        <p:nvSpPr>
          <p:cNvPr id="20" name="Text 18"/>
          <p:cNvSpPr/>
          <p:nvPr/>
        </p:nvSpPr>
        <p:spPr>
          <a:xfrm>
            <a:off x="640080" y="3502152"/>
            <a:ext cx="3566160" cy="201168"/>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異常値の検出・フラグ付け</a:t>
            </a:r>
            <a:endParaRPr lang="en-US" sz="1100" dirty="0"/>
          </a:p>
        </p:txBody>
      </p:sp>
      <p:sp>
        <p:nvSpPr>
          <p:cNvPr id="21" name="Text 19"/>
          <p:cNvSpPr/>
          <p:nvPr/>
        </p:nvSpPr>
        <p:spPr>
          <a:xfrm>
            <a:off x="640080" y="3703320"/>
            <a:ext cx="3566160" cy="320040"/>
          </a:xfrm>
          <a:prstGeom prst="rect">
            <a:avLst/>
          </a:prstGeom>
          <a:noFill/>
          <a:ln/>
        </p:spPr>
        <p:txBody>
          <a:bodyPr wrap="square" lIns="0" tIns="0" rIns="0" bIns="0" rtlCol="0" anchor="ctr"/>
          <a:lstStyle/>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統計的な外れ値や重複パターンの</a:t>
            </a:r>
            <a:endParaRPr lang="en-US" sz="900" dirty="0"/>
          </a:p>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検出と人間への通知</a:t>
            </a:r>
            <a:endParaRPr lang="en-US" sz="900" dirty="0"/>
          </a:p>
        </p:txBody>
      </p:sp>
      <p:sp>
        <p:nvSpPr>
          <p:cNvPr id="22" name="Shape 20"/>
          <p:cNvSpPr/>
          <p:nvPr/>
        </p:nvSpPr>
        <p:spPr>
          <a:xfrm>
            <a:off x="4800600" y="2194560"/>
            <a:ext cx="3886200" cy="594360"/>
          </a:xfrm>
          <a:prstGeom prst="rect">
            <a:avLst/>
          </a:prstGeom>
          <a:solidFill>
            <a:srgbClr val="FFFFFF"/>
          </a:solidFill>
          <a:ln w="12700">
            <a:solidFill>
              <a:srgbClr val="E0D9C8"/>
            </a:solidFill>
            <a:prstDash val="solid"/>
          </a:ln>
        </p:spPr>
        <p:txBody>
          <a:bodyPr/>
          <a:lstStyle/>
          <a:p>
            <a:endParaRPr lang="ja-JP" altLang="en-US"/>
          </a:p>
        </p:txBody>
      </p:sp>
      <p:sp>
        <p:nvSpPr>
          <p:cNvPr id="23" name="Shape 21"/>
          <p:cNvSpPr/>
          <p:nvPr/>
        </p:nvSpPr>
        <p:spPr>
          <a:xfrm>
            <a:off x="4800600" y="2194560"/>
            <a:ext cx="54864" cy="594360"/>
          </a:xfrm>
          <a:prstGeom prst="rect">
            <a:avLst/>
          </a:prstGeom>
          <a:solidFill>
            <a:srgbClr val="C0392B"/>
          </a:solidFill>
          <a:ln/>
        </p:spPr>
        <p:txBody>
          <a:bodyPr/>
          <a:lstStyle/>
          <a:p>
            <a:endParaRPr lang="ja-JP" altLang="en-US"/>
          </a:p>
        </p:txBody>
      </p:sp>
      <p:sp>
        <p:nvSpPr>
          <p:cNvPr id="24" name="Text 22"/>
          <p:cNvSpPr/>
          <p:nvPr/>
        </p:nvSpPr>
        <p:spPr>
          <a:xfrm>
            <a:off x="4983480" y="2221992"/>
            <a:ext cx="3566160" cy="201168"/>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データの生成・作成</a:t>
            </a:r>
            <a:endParaRPr lang="en-US" sz="1100" dirty="0"/>
          </a:p>
        </p:txBody>
      </p:sp>
      <p:sp>
        <p:nvSpPr>
          <p:cNvPr id="25" name="Text 23"/>
          <p:cNvSpPr/>
          <p:nvPr/>
        </p:nvSpPr>
        <p:spPr>
          <a:xfrm>
            <a:off x="4983480" y="2423160"/>
            <a:ext cx="3566160" cy="320040"/>
          </a:xfrm>
          <a:prstGeom prst="rect">
            <a:avLst/>
          </a:prstGeom>
          <a:noFill/>
          <a:ln/>
        </p:spPr>
        <p:txBody>
          <a:bodyPr wrap="square" lIns="0" tIns="0" rIns="0" bIns="0" rtlCol="0" anchor="ctr"/>
          <a:lstStyle/>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仮データや推定値をもっともらしく生成する。</a:t>
            </a:r>
            <a:endParaRPr lang="en-US" sz="900" dirty="0"/>
          </a:p>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RPAでも同様の問題が発生している</a:t>
            </a:r>
            <a:endParaRPr lang="en-US" sz="900" dirty="0"/>
          </a:p>
        </p:txBody>
      </p:sp>
      <p:sp>
        <p:nvSpPr>
          <p:cNvPr id="26" name="Shape 24"/>
          <p:cNvSpPr/>
          <p:nvPr/>
        </p:nvSpPr>
        <p:spPr>
          <a:xfrm>
            <a:off x="4800600" y="2834640"/>
            <a:ext cx="3886200" cy="594360"/>
          </a:xfrm>
          <a:prstGeom prst="rect">
            <a:avLst/>
          </a:prstGeom>
          <a:solidFill>
            <a:srgbClr val="FFFFFF"/>
          </a:solidFill>
          <a:ln w="12700">
            <a:solidFill>
              <a:srgbClr val="E0D9C8"/>
            </a:solidFill>
            <a:prstDash val="solid"/>
          </a:ln>
        </p:spPr>
        <p:txBody>
          <a:bodyPr/>
          <a:lstStyle/>
          <a:p>
            <a:endParaRPr lang="ja-JP" altLang="en-US"/>
          </a:p>
        </p:txBody>
      </p:sp>
      <p:sp>
        <p:nvSpPr>
          <p:cNvPr id="27" name="Shape 25"/>
          <p:cNvSpPr/>
          <p:nvPr/>
        </p:nvSpPr>
        <p:spPr>
          <a:xfrm>
            <a:off x="4800600" y="2834640"/>
            <a:ext cx="54864" cy="594360"/>
          </a:xfrm>
          <a:prstGeom prst="rect">
            <a:avLst/>
          </a:prstGeom>
          <a:solidFill>
            <a:srgbClr val="C0392B"/>
          </a:solidFill>
          <a:ln/>
        </p:spPr>
        <p:txBody>
          <a:bodyPr/>
          <a:lstStyle/>
          <a:p>
            <a:endParaRPr lang="ja-JP" altLang="en-US"/>
          </a:p>
        </p:txBody>
      </p:sp>
      <p:sp>
        <p:nvSpPr>
          <p:cNvPr id="28" name="Text 26"/>
          <p:cNvSpPr/>
          <p:nvPr/>
        </p:nvSpPr>
        <p:spPr>
          <a:xfrm>
            <a:off x="4983480" y="2862072"/>
            <a:ext cx="3566160" cy="201168"/>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最終的なアウトプットの確定</a:t>
            </a:r>
            <a:endParaRPr lang="en-US" sz="1100" dirty="0"/>
          </a:p>
        </p:txBody>
      </p:sp>
      <p:sp>
        <p:nvSpPr>
          <p:cNvPr id="29" name="Text 27"/>
          <p:cNvSpPr/>
          <p:nvPr/>
        </p:nvSpPr>
        <p:spPr>
          <a:xfrm>
            <a:off x="4983480" y="3063240"/>
            <a:ext cx="3566160" cy="320040"/>
          </a:xfrm>
          <a:prstGeom prst="rect">
            <a:avLst/>
          </a:prstGeom>
          <a:noFill/>
          <a:ln/>
        </p:spPr>
        <p:txBody>
          <a:bodyPr wrap="square" lIns="0" tIns="0" rIns="0" bIns="0" rtlCol="0" anchor="ctr"/>
          <a:lstStyle/>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帳票の作成、システムへの登録・更新など、</a:t>
            </a:r>
            <a:endParaRPr lang="en-US" sz="900" dirty="0"/>
          </a:p>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取り消しが困難な確定行為</a:t>
            </a:r>
            <a:endParaRPr lang="en-US" sz="900" dirty="0"/>
          </a:p>
        </p:txBody>
      </p:sp>
      <p:sp>
        <p:nvSpPr>
          <p:cNvPr id="30" name="Shape 28"/>
          <p:cNvSpPr/>
          <p:nvPr/>
        </p:nvSpPr>
        <p:spPr>
          <a:xfrm>
            <a:off x="4800600" y="3474720"/>
            <a:ext cx="3886200" cy="594360"/>
          </a:xfrm>
          <a:prstGeom prst="rect">
            <a:avLst/>
          </a:prstGeom>
          <a:solidFill>
            <a:srgbClr val="FFFFFF"/>
          </a:solidFill>
          <a:ln w="12700">
            <a:solidFill>
              <a:srgbClr val="E0D9C8"/>
            </a:solidFill>
            <a:prstDash val="solid"/>
          </a:ln>
        </p:spPr>
        <p:txBody>
          <a:bodyPr/>
          <a:lstStyle/>
          <a:p>
            <a:endParaRPr lang="ja-JP" altLang="en-US"/>
          </a:p>
        </p:txBody>
      </p:sp>
      <p:sp>
        <p:nvSpPr>
          <p:cNvPr id="31" name="Shape 29"/>
          <p:cNvSpPr/>
          <p:nvPr/>
        </p:nvSpPr>
        <p:spPr>
          <a:xfrm>
            <a:off x="4800600" y="3474720"/>
            <a:ext cx="54864" cy="594360"/>
          </a:xfrm>
          <a:prstGeom prst="rect">
            <a:avLst/>
          </a:prstGeom>
          <a:solidFill>
            <a:srgbClr val="C0392B"/>
          </a:solidFill>
          <a:ln/>
        </p:spPr>
        <p:txBody>
          <a:bodyPr/>
          <a:lstStyle/>
          <a:p>
            <a:endParaRPr lang="ja-JP" altLang="en-US"/>
          </a:p>
        </p:txBody>
      </p:sp>
      <p:sp>
        <p:nvSpPr>
          <p:cNvPr id="32" name="Text 30"/>
          <p:cNvSpPr/>
          <p:nvPr/>
        </p:nvSpPr>
        <p:spPr>
          <a:xfrm>
            <a:off x="4983480" y="3502152"/>
            <a:ext cx="3566160" cy="201168"/>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承認そのものの最終判断</a:t>
            </a:r>
            <a:endParaRPr lang="en-US" sz="1100" dirty="0"/>
          </a:p>
        </p:txBody>
      </p:sp>
      <p:sp>
        <p:nvSpPr>
          <p:cNvPr id="33" name="Text 31"/>
          <p:cNvSpPr/>
          <p:nvPr/>
        </p:nvSpPr>
        <p:spPr>
          <a:xfrm>
            <a:off x="4983480" y="3703320"/>
            <a:ext cx="3566160" cy="320040"/>
          </a:xfrm>
          <a:prstGeom prst="rect">
            <a:avLst/>
          </a:prstGeom>
          <a:noFill/>
          <a:ln/>
        </p:spPr>
        <p:txBody>
          <a:bodyPr wrap="square" lIns="0" tIns="0" rIns="0" bIns="0" rtlCol="0" anchor="ctr"/>
          <a:lstStyle/>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例外的な案件や金額の大きい案件の</a:t>
            </a:r>
            <a:endParaRPr lang="en-US" sz="900" dirty="0"/>
          </a:p>
          <a:p>
            <a:pPr marL="0" indent="0">
              <a:lnSpc>
                <a:spcPct val="120000"/>
              </a:lnSpc>
              <a:buNone/>
            </a:pPr>
            <a:r>
              <a:rPr lang="en-US" sz="900" dirty="0">
                <a:solidFill>
                  <a:srgbClr val="666666"/>
                </a:solidFill>
                <a:latin typeface="Calibri" pitchFamily="34" charset="0"/>
                <a:ea typeface="Calibri" pitchFamily="34" charset="-122"/>
                <a:cs typeface="Calibri" pitchFamily="34" charset="-120"/>
              </a:rPr>
              <a:t>最終意思決定</a:t>
            </a:r>
            <a:endParaRPr lang="en-US" sz="900" dirty="0"/>
          </a:p>
        </p:txBody>
      </p:sp>
      <p:sp>
        <p:nvSpPr>
          <p:cNvPr id="34" name="Shape 32"/>
          <p:cNvSpPr/>
          <p:nvPr/>
        </p:nvSpPr>
        <p:spPr>
          <a:xfrm>
            <a:off x="457200" y="4526280"/>
            <a:ext cx="8229600" cy="91440"/>
          </a:xfrm>
          <a:prstGeom prst="rect">
            <a:avLst/>
          </a:prstGeom>
          <a:solidFill>
            <a:srgbClr val="8B7536"/>
          </a:solidFill>
          <a:ln/>
        </p:spPr>
        <p:txBody>
          <a:bodyPr/>
          <a:lstStyle/>
          <a:p>
            <a:endParaRPr lang="ja-JP" altLang="en-US"/>
          </a:p>
        </p:txBody>
      </p:sp>
      <p:sp>
        <p:nvSpPr>
          <p:cNvPr id="35" name="Text 33"/>
          <p:cNvSpPr/>
          <p:nvPr/>
        </p:nvSpPr>
        <p:spPr>
          <a:xfrm>
            <a:off x="457200" y="4206240"/>
            <a:ext cx="8229600" cy="320040"/>
          </a:xfrm>
          <a:prstGeom prst="rect">
            <a:avLst/>
          </a:prstGeom>
          <a:noFill/>
          <a:ln/>
        </p:spPr>
        <p:txBody>
          <a:bodyPr wrap="square" lIns="0" tIns="0" rIns="0" bIns="0" rtlCol="0" anchor="ctr"/>
          <a:lstStyle/>
          <a:p>
            <a:pPr marL="0" indent="0" algn="ctr">
              <a:buNone/>
            </a:pPr>
            <a:r>
              <a:rPr lang="en-US" sz="1200" b="1" dirty="0">
                <a:solidFill>
                  <a:srgbClr val="8B7536"/>
                </a:solidFill>
                <a:latin typeface="Calibri" pitchFamily="34" charset="0"/>
                <a:ea typeface="Calibri" pitchFamily="34" charset="-122"/>
                <a:cs typeface="Calibri" pitchFamily="34" charset="-120"/>
              </a:rPr>
              <a:t>AIは「チェックする側」に置く。「作る側」「登録する側」に置いてはいけない。</a:t>
            </a:r>
            <a:endParaRPr lang="en-US" sz="1200" dirty="0"/>
          </a:p>
        </p:txBody>
      </p:sp>
      <p:sp>
        <p:nvSpPr>
          <p:cNvPr id="36" name="Shape 34"/>
          <p:cNvSpPr/>
          <p:nvPr/>
        </p:nvSpPr>
        <p:spPr>
          <a:xfrm>
            <a:off x="457200" y="4800600"/>
            <a:ext cx="8229600" cy="0"/>
          </a:xfrm>
          <a:prstGeom prst="line">
            <a:avLst/>
          </a:prstGeom>
          <a:noFill/>
          <a:ln w="19050">
            <a:solidFill>
              <a:srgbClr val="C4A855"/>
            </a:solidFill>
            <a:prstDash val="solid"/>
          </a:ln>
        </p:spPr>
        <p:txBody>
          <a:bodyPr/>
          <a:lstStyle/>
          <a:p>
            <a:endParaRPr lang="ja-JP" altLang="en-US"/>
          </a:p>
        </p:txBody>
      </p:sp>
      <p:sp>
        <p:nvSpPr>
          <p:cNvPr id="37" name="Text 35"/>
          <p:cNvSpPr/>
          <p:nvPr/>
        </p:nvSpPr>
        <p:spPr>
          <a:xfrm>
            <a:off x="457200" y="4846320"/>
            <a:ext cx="3657600" cy="22860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H A R M O N I C   i n s i g h t</a:t>
            </a:r>
            <a:endParaRPr lang="en-US" sz="900" dirty="0"/>
          </a:p>
        </p:txBody>
      </p:sp>
      <p:sp>
        <p:nvSpPr>
          <p:cNvPr id="38" name="Text 36"/>
          <p:cNvSpPr/>
          <p:nvPr/>
        </p:nvSpPr>
        <p:spPr>
          <a:xfrm>
            <a:off x="7772400" y="4846320"/>
            <a:ext cx="914400" cy="22860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33333"/>
                </a:solidFill>
                <a:latin typeface="Calibri" pitchFamily="34" charset="0"/>
                <a:ea typeface="Calibri" pitchFamily="34" charset="-122"/>
                <a:cs typeface="Calibri" pitchFamily="34" charset="-120"/>
              </a:rPr>
              <a:t>適用領域の広がり ― 経費精算を超えて</a:t>
            </a:r>
            <a:endParaRPr lang="en-US" sz="2800" dirty="0"/>
          </a:p>
        </p:txBody>
      </p:sp>
      <p:sp>
        <p:nvSpPr>
          <p:cNvPr id="3" name="Shape 1"/>
          <p:cNvSpPr/>
          <p:nvPr/>
        </p:nvSpPr>
        <p:spPr>
          <a:xfrm>
            <a:off x="457200" y="822960"/>
            <a:ext cx="1828800" cy="0"/>
          </a:xfrm>
          <a:prstGeom prst="line">
            <a:avLst/>
          </a:prstGeom>
          <a:noFill/>
          <a:ln w="38100">
            <a:solidFill>
              <a:srgbClr val="C4A855"/>
            </a:solidFill>
            <a:prstDash val="solid"/>
          </a:ln>
        </p:spPr>
        <p:txBody>
          <a:bodyPr/>
          <a:lstStyle/>
          <a:p>
            <a:endParaRPr lang="ja-JP" altLang="en-US"/>
          </a:p>
        </p:txBody>
      </p:sp>
      <p:sp>
        <p:nvSpPr>
          <p:cNvPr id="4" name="Shape 2"/>
          <p:cNvSpPr/>
          <p:nvPr/>
        </p:nvSpPr>
        <p:spPr>
          <a:xfrm>
            <a:off x="365760" y="1051560"/>
            <a:ext cx="2697480" cy="1600200"/>
          </a:xfrm>
          <a:prstGeom prst="rect">
            <a:avLst/>
          </a:prstGeom>
          <a:solidFill>
            <a:srgbClr val="FFFFFF"/>
          </a:solidFill>
          <a:ln w="12700">
            <a:solidFill>
              <a:srgbClr val="E0D9C8"/>
            </a:solidFill>
            <a:prstDash val="solid"/>
          </a:ln>
        </p:spPr>
        <p:txBody>
          <a:bodyPr/>
          <a:lstStyle/>
          <a:p>
            <a:endParaRPr lang="ja-JP" altLang="en-US"/>
          </a:p>
        </p:txBody>
      </p:sp>
      <p:sp>
        <p:nvSpPr>
          <p:cNvPr id="5" name="Shape 3"/>
          <p:cNvSpPr/>
          <p:nvPr/>
        </p:nvSpPr>
        <p:spPr>
          <a:xfrm>
            <a:off x="2331720" y="1143000"/>
            <a:ext cx="640080" cy="228600"/>
          </a:xfrm>
          <a:prstGeom prst="rect">
            <a:avLst/>
          </a:prstGeom>
          <a:solidFill>
            <a:srgbClr val="27AE60"/>
          </a:solidFill>
          <a:ln/>
        </p:spPr>
        <p:txBody>
          <a:bodyPr/>
          <a:lstStyle/>
          <a:p>
            <a:endParaRPr lang="ja-JP" altLang="en-US"/>
          </a:p>
        </p:txBody>
      </p:sp>
      <p:sp>
        <p:nvSpPr>
          <p:cNvPr id="6" name="Text 4"/>
          <p:cNvSpPr/>
          <p:nvPr/>
        </p:nvSpPr>
        <p:spPr>
          <a:xfrm>
            <a:off x="2331720" y="1143000"/>
            <a:ext cx="64008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導入済</a:t>
            </a:r>
            <a:endParaRPr lang="en-US" sz="800" dirty="0"/>
          </a:p>
        </p:txBody>
      </p:sp>
      <p:pic>
        <p:nvPicPr>
          <p:cNvPr id="7" name="Image 0" descr="preencoded.png"/>
          <p:cNvPicPr>
            <a:picLocks noChangeAspect="1"/>
          </p:cNvPicPr>
          <p:nvPr/>
        </p:nvPicPr>
        <p:blipFill>
          <a:blip r:embed="rId3"/>
          <a:stretch>
            <a:fillRect/>
          </a:stretch>
        </p:blipFill>
        <p:spPr>
          <a:xfrm>
            <a:off x="548640" y="1234440"/>
            <a:ext cx="411480" cy="411480"/>
          </a:xfrm>
          <a:prstGeom prst="rect">
            <a:avLst/>
          </a:prstGeom>
        </p:spPr>
      </p:pic>
      <p:sp>
        <p:nvSpPr>
          <p:cNvPr id="8" name="Text 5"/>
          <p:cNvSpPr/>
          <p:nvPr/>
        </p:nvSpPr>
        <p:spPr>
          <a:xfrm>
            <a:off x="1051560" y="1234440"/>
            <a:ext cx="1371600" cy="36576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経費精算</a:t>
            </a:r>
            <a:endParaRPr lang="en-US" sz="1400" dirty="0"/>
          </a:p>
        </p:txBody>
      </p:sp>
      <p:sp>
        <p:nvSpPr>
          <p:cNvPr id="9" name="Text 6"/>
          <p:cNvSpPr/>
          <p:nvPr/>
        </p:nvSpPr>
        <p:spPr>
          <a:xfrm>
            <a:off x="548640" y="1783080"/>
            <a:ext cx="2331720" cy="731520"/>
          </a:xfrm>
          <a:prstGeom prst="rect">
            <a:avLst/>
          </a:prstGeom>
          <a:noFill/>
          <a:ln/>
        </p:spPr>
        <p:txBody>
          <a:bodyPr wrap="square" lIns="0" tIns="0" rIns="0" bIns="0" rtlCol="0" anchor="ctr"/>
          <a:lstStyle/>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領収書・規定チェック</a:t>
            </a:r>
            <a:endParaRPr lang="en-US" sz="1000" dirty="0"/>
          </a:p>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 自動承認</a:t>
            </a:r>
            <a:endParaRPr lang="en-US" sz="1000" dirty="0"/>
          </a:p>
        </p:txBody>
      </p:sp>
      <p:sp>
        <p:nvSpPr>
          <p:cNvPr id="10" name="Shape 7"/>
          <p:cNvSpPr/>
          <p:nvPr/>
        </p:nvSpPr>
        <p:spPr>
          <a:xfrm>
            <a:off x="3246120" y="1051560"/>
            <a:ext cx="2697480" cy="1600200"/>
          </a:xfrm>
          <a:prstGeom prst="rect">
            <a:avLst/>
          </a:prstGeom>
          <a:solidFill>
            <a:srgbClr val="FFFFFF"/>
          </a:solidFill>
          <a:ln w="12700">
            <a:solidFill>
              <a:srgbClr val="E0D9C8"/>
            </a:solidFill>
            <a:prstDash val="solid"/>
          </a:ln>
        </p:spPr>
        <p:txBody>
          <a:bodyPr/>
          <a:lstStyle/>
          <a:p>
            <a:endParaRPr lang="ja-JP" altLang="en-US"/>
          </a:p>
        </p:txBody>
      </p:sp>
      <p:sp>
        <p:nvSpPr>
          <p:cNvPr id="11" name="Shape 8"/>
          <p:cNvSpPr/>
          <p:nvPr/>
        </p:nvSpPr>
        <p:spPr>
          <a:xfrm>
            <a:off x="5120640" y="1143000"/>
            <a:ext cx="731520" cy="228600"/>
          </a:xfrm>
          <a:prstGeom prst="rect">
            <a:avLst/>
          </a:prstGeom>
          <a:solidFill>
            <a:srgbClr val="8B7536"/>
          </a:solidFill>
          <a:ln/>
        </p:spPr>
        <p:txBody>
          <a:bodyPr/>
          <a:lstStyle/>
          <a:p>
            <a:endParaRPr lang="ja-JP" altLang="en-US"/>
          </a:p>
        </p:txBody>
      </p:sp>
      <p:sp>
        <p:nvSpPr>
          <p:cNvPr id="12" name="Text 9"/>
          <p:cNvSpPr/>
          <p:nvPr/>
        </p:nvSpPr>
        <p:spPr>
          <a:xfrm>
            <a:off x="5120640" y="1143000"/>
            <a:ext cx="73152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拡張可能</a:t>
            </a:r>
            <a:endParaRPr lang="en-US" sz="800" dirty="0"/>
          </a:p>
        </p:txBody>
      </p:sp>
      <p:pic>
        <p:nvPicPr>
          <p:cNvPr id="13" name="Image 1" descr="preencoded.png"/>
          <p:cNvPicPr>
            <a:picLocks noChangeAspect="1"/>
          </p:cNvPicPr>
          <p:nvPr/>
        </p:nvPicPr>
        <p:blipFill>
          <a:blip r:embed="rId4"/>
          <a:stretch>
            <a:fillRect/>
          </a:stretch>
        </p:blipFill>
        <p:spPr>
          <a:xfrm>
            <a:off x="3429000" y="1234440"/>
            <a:ext cx="411480" cy="411480"/>
          </a:xfrm>
          <a:prstGeom prst="rect">
            <a:avLst/>
          </a:prstGeom>
        </p:spPr>
      </p:pic>
      <p:sp>
        <p:nvSpPr>
          <p:cNvPr id="14" name="Text 10"/>
          <p:cNvSpPr/>
          <p:nvPr/>
        </p:nvSpPr>
        <p:spPr>
          <a:xfrm>
            <a:off x="3931920" y="1234440"/>
            <a:ext cx="1371600" cy="36576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稟議・決裁</a:t>
            </a:r>
            <a:endParaRPr lang="en-US" sz="1400" dirty="0"/>
          </a:p>
        </p:txBody>
      </p:sp>
      <p:sp>
        <p:nvSpPr>
          <p:cNvPr id="15" name="Text 11"/>
          <p:cNvSpPr/>
          <p:nvPr/>
        </p:nvSpPr>
        <p:spPr>
          <a:xfrm>
            <a:off x="3429000" y="1783080"/>
            <a:ext cx="2331720" cy="731520"/>
          </a:xfrm>
          <a:prstGeom prst="rect">
            <a:avLst/>
          </a:prstGeom>
          <a:noFill/>
          <a:ln/>
        </p:spPr>
        <p:txBody>
          <a:bodyPr wrap="square" lIns="0" tIns="0" rIns="0" bIns="0" rtlCol="0" anchor="ctr"/>
          <a:lstStyle/>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金額・権限に応じた</a:t>
            </a:r>
            <a:endParaRPr lang="en-US" sz="1000" dirty="0"/>
          </a:p>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ルートを自動判定</a:t>
            </a:r>
            <a:endParaRPr lang="en-US" sz="1000" dirty="0"/>
          </a:p>
        </p:txBody>
      </p:sp>
      <p:sp>
        <p:nvSpPr>
          <p:cNvPr id="16" name="Shape 12"/>
          <p:cNvSpPr/>
          <p:nvPr/>
        </p:nvSpPr>
        <p:spPr>
          <a:xfrm>
            <a:off x="6126480" y="1051560"/>
            <a:ext cx="2697480" cy="1600200"/>
          </a:xfrm>
          <a:prstGeom prst="rect">
            <a:avLst/>
          </a:prstGeom>
          <a:solidFill>
            <a:srgbClr val="FFFFFF"/>
          </a:solidFill>
          <a:ln w="12700">
            <a:solidFill>
              <a:srgbClr val="E0D9C8"/>
            </a:solidFill>
            <a:prstDash val="solid"/>
          </a:ln>
        </p:spPr>
        <p:txBody>
          <a:bodyPr/>
          <a:lstStyle/>
          <a:p>
            <a:endParaRPr lang="ja-JP" altLang="en-US"/>
          </a:p>
        </p:txBody>
      </p:sp>
      <p:sp>
        <p:nvSpPr>
          <p:cNvPr id="17" name="Shape 13"/>
          <p:cNvSpPr/>
          <p:nvPr/>
        </p:nvSpPr>
        <p:spPr>
          <a:xfrm>
            <a:off x="8001000" y="1143000"/>
            <a:ext cx="731520" cy="228600"/>
          </a:xfrm>
          <a:prstGeom prst="rect">
            <a:avLst/>
          </a:prstGeom>
          <a:solidFill>
            <a:srgbClr val="8B7536"/>
          </a:solidFill>
          <a:ln/>
        </p:spPr>
        <p:txBody>
          <a:bodyPr/>
          <a:lstStyle/>
          <a:p>
            <a:endParaRPr lang="ja-JP" altLang="en-US"/>
          </a:p>
        </p:txBody>
      </p:sp>
      <p:sp>
        <p:nvSpPr>
          <p:cNvPr id="18" name="Text 14"/>
          <p:cNvSpPr/>
          <p:nvPr/>
        </p:nvSpPr>
        <p:spPr>
          <a:xfrm>
            <a:off x="8001000" y="1143000"/>
            <a:ext cx="73152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拡張可能</a:t>
            </a:r>
            <a:endParaRPr lang="en-US" sz="800" dirty="0"/>
          </a:p>
        </p:txBody>
      </p:sp>
      <p:pic>
        <p:nvPicPr>
          <p:cNvPr id="19" name="Image 2" descr="preencoded.png"/>
          <p:cNvPicPr>
            <a:picLocks noChangeAspect="1"/>
          </p:cNvPicPr>
          <p:nvPr/>
        </p:nvPicPr>
        <p:blipFill>
          <a:blip r:embed="rId5"/>
          <a:stretch>
            <a:fillRect/>
          </a:stretch>
        </p:blipFill>
        <p:spPr>
          <a:xfrm>
            <a:off x="6309360" y="1234440"/>
            <a:ext cx="411480" cy="411480"/>
          </a:xfrm>
          <a:prstGeom prst="rect">
            <a:avLst/>
          </a:prstGeom>
        </p:spPr>
      </p:pic>
      <p:sp>
        <p:nvSpPr>
          <p:cNvPr id="20" name="Text 15"/>
          <p:cNvSpPr/>
          <p:nvPr/>
        </p:nvSpPr>
        <p:spPr>
          <a:xfrm>
            <a:off x="6812280" y="1234440"/>
            <a:ext cx="1371600" cy="36576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契約審査</a:t>
            </a:r>
            <a:endParaRPr lang="en-US" sz="1400" dirty="0"/>
          </a:p>
        </p:txBody>
      </p:sp>
      <p:sp>
        <p:nvSpPr>
          <p:cNvPr id="21" name="Text 16"/>
          <p:cNvSpPr/>
          <p:nvPr/>
        </p:nvSpPr>
        <p:spPr>
          <a:xfrm>
            <a:off x="6309360" y="1783080"/>
            <a:ext cx="2331720" cy="731520"/>
          </a:xfrm>
          <a:prstGeom prst="rect">
            <a:avLst/>
          </a:prstGeom>
          <a:noFill/>
          <a:ln/>
        </p:spPr>
        <p:txBody>
          <a:bodyPr wrap="square" lIns="0" tIns="0" rIns="0" bIns="0" rtlCol="0" anchor="ctr"/>
          <a:lstStyle/>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条項リスク分析</a:t>
            </a:r>
            <a:endParaRPr lang="en-US" sz="1000" dirty="0"/>
          </a:p>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 法務エスカレーション</a:t>
            </a:r>
            <a:endParaRPr lang="en-US" sz="1000" dirty="0"/>
          </a:p>
        </p:txBody>
      </p:sp>
      <p:sp>
        <p:nvSpPr>
          <p:cNvPr id="22" name="Shape 17"/>
          <p:cNvSpPr/>
          <p:nvPr/>
        </p:nvSpPr>
        <p:spPr>
          <a:xfrm>
            <a:off x="365760" y="2834640"/>
            <a:ext cx="2697480" cy="1600200"/>
          </a:xfrm>
          <a:prstGeom prst="rect">
            <a:avLst/>
          </a:prstGeom>
          <a:solidFill>
            <a:srgbClr val="FFFFFF"/>
          </a:solidFill>
          <a:ln w="12700">
            <a:solidFill>
              <a:srgbClr val="E0D9C8"/>
            </a:solidFill>
            <a:prstDash val="solid"/>
          </a:ln>
        </p:spPr>
        <p:txBody>
          <a:bodyPr/>
          <a:lstStyle/>
          <a:p>
            <a:endParaRPr lang="ja-JP" altLang="en-US"/>
          </a:p>
        </p:txBody>
      </p:sp>
      <p:sp>
        <p:nvSpPr>
          <p:cNvPr id="23" name="Shape 18"/>
          <p:cNvSpPr/>
          <p:nvPr/>
        </p:nvSpPr>
        <p:spPr>
          <a:xfrm>
            <a:off x="2240280" y="2926080"/>
            <a:ext cx="731520" cy="228600"/>
          </a:xfrm>
          <a:prstGeom prst="rect">
            <a:avLst/>
          </a:prstGeom>
          <a:solidFill>
            <a:srgbClr val="8B7536"/>
          </a:solidFill>
          <a:ln/>
        </p:spPr>
        <p:txBody>
          <a:bodyPr/>
          <a:lstStyle/>
          <a:p>
            <a:endParaRPr lang="ja-JP" altLang="en-US"/>
          </a:p>
        </p:txBody>
      </p:sp>
      <p:sp>
        <p:nvSpPr>
          <p:cNvPr id="24" name="Text 19"/>
          <p:cNvSpPr/>
          <p:nvPr/>
        </p:nvSpPr>
        <p:spPr>
          <a:xfrm>
            <a:off x="2240280" y="2926080"/>
            <a:ext cx="73152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拡張可能</a:t>
            </a:r>
            <a:endParaRPr lang="en-US" sz="800" dirty="0"/>
          </a:p>
        </p:txBody>
      </p:sp>
      <p:pic>
        <p:nvPicPr>
          <p:cNvPr id="25" name="Image 3" descr="preencoded.png"/>
          <p:cNvPicPr>
            <a:picLocks noChangeAspect="1"/>
          </p:cNvPicPr>
          <p:nvPr/>
        </p:nvPicPr>
        <p:blipFill>
          <a:blip r:embed="rId6"/>
          <a:stretch>
            <a:fillRect/>
          </a:stretch>
        </p:blipFill>
        <p:spPr>
          <a:xfrm>
            <a:off x="548640" y="3017520"/>
            <a:ext cx="411480" cy="411480"/>
          </a:xfrm>
          <a:prstGeom prst="rect">
            <a:avLst/>
          </a:prstGeom>
        </p:spPr>
      </p:pic>
      <p:sp>
        <p:nvSpPr>
          <p:cNvPr id="26" name="Text 20"/>
          <p:cNvSpPr/>
          <p:nvPr/>
        </p:nvSpPr>
        <p:spPr>
          <a:xfrm>
            <a:off x="1051560" y="3017520"/>
            <a:ext cx="1371600" cy="36576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人事申請</a:t>
            </a:r>
            <a:endParaRPr lang="en-US" sz="1400" dirty="0"/>
          </a:p>
        </p:txBody>
      </p:sp>
      <p:sp>
        <p:nvSpPr>
          <p:cNvPr id="27" name="Text 21"/>
          <p:cNvSpPr/>
          <p:nvPr/>
        </p:nvSpPr>
        <p:spPr>
          <a:xfrm>
            <a:off x="548640" y="3566160"/>
            <a:ext cx="2331720" cy="731520"/>
          </a:xfrm>
          <a:prstGeom prst="rect">
            <a:avLst/>
          </a:prstGeom>
          <a:noFill/>
          <a:ln/>
        </p:spPr>
        <p:txBody>
          <a:bodyPr wrap="square" lIns="0" tIns="0" rIns="0" bIns="0" rtlCol="0" anchor="ctr"/>
          <a:lstStyle/>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勤怠・休暇の規定</a:t>
            </a:r>
            <a:endParaRPr lang="en-US" sz="1000" dirty="0"/>
          </a:p>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適合を自動確認</a:t>
            </a:r>
            <a:endParaRPr lang="en-US" sz="1000" dirty="0"/>
          </a:p>
        </p:txBody>
      </p:sp>
      <p:sp>
        <p:nvSpPr>
          <p:cNvPr id="28" name="Shape 22"/>
          <p:cNvSpPr/>
          <p:nvPr/>
        </p:nvSpPr>
        <p:spPr>
          <a:xfrm>
            <a:off x="3246120" y="2834640"/>
            <a:ext cx="2697480" cy="1600200"/>
          </a:xfrm>
          <a:prstGeom prst="rect">
            <a:avLst/>
          </a:prstGeom>
          <a:solidFill>
            <a:srgbClr val="FFFFFF"/>
          </a:solidFill>
          <a:ln w="12700">
            <a:solidFill>
              <a:srgbClr val="E0D9C8"/>
            </a:solidFill>
            <a:prstDash val="solid"/>
          </a:ln>
        </p:spPr>
        <p:txBody>
          <a:bodyPr/>
          <a:lstStyle/>
          <a:p>
            <a:endParaRPr lang="ja-JP" altLang="en-US"/>
          </a:p>
        </p:txBody>
      </p:sp>
      <p:sp>
        <p:nvSpPr>
          <p:cNvPr id="29" name="Shape 23"/>
          <p:cNvSpPr/>
          <p:nvPr/>
        </p:nvSpPr>
        <p:spPr>
          <a:xfrm>
            <a:off x="5120640" y="2926080"/>
            <a:ext cx="731520" cy="228600"/>
          </a:xfrm>
          <a:prstGeom prst="rect">
            <a:avLst/>
          </a:prstGeom>
          <a:solidFill>
            <a:srgbClr val="8B7536"/>
          </a:solidFill>
          <a:ln/>
        </p:spPr>
        <p:txBody>
          <a:bodyPr/>
          <a:lstStyle/>
          <a:p>
            <a:endParaRPr lang="ja-JP" altLang="en-US"/>
          </a:p>
        </p:txBody>
      </p:sp>
      <p:sp>
        <p:nvSpPr>
          <p:cNvPr id="30" name="Text 24"/>
          <p:cNvSpPr/>
          <p:nvPr/>
        </p:nvSpPr>
        <p:spPr>
          <a:xfrm>
            <a:off x="5120640" y="2926080"/>
            <a:ext cx="73152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拡張可能</a:t>
            </a:r>
            <a:endParaRPr lang="en-US" sz="800" dirty="0"/>
          </a:p>
        </p:txBody>
      </p:sp>
      <p:pic>
        <p:nvPicPr>
          <p:cNvPr id="31" name="Image 4" descr="preencoded.png"/>
          <p:cNvPicPr>
            <a:picLocks noChangeAspect="1"/>
          </p:cNvPicPr>
          <p:nvPr/>
        </p:nvPicPr>
        <p:blipFill>
          <a:blip r:embed="rId7"/>
          <a:stretch>
            <a:fillRect/>
          </a:stretch>
        </p:blipFill>
        <p:spPr>
          <a:xfrm>
            <a:off x="3429000" y="3017520"/>
            <a:ext cx="411480" cy="411480"/>
          </a:xfrm>
          <a:prstGeom prst="rect">
            <a:avLst/>
          </a:prstGeom>
        </p:spPr>
      </p:pic>
      <p:sp>
        <p:nvSpPr>
          <p:cNvPr id="32" name="Text 25"/>
          <p:cNvSpPr/>
          <p:nvPr/>
        </p:nvSpPr>
        <p:spPr>
          <a:xfrm>
            <a:off x="3931920" y="3017520"/>
            <a:ext cx="1371600" cy="36576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調達・発注</a:t>
            </a:r>
            <a:endParaRPr lang="en-US" sz="1400" dirty="0"/>
          </a:p>
        </p:txBody>
      </p:sp>
      <p:sp>
        <p:nvSpPr>
          <p:cNvPr id="33" name="Text 26"/>
          <p:cNvSpPr/>
          <p:nvPr/>
        </p:nvSpPr>
        <p:spPr>
          <a:xfrm>
            <a:off x="3429000" y="3566160"/>
            <a:ext cx="2331720" cy="731520"/>
          </a:xfrm>
          <a:prstGeom prst="rect">
            <a:avLst/>
          </a:prstGeom>
          <a:noFill/>
          <a:ln/>
        </p:spPr>
        <p:txBody>
          <a:bodyPr wrap="square" lIns="0" tIns="0" rIns="0" bIns="0" rtlCol="0" anchor="ctr"/>
          <a:lstStyle/>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予算残・取引先評価</a:t>
            </a:r>
            <a:endParaRPr lang="en-US" sz="1000" dirty="0"/>
          </a:p>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を自動検証</a:t>
            </a:r>
            <a:endParaRPr lang="en-US" sz="1000" dirty="0"/>
          </a:p>
        </p:txBody>
      </p:sp>
      <p:sp>
        <p:nvSpPr>
          <p:cNvPr id="34" name="Shape 27"/>
          <p:cNvSpPr/>
          <p:nvPr/>
        </p:nvSpPr>
        <p:spPr>
          <a:xfrm>
            <a:off x="6126480" y="2834640"/>
            <a:ext cx="2697480" cy="1600200"/>
          </a:xfrm>
          <a:prstGeom prst="rect">
            <a:avLst/>
          </a:prstGeom>
          <a:solidFill>
            <a:srgbClr val="FFFFFF"/>
          </a:solidFill>
          <a:ln w="12700">
            <a:solidFill>
              <a:srgbClr val="E0D9C8"/>
            </a:solidFill>
            <a:prstDash val="solid"/>
          </a:ln>
        </p:spPr>
        <p:txBody>
          <a:bodyPr/>
          <a:lstStyle/>
          <a:p>
            <a:endParaRPr lang="ja-JP" altLang="en-US"/>
          </a:p>
        </p:txBody>
      </p:sp>
      <p:sp>
        <p:nvSpPr>
          <p:cNvPr id="35" name="Shape 28"/>
          <p:cNvSpPr/>
          <p:nvPr/>
        </p:nvSpPr>
        <p:spPr>
          <a:xfrm>
            <a:off x="8001000" y="2926080"/>
            <a:ext cx="731520" cy="228600"/>
          </a:xfrm>
          <a:prstGeom prst="rect">
            <a:avLst/>
          </a:prstGeom>
          <a:solidFill>
            <a:srgbClr val="8B7536"/>
          </a:solidFill>
          <a:ln/>
        </p:spPr>
        <p:txBody>
          <a:bodyPr/>
          <a:lstStyle/>
          <a:p>
            <a:endParaRPr lang="ja-JP" altLang="en-US"/>
          </a:p>
        </p:txBody>
      </p:sp>
      <p:sp>
        <p:nvSpPr>
          <p:cNvPr id="36" name="Text 29"/>
          <p:cNvSpPr/>
          <p:nvPr/>
        </p:nvSpPr>
        <p:spPr>
          <a:xfrm>
            <a:off x="8001000" y="2926080"/>
            <a:ext cx="73152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拡張可能</a:t>
            </a:r>
            <a:endParaRPr lang="en-US" sz="800" dirty="0"/>
          </a:p>
        </p:txBody>
      </p:sp>
      <p:pic>
        <p:nvPicPr>
          <p:cNvPr id="37" name="Image 5" descr="preencoded.png"/>
          <p:cNvPicPr>
            <a:picLocks noChangeAspect="1"/>
          </p:cNvPicPr>
          <p:nvPr/>
        </p:nvPicPr>
        <p:blipFill>
          <a:blip r:embed="rId8"/>
          <a:stretch>
            <a:fillRect/>
          </a:stretch>
        </p:blipFill>
        <p:spPr>
          <a:xfrm>
            <a:off x="6309360" y="3017520"/>
            <a:ext cx="411480" cy="411480"/>
          </a:xfrm>
          <a:prstGeom prst="rect">
            <a:avLst/>
          </a:prstGeom>
        </p:spPr>
      </p:pic>
      <p:sp>
        <p:nvSpPr>
          <p:cNvPr id="38" name="Text 30"/>
          <p:cNvSpPr/>
          <p:nvPr/>
        </p:nvSpPr>
        <p:spPr>
          <a:xfrm>
            <a:off x="6812280" y="3017520"/>
            <a:ext cx="1371600" cy="36576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コード/リリース</a:t>
            </a:r>
            <a:endParaRPr lang="en-US" sz="1400" dirty="0"/>
          </a:p>
        </p:txBody>
      </p:sp>
      <p:sp>
        <p:nvSpPr>
          <p:cNvPr id="39" name="Text 31"/>
          <p:cNvSpPr/>
          <p:nvPr/>
        </p:nvSpPr>
        <p:spPr>
          <a:xfrm>
            <a:off x="6309360" y="3566160"/>
            <a:ext cx="2331720" cy="731520"/>
          </a:xfrm>
          <a:prstGeom prst="rect">
            <a:avLst/>
          </a:prstGeom>
          <a:noFill/>
          <a:ln/>
        </p:spPr>
        <p:txBody>
          <a:bodyPr wrap="square" lIns="0" tIns="0" rIns="0" bIns="0" rtlCol="0" anchor="ctr"/>
          <a:lstStyle/>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品質基準・テスト結果</a:t>
            </a:r>
            <a:endParaRPr lang="en-US" sz="1000" dirty="0"/>
          </a:p>
          <a:p>
            <a:pPr marL="0" indent="0">
              <a:lnSpc>
                <a:spcPct val="130000"/>
              </a:lnSpc>
              <a:buNone/>
            </a:pPr>
            <a:r>
              <a:rPr lang="en-US" sz="1000" dirty="0">
                <a:solidFill>
                  <a:srgbClr val="666666"/>
                </a:solidFill>
                <a:latin typeface="Calibri" pitchFamily="34" charset="0"/>
                <a:ea typeface="Calibri" pitchFamily="34" charset="-122"/>
                <a:cs typeface="Calibri" pitchFamily="34" charset="-120"/>
              </a:rPr>
              <a:t>の自動ゲーティング</a:t>
            </a:r>
            <a:endParaRPr lang="en-US" sz="1000" dirty="0"/>
          </a:p>
        </p:txBody>
      </p:sp>
      <p:sp>
        <p:nvSpPr>
          <p:cNvPr id="40" name="Shape 32"/>
          <p:cNvSpPr/>
          <p:nvPr/>
        </p:nvSpPr>
        <p:spPr>
          <a:xfrm>
            <a:off x="457200" y="4800600"/>
            <a:ext cx="8229600" cy="0"/>
          </a:xfrm>
          <a:prstGeom prst="line">
            <a:avLst/>
          </a:prstGeom>
          <a:noFill/>
          <a:ln w="19050">
            <a:solidFill>
              <a:srgbClr val="C4A855"/>
            </a:solidFill>
            <a:prstDash val="solid"/>
          </a:ln>
        </p:spPr>
        <p:txBody>
          <a:bodyPr/>
          <a:lstStyle/>
          <a:p>
            <a:endParaRPr lang="ja-JP" altLang="en-US"/>
          </a:p>
        </p:txBody>
      </p:sp>
      <p:sp>
        <p:nvSpPr>
          <p:cNvPr id="41" name="Text 33"/>
          <p:cNvSpPr/>
          <p:nvPr/>
        </p:nvSpPr>
        <p:spPr>
          <a:xfrm>
            <a:off x="457200" y="4846320"/>
            <a:ext cx="3657600" cy="22860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H A R M O N I C   i n s i g h t</a:t>
            </a:r>
            <a:endParaRPr lang="en-US" sz="900" dirty="0"/>
          </a:p>
        </p:txBody>
      </p:sp>
      <p:sp>
        <p:nvSpPr>
          <p:cNvPr id="42" name="Text 34"/>
          <p:cNvSpPr/>
          <p:nvPr/>
        </p:nvSpPr>
        <p:spPr>
          <a:xfrm>
            <a:off x="7772400" y="4846320"/>
            <a:ext cx="914400" cy="22860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33333"/>
                </a:solidFill>
                <a:latin typeface="Calibri" pitchFamily="34" charset="0"/>
                <a:ea typeface="Calibri" pitchFamily="34" charset="-122"/>
                <a:cs typeface="Calibri" pitchFamily="34" charset="-120"/>
              </a:rPr>
              <a:t>導入ロードマップ</a:t>
            </a:r>
            <a:endParaRPr lang="en-US" sz="2800" dirty="0"/>
          </a:p>
        </p:txBody>
      </p:sp>
      <p:sp>
        <p:nvSpPr>
          <p:cNvPr id="3" name="Shape 1"/>
          <p:cNvSpPr/>
          <p:nvPr/>
        </p:nvSpPr>
        <p:spPr>
          <a:xfrm>
            <a:off x="457200" y="822960"/>
            <a:ext cx="1828800" cy="0"/>
          </a:xfrm>
          <a:prstGeom prst="line">
            <a:avLst/>
          </a:prstGeom>
          <a:noFill/>
          <a:ln w="38100">
            <a:solidFill>
              <a:srgbClr val="C4A855"/>
            </a:solidFill>
            <a:prstDash val="solid"/>
          </a:ln>
        </p:spPr>
        <p:txBody>
          <a:bodyPr/>
          <a:lstStyle/>
          <a:p>
            <a:endParaRPr lang="ja-JP" altLang="en-US"/>
          </a:p>
        </p:txBody>
      </p:sp>
      <p:sp>
        <p:nvSpPr>
          <p:cNvPr id="4" name="Shape 2"/>
          <p:cNvSpPr/>
          <p:nvPr/>
        </p:nvSpPr>
        <p:spPr>
          <a:xfrm>
            <a:off x="731520" y="1417320"/>
            <a:ext cx="7680960" cy="0"/>
          </a:xfrm>
          <a:prstGeom prst="line">
            <a:avLst/>
          </a:prstGeom>
          <a:noFill/>
          <a:ln w="38100">
            <a:solidFill>
              <a:srgbClr val="C4A855"/>
            </a:solidFill>
            <a:prstDash val="solid"/>
          </a:ln>
        </p:spPr>
        <p:txBody>
          <a:bodyPr/>
          <a:lstStyle/>
          <a:p>
            <a:endParaRPr lang="ja-JP" altLang="en-US"/>
          </a:p>
        </p:txBody>
      </p:sp>
      <p:sp>
        <p:nvSpPr>
          <p:cNvPr id="5" name="Shape 3"/>
          <p:cNvSpPr/>
          <p:nvPr/>
        </p:nvSpPr>
        <p:spPr>
          <a:xfrm>
            <a:off x="1554480" y="1188720"/>
            <a:ext cx="457200" cy="457200"/>
          </a:xfrm>
          <a:prstGeom prst="ellipse">
            <a:avLst/>
          </a:prstGeom>
          <a:solidFill>
            <a:srgbClr val="8B7536"/>
          </a:solidFill>
          <a:ln/>
        </p:spPr>
        <p:txBody>
          <a:bodyPr/>
          <a:lstStyle/>
          <a:p>
            <a:endParaRPr lang="ja-JP" altLang="en-US"/>
          </a:p>
        </p:txBody>
      </p:sp>
      <p:sp>
        <p:nvSpPr>
          <p:cNvPr id="6" name="Text 4"/>
          <p:cNvSpPr/>
          <p:nvPr/>
        </p:nvSpPr>
        <p:spPr>
          <a:xfrm>
            <a:off x="1554480" y="1188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548640" y="1783080"/>
            <a:ext cx="2514600" cy="274320"/>
          </a:xfrm>
          <a:prstGeom prst="rect">
            <a:avLst/>
          </a:prstGeom>
          <a:noFill/>
          <a:ln/>
        </p:spPr>
        <p:txBody>
          <a:bodyPr wrap="square" lIns="0" tIns="0" rIns="0" bIns="0" rtlCol="0" anchor="ctr"/>
          <a:lstStyle/>
          <a:p>
            <a:pPr marL="0" indent="0" algn="ctr">
              <a:buNone/>
            </a:pPr>
            <a:r>
              <a:rPr lang="en-US" sz="1400" b="1" dirty="0">
                <a:solidFill>
                  <a:srgbClr val="8B7536"/>
                </a:solidFill>
                <a:latin typeface="Calibri" pitchFamily="34" charset="0"/>
                <a:ea typeface="Calibri" pitchFamily="34" charset="-122"/>
                <a:cs typeface="Calibri" pitchFamily="34" charset="-120"/>
              </a:rPr>
              <a:t>Phase 1</a:t>
            </a:r>
            <a:endParaRPr lang="en-US" sz="1400" dirty="0"/>
          </a:p>
        </p:txBody>
      </p:sp>
      <p:sp>
        <p:nvSpPr>
          <p:cNvPr id="8" name="Text 6"/>
          <p:cNvSpPr/>
          <p:nvPr/>
        </p:nvSpPr>
        <p:spPr>
          <a:xfrm>
            <a:off x="548640" y="2057400"/>
            <a:ext cx="2514600" cy="274320"/>
          </a:xfrm>
          <a:prstGeom prst="rect">
            <a:avLst/>
          </a:prstGeom>
          <a:noFill/>
          <a:ln/>
        </p:spPr>
        <p:txBody>
          <a:bodyPr wrap="square" lIns="0" tIns="0" rIns="0" bIns="0" rtlCol="0" anchor="ctr"/>
          <a:lstStyle/>
          <a:p>
            <a:pPr marL="0" indent="0" algn="ctr">
              <a:buNone/>
            </a:pPr>
            <a:r>
              <a:rPr lang="en-US" sz="1600" b="1" dirty="0">
                <a:solidFill>
                  <a:srgbClr val="333333"/>
                </a:solidFill>
                <a:latin typeface="Calibri" pitchFamily="34" charset="0"/>
                <a:ea typeface="Calibri" pitchFamily="34" charset="-122"/>
                <a:cs typeface="Calibri" pitchFamily="34" charset="-120"/>
              </a:rPr>
              <a:t>アセスメント</a:t>
            </a:r>
            <a:endParaRPr lang="en-US" sz="1600" dirty="0"/>
          </a:p>
        </p:txBody>
      </p:sp>
      <p:sp>
        <p:nvSpPr>
          <p:cNvPr id="9" name="Shape 7"/>
          <p:cNvSpPr/>
          <p:nvPr/>
        </p:nvSpPr>
        <p:spPr>
          <a:xfrm>
            <a:off x="1097280" y="2377440"/>
            <a:ext cx="1371600" cy="274320"/>
          </a:xfrm>
          <a:prstGeom prst="rect">
            <a:avLst/>
          </a:prstGeom>
          <a:solidFill>
            <a:srgbClr val="F5F0E6"/>
          </a:solidFill>
          <a:ln w="12700">
            <a:solidFill>
              <a:srgbClr val="E0D9C8"/>
            </a:solidFill>
            <a:prstDash val="solid"/>
          </a:ln>
        </p:spPr>
        <p:txBody>
          <a:bodyPr/>
          <a:lstStyle/>
          <a:p>
            <a:endParaRPr lang="ja-JP" altLang="en-US"/>
          </a:p>
        </p:txBody>
      </p:sp>
      <p:sp>
        <p:nvSpPr>
          <p:cNvPr id="10" name="Text 8"/>
          <p:cNvSpPr/>
          <p:nvPr/>
        </p:nvSpPr>
        <p:spPr>
          <a:xfrm>
            <a:off x="1097280" y="2377440"/>
            <a:ext cx="1371600" cy="274320"/>
          </a:xfrm>
          <a:prstGeom prst="rect">
            <a:avLst/>
          </a:prstGeom>
          <a:noFill/>
          <a:ln/>
        </p:spPr>
        <p:txBody>
          <a:bodyPr wrap="square" lIns="0" tIns="0" rIns="0" bIns="0" rtlCol="0" anchor="ctr"/>
          <a:lstStyle/>
          <a:p>
            <a:pPr marL="0" indent="0" algn="ctr">
              <a:buNone/>
            </a:pPr>
            <a:r>
              <a:rPr lang="en-US" sz="1000" b="1" dirty="0">
                <a:solidFill>
                  <a:srgbClr val="8B7536"/>
                </a:solidFill>
                <a:latin typeface="Calibri" pitchFamily="34" charset="0"/>
                <a:ea typeface="Calibri" pitchFamily="34" charset="-122"/>
                <a:cs typeface="Calibri" pitchFamily="34" charset="-120"/>
              </a:rPr>
              <a:t>1〜2ヶ月</a:t>
            </a:r>
            <a:endParaRPr lang="en-US" sz="1000" dirty="0"/>
          </a:p>
        </p:txBody>
      </p:sp>
      <p:sp>
        <p:nvSpPr>
          <p:cNvPr id="11" name="Shape 9"/>
          <p:cNvSpPr/>
          <p:nvPr/>
        </p:nvSpPr>
        <p:spPr>
          <a:xfrm>
            <a:off x="548640" y="2834640"/>
            <a:ext cx="2514600" cy="1645920"/>
          </a:xfrm>
          <a:prstGeom prst="rect">
            <a:avLst/>
          </a:prstGeom>
          <a:solidFill>
            <a:srgbClr val="FFFFFF"/>
          </a:solidFill>
          <a:ln w="12700">
            <a:solidFill>
              <a:srgbClr val="E0D9C8"/>
            </a:solidFill>
            <a:prstDash val="solid"/>
          </a:ln>
        </p:spPr>
        <p:txBody>
          <a:bodyPr/>
          <a:lstStyle/>
          <a:p>
            <a:endParaRPr lang="ja-JP" altLang="en-US"/>
          </a:p>
        </p:txBody>
      </p:sp>
      <p:sp>
        <p:nvSpPr>
          <p:cNvPr id="12" name="Text 10"/>
          <p:cNvSpPr/>
          <p:nvPr/>
        </p:nvSpPr>
        <p:spPr>
          <a:xfrm>
            <a:off x="640080" y="2971800"/>
            <a:ext cx="2331720" cy="137160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100" dirty="0">
                <a:solidFill>
                  <a:srgbClr val="666666"/>
                </a:solidFill>
                <a:latin typeface="Calibri" pitchFamily="34" charset="0"/>
                <a:ea typeface="Calibri" pitchFamily="34" charset="-122"/>
                <a:cs typeface="Calibri" pitchFamily="34" charset="-120"/>
              </a:rPr>
              <a:t>現行承認フローの可視化</a:t>
            </a:r>
            <a:endParaRPr lang="en-US" sz="1100" dirty="0"/>
          </a:p>
          <a:p>
            <a:pPr marL="342900" indent="-342900">
              <a:lnSpc>
                <a:spcPct val="130000"/>
              </a:lnSpc>
              <a:spcAft>
                <a:spcPts val="800"/>
              </a:spcAft>
              <a:buSzPct val="100000"/>
              <a:buChar char="•"/>
            </a:pPr>
            <a:r>
              <a:rPr lang="en-US" sz="1100" dirty="0">
                <a:solidFill>
                  <a:srgbClr val="666666"/>
                </a:solidFill>
                <a:latin typeface="Calibri" pitchFamily="34" charset="0"/>
                <a:ea typeface="Calibri" pitchFamily="34" charset="-122"/>
                <a:cs typeface="Calibri" pitchFamily="34" charset="-120"/>
              </a:rPr>
              <a:t>自動化対象の選定</a:t>
            </a:r>
            <a:endParaRPr lang="en-US" sz="1100" dirty="0"/>
          </a:p>
          <a:p>
            <a:pPr marL="342900" indent="-342900">
              <a:lnSpc>
                <a:spcPct val="130000"/>
              </a:lnSpc>
              <a:spcAft>
                <a:spcPts val="800"/>
              </a:spcAft>
              <a:buSzPct val="100000"/>
              <a:buChar char="•"/>
            </a:pPr>
            <a:r>
              <a:rPr lang="en-US" sz="1100" dirty="0">
                <a:solidFill>
                  <a:srgbClr val="666666"/>
                </a:solidFill>
                <a:latin typeface="Calibri" pitchFamily="34" charset="0"/>
                <a:ea typeface="Calibri" pitchFamily="34" charset="-122"/>
                <a:cs typeface="Calibri" pitchFamily="34" charset="-120"/>
              </a:rPr>
              <a:t>ルール・規定の整理</a:t>
            </a:r>
            <a:endParaRPr lang="en-US" sz="1100" dirty="0"/>
          </a:p>
        </p:txBody>
      </p:sp>
      <p:sp>
        <p:nvSpPr>
          <p:cNvPr id="13" name="Shape 11"/>
          <p:cNvSpPr/>
          <p:nvPr/>
        </p:nvSpPr>
        <p:spPr>
          <a:xfrm>
            <a:off x="4434840" y="1188720"/>
            <a:ext cx="457200" cy="457200"/>
          </a:xfrm>
          <a:prstGeom prst="ellipse">
            <a:avLst/>
          </a:prstGeom>
          <a:solidFill>
            <a:srgbClr val="8B7536"/>
          </a:solidFill>
          <a:ln/>
        </p:spPr>
        <p:txBody>
          <a:bodyPr/>
          <a:lstStyle/>
          <a:p>
            <a:endParaRPr lang="ja-JP" altLang="en-US"/>
          </a:p>
        </p:txBody>
      </p:sp>
      <p:sp>
        <p:nvSpPr>
          <p:cNvPr id="14" name="Text 12"/>
          <p:cNvSpPr/>
          <p:nvPr/>
        </p:nvSpPr>
        <p:spPr>
          <a:xfrm>
            <a:off x="4434840" y="1188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3429000" y="1783080"/>
            <a:ext cx="2514600" cy="274320"/>
          </a:xfrm>
          <a:prstGeom prst="rect">
            <a:avLst/>
          </a:prstGeom>
          <a:noFill/>
          <a:ln/>
        </p:spPr>
        <p:txBody>
          <a:bodyPr wrap="square" lIns="0" tIns="0" rIns="0" bIns="0" rtlCol="0" anchor="ctr"/>
          <a:lstStyle/>
          <a:p>
            <a:pPr marL="0" indent="0" algn="ctr">
              <a:buNone/>
            </a:pPr>
            <a:r>
              <a:rPr lang="en-US" sz="1400" b="1" dirty="0">
                <a:solidFill>
                  <a:srgbClr val="8B7536"/>
                </a:solidFill>
                <a:latin typeface="Calibri" pitchFamily="34" charset="0"/>
                <a:ea typeface="Calibri" pitchFamily="34" charset="-122"/>
                <a:cs typeface="Calibri" pitchFamily="34" charset="-120"/>
              </a:rPr>
              <a:t>Phase 2</a:t>
            </a:r>
            <a:endParaRPr lang="en-US" sz="1400" dirty="0"/>
          </a:p>
        </p:txBody>
      </p:sp>
      <p:sp>
        <p:nvSpPr>
          <p:cNvPr id="16" name="Text 14"/>
          <p:cNvSpPr/>
          <p:nvPr/>
        </p:nvSpPr>
        <p:spPr>
          <a:xfrm>
            <a:off x="3429000" y="2057400"/>
            <a:ext cx="2514600" cy="274320"/>
          </a:xfrm>
          <a:prstGeom prst="rect">
            <a:avLst/>
          </a:prstGeom>
          <a:noFill/>
          <a:ln/>
        </p:spPr>
        <p:txBody>
          <a:bodyPr wrap="square" lIns="0" tIns="0" rIns="0" bIns="0" rtlCol="0" anchor="ctr"/>
          <a:lstStyle/>
          <a:p>
            <a:pPr marL="0" indent="0" algn="ctr">
              <a:buNone/>
            </a:pPr>
            <a:r>
              <a:rPr lang="en-US" sz="1600" b="1" dirty="0">
                <a:solidFill>
                  <a:srgbClr val="333333"/>
                </a:solidFill>
                <a:latin typeface="Calibri" pitchFamily="34" charset="0"/>
                <a:ea typeface="Calibri" pitchFamily="34" charset="-122"/>
                <a:cs typeface="Calibri" pitchFamily="34" charset="-120"/>
              </a:rPr>
              <a:t>PoC・パイロット</a:t>
            </a:r>
            <a:endParaRPr lang="en-US" sz="1600" dirty="0"/>
          </a:p>
        </p:txBody>
      </p:sp>
      <p:sp>
        <p:nvSpPr>
          <p:cNvPr id="17" name="Shape 15"/>
          <p:cNvSpPr/>
          <p:nvPr/>
        </p:nvSpPr>
        <p:spPr>
          <a:xfrm>
            <a:off x="3977640" y="2377440"/>
            <a:ext cx="1371600" cy="274320"/>
          </a:xfrm>
          <a:prstGeom prst="rect">
            <a:avLst/>
          </a:prstGeom>
          <a:solidFill>
            <a:srgbClr val="F5F0E6"/>
          </a:solidFill>
          <a:ln w="12700">
            <a:solidFill>
              <a:srgbClr val="E0D9C8"/>
            </a:solidFill>
            <a:prstDash val="solid"/>
          </a:ln>
        </p:spPr>
        <p:txBody>
          <a:bodyPr/>
          <a:lstStyle/>
          <a:p>
            <a:endParaRPr lang="ja-JP" altLang="en-US"/>
          </a:p>
        </p:txBody>
      </p:sp>
      <p:sp>
        <p:nvSpPr>
          <p:cNvPr id="18" name="Text 16"/>
          <p:cNvSpPr/>
          <p:nvPr/>
        </p:nvSpPr>
        <p:spPr>
          <a:xfrm>
            <a:off x="3977640" y="2377440"/>
            <a:ext cx="1371600" cy="274320"/>
          </a:xfrm>
          <a:prstGeom prst="rect">
            <a:avLst/>
          </a:prstGeom>
          <a:noFill/>
          <a:ln/>
        </p:spPr>
        <p:txBody>
          <a:bodyPr wrap="square" lIns="0" tIns="0" rIns="0" bIns="0" rtlCol="0" anchor="ctr"/>
          <a:lstStyle/>
          <a:p>
            <a:pPr marL="0" indent="0" algn="ctr">
              <a:buNone/>
            </a:pPr>
            <a:r>
              <a:rPr lang="en-US" sz="1000" b="1" dirty="0">
                <a:solidFill>
                  <a:srgbClr val="8B7536"/>
                </a:solidFill>
                <a:latin typeface="Calibri" pitchFamily="34" charset="0"/>
                <a:ea typeface="Calibri" pitchFamily="34" charset="-122"/>
                <a:cs typeface="Calibri" pitchFamily="34" charset="-120"/>
              </a:rPr>
              <a:t>2〜3ヶ月</a:t>
            </a:r>
            <a:endParaRPr lang="en-US" sz="1000" dirty="0"/>
          </a:p>
        </p:txBody>
      </p:sp>
      <p:sp>
        <p:nvSpPr>
          <p:cNvPr id="19" name="Shape 17"/>
          <p:cNvSpPr/>
          <p:nvPr/>
        </p:nvSpPr>
        <p:spPr>
          <a:xfrm>
            <a:off x="3429000" y="2834640"/>
            <a:ext cx="2514600" cy="1645920"/>
          </a:xfrm>
          <a:prstGeom prst="rect">
            <a:avLst/>
          </a:prstGeom>
          <a:solidFill>
            <a:srgbClr val="FFFFFF"/>
          </a:solidFill>
          <a:ln w="12700">
            <a:solidFill>
              <a:srgbClr val="E0D9C8"/>
            </a:solidFill>
            <a:prstDash val="solid"/>
          </a:ln>
        </p:spPr>
        <p:txBody>
          <a:bodyPr/>
          <a:lstStyle/>
          <a:p>
            <a:endParaRPr lang="ja-JP" altLang="en-US"/>
          </a:p>
        </p:txBody>
      </p:sp>
      <p:sp>
        <p:nvSpPr>
          <p:cNvPr id="20" name="Text 18"/>
          <p:cNvSpPr/>
          <p:nvPr/>
        </p:nvSpPr>
        <p:spPr>
          <a:xfrm>
            <a:off x="3520440" y="2971800"/>
            <a:ext cx="2331720" cy="137160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100" dirty="0">
                <a:solidFill>
                  <a:srgbClr val="666666"/>
                </a:solidFill>
                <a:latin typeface="Calibri" pitchFamily="34" charset="0"/>
                <a:ea typeface="Calibri" pitchFamily="34" charset="-122"/>
                <a:cs typeface="Calibri" pitchFamily="34" charset="-120"/>
              </a:rPr>
              <a:t>小規模部門で試行</a:t>
            </a:r>
            <a:endParaRPr lang="en-US" sz="1100" dirty="0"/>
          </a:p>
          <a:p>
            <a:pPr marL="342900" indent="-342900">
              <a:lnSpc>
                <a:spcPct val="130000"/>
              </a:lnSpc>
              <a:spcAft>
                <a:spcPts val="800"/>
              </a:spcAft>
              <a:buSzPct val="100000"/>
              <a:buChar char="•"/>
            </a:pPr>
            <a:r>
              <a:rPr lang="en-US" sz="1100" dirty="0">
                <a:solidFill>
                  <a:srgbClr val="666666"/>
                </a:solidFill>
                <a:latin typeface="Calibri" pitchFamily="34" charset="0"/>
                <a:ea typeface="Calibri" pitchFamily="34" charset="-122"/>
                <a:cs typeface="Calibri" pitchFamily="34" charset="-120"/>
              </a:rPr>
              <a:t>現場フィードバック→運用調整</a:t>
            </a:r>
            <a:endParaRPr lang="en-US" sz="1100" dirty="0"/>
          </a:p>
          <a:p>
            <a:pPr marL="342900" indent="-342900">
              <a:lnSpc>
                <a:spcPct val="130000"/>
              </a:lnSpc>
              <a:spcAft>
                <a:spcPts val="800"/>
              </a:spcAft>
              <a:buSzPct val="100000"/>
              <a:buChar char="•"/>
            </a:pPr>
            <a:r>
              <a:rPr lang="en-US" sz="1100" dirty="0">
                <a:solidFill>
                  <a:srgbClr val="666666"/>
                </a:solidFill>
                <a:latin typeface="Calibri" pitchFamily="34" charset="0"/>
                <a:ea typeface="Calibri" pitchFamily="34" charset="-122"/>
                <a:cs typeface="Calibri" pitchFamily="34" charset="-120"/>
              </a:rPr>
              <a:t>AIモデルのチューニング</a:t>
            </a:r>
            <a:endParaRPr lang="en-US" sz="1100" dirty="0"/>
          </a:p>
        </p:txBody>
      </p:sp>
      <p:sp>
        <p:nvSpPr>
          <p:cNvPr id="21" name="Shape 19"/>
          <p:cNvSpPr/>
          <p:nvPr/>
        </p:nvSpPr>
        <p:spPr>
          <a:xfrm>
            <a:off x="7315200" y="1188720"/>
            <a:ext cx="457200" cy="457200"/>
          </a:xfrm>
          <a:prstGeom prst="ellipse">
            <a:avLst/>
          </a:prstGeom>
          <a:solidFill>
            <a:srgbClr val="8B7536"/>
          </a:solidFill>
          <a:ln/>
        </p:spPr>
        <p:txBody>
          <a:bodyPr/>
          <a:lstStyle/>
          <a:p>
            <a:endParaRPr lang="ja-JP" altLang="en-US"/>
          </a:p>
        </p:txBody>
      </p:sp>
      <p:sp>
        <p:nvSpPr>
          <p:cNvPr id="22" name="Text 20"/>
          <p:cNvSpPr/>
          <p:nvPr/>
        </p:nvSpPr>
        <p:spPr>
          <a:xfrm>
            <a:off x="7315200" y="1188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21"/>
          <p:cNvSpPr/>
          <p:nvPr/>
        </p:nvSpPr>
        <p:spPr>
          <a:xfrm>
            <a:off x="6309360" y="1783080"/>
            <a:ext cx="2514600" cy="274320"/>
          </a:xfrm>
          <a:prstGeom prst="rect">
            <a:avLst/>
          </a:prstGeom>
          <a:noFill/>
          <a:ln/>
        </p:spPr>
        <p:txBody>
          <a:bodyPr wrap="square" lIns="0" tIns="0" rIns="0" bIns="0" rtlCol="0" anchor="ctr"/>
          <a:lstStyle/>
          <a:p>
            <a:pPr marL="0" indent="0" algn="ctr">
              <a:buNone/>
            </a:pPr>
            <a:r>
              <a:rPr lang="en-US" sz="1400" b="1" dirty="0">
                <a:solidFill>
                  <a:srgbClr val="8B7536"/>
                </a:solidFill>
                <a:latin typeface="Calibri" pitchFamily="34" charset="0"/>
                <a:ea typeface="Calibri" pitchFamily="34" charset="-122"/>
                <a:cs typeface="Calibri" pitchFamily="34" charset="-120"/>
              </a:rPr>
              <a:t>Phase 3</a:t>
            </a:r>
            <a:endParaRPr lang="en-US" sz="1400" dirty="0"/>
          </a:p>
        </p:txBody>
      </p:sp>
      <p:sp>
        <p:nvSpPr>
          <p:cNvPr id="24" name="Text 22"/>
          <p:cNvSpPr/>
          <p:nvPr/>
        </p:nvSpPr>
        <p:spPr>
          <a:xfrm>
            <a:off x="6309360" y="2057400"/>
            <a:ext cx="2514600" cy="274320"/>
          </a:xfrm>
          <a:prstGeom prst="rect">
            <a:avLst/>
          </a:prstGeom>
          <a:noFill/>
          <a:ln/>
        </p:spPr>
        <p:txBody>
          <a:bodyPr wrap="square" lIns="0" tIns="0" rIns="0" bIns="0" rtlCol="0" anchor="ctr"/>
          <a:lstStyle/>
          <a:p>
            <a:pPr marL="0" indent="0" algn="ctr">
              <a:buNone/>
            </a:pPr>
            <a:r>
              <a:rPr lang="en-US" sz="1600" b="1" dirty="0">
                <a:solidFill>
                  <a:srgbClr val="333333"/>
                </a:solidFill>
                <a:latin typeface="Calibri" pitchFamily="34" charset="0"/>
                <a:ea typeface="Calibri" pitchFamily="34" charset="-122"/>
                <a:cs typeface="Calibri" pitchFamily="34" charset="-120"/>
              </a:rPr>
              <a:t>本番展開・定着</a:t>
            </a:r>
            <a:endParaRPr lang="en-US" sz="1600" dirty="0"/>
          </a:p>
        </p:txBody>
      </p:sp>
      <p:sp>
        <p:nvSpPr>
          <p:cNvPr id="25" name="Shape 23"/>
          <p:cNvSpPr/>
          <p:nvPr/>
        </p:nvSpPr>
        <p:spPr>
          <a:xfrm>
            <a:off x="6858000" y="2377440"/>
            <a:ext cx="1371600" cy="274320"/>
          </a:xfrm>
          <a:prstGeom prst="rect">
            <a:avLst/>
          </a:prstGeom>
          <a:solidFill>
            <a:srgbClr val="F5F0E6"/>
          </a:solidFill>
          <a:ln w="12700">
            <a:solidFill>
              <a:srgbClr val="E0D9C8"/>
            </a:solidFill>
            <a:prstDash val="solid"/>
          </a:ln>
        </p:spPr>
        <p:txBody>
          <a:bodyPr/>
          <a:lstStyle/>
          <a:p>
            <a:endParaRPr lang="ja-JP" altLang="en-US"/>
          </a:p>
        </p:txBody>
      </p:sp>
      <p:sp>
        <p:nvSpPr>
          <p:cNvPr id="26" name="Text 24"/>
          <p:cNvSpPr/>
          <p:nvPr/>
        </p:nvSpPr>
        <p:spPr>
          <a:xfrm>
            <a:off x="6858000" y="2377440"/>
            <a:ext cx="1371600" cy="274320"/>
          </a:xfrm>
          <a:prstGeom prst="rect">
            <a:avLst/>
          </a:prstGeom>
          <a:noFill/>
          <a:ln/>
        </p:spPr>
        <p:txBody>
          <a:bodyPr wrap="square" lIns="0" tIns="0" rIns="0" bIns="0" rtlCol="0" anchor="ctr"/>
          <a:lstStyle/>
          <a:p>
            <a:pPr marL="0" indent="0" algn="ctr">
              <a:buNone/>
            </a:pPr>
            <a:r>
              <a:rPr lang="en-US" sz="1000" b="1" dirty="0">
                <a:solidFill>
                  <a:srgbClr val="8B7536"/>
                </a:solidFill>
                <a:latin typeface="Calibri" pitchFamily="34" charset="0"/>
                <a:ea typeface="Calibri" pitchFamily="34" charset="-122"/>
                <a:cs typeface="Calibri" pitchFamily="34" charset="-120"/>
              </a:rPr>
              <a:t>2〜3ヶ月</a:t>
            </a:r>
            <a:endParaRPr lang="en-US" sz="1000" dirty="0"/>
          </a:p>
        </p:txBody>
      </p:sp>
      <p:sp>
        <p:nvSpPr>
          <p:cNvPr id="27" name="Shape 25"/>
          <p:cNvSpPr/>
          <p:nvPr/>
        </p:nvSpPr>
        <p:spPr>
          <a:xfrm>
            <a:off x="6309360" y="2834640"/>
            <a:ext cx="2514600" cy="1645920"/>
          </a:xfrm>
          <a:prstGeom prst="rect">
            <a:avLst/>
          </a:prstGeom>
          <a:solidFill>
            <a:srgbClr val="FFFFFF"/>
          </a:solidFill>
          <a:ln w="12700">
            <a:solidFill>
              <a:srgbClr val="E0D9C8"/>
            </a:solidFill>
            <a:prstDash val="solid"/>
          </a:ln>
        </p:spPr>
        <p:txBody>
          <a:bodyPr/>
          <a:lstStyle/>
          <a:p>
            <a:endParaRPr lang="ja-JP" altLang="en-US"/>
          </a:p>
        </p:txBody>
      </p:sp>
      <p:sp>
        <p:nvSpPr>
          <p:cNvPr id="28" name="Text 26"/>
          <p:cNvSpPr/>
          <p:nvPr/>
        </p:nvSpPr>
        <p:spPr>
          <a:xfrm>
            <a:off x="6400800" y="2971800"/>
            <a:ext cx="2331720" cy="137160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100" dirty="0">
                <a:solidFill>
                  <a:srgbClr val="666666"/>
                </a:solidFill>
                <a:latin typeface="Calibri" pitchFamily="34" charset="0"/>
                <a:ea typeface="Calibri" pitchFamily="34" charset="-122"/>
                <a:cs typeface="Calibri" pitchFamily="34" charset="-120"/>
              </a:rPr>
              <a:t>全社展開・教育</a:t>
            </a:r>
            <a:endParaRPr lang="en-US" sz="1100" dirty="0"/>
          </a:p>
          <a:p>
            <a:pPr marL="342900" indent="-342900">
              <a:lnSpc>
                <a:spcPct val="130000"/>
              </a:lnSpc>
              <a:spcAft>
                <a:spcPts val="800"/>
              </a:spcAft>
              <a:buSzPct val="100000"/>
              <a:buChar char="•"/>
            </a:pPr>
            <a:r>
              <a:rPr lang="en-US" sz="1100" dirty="0">
                <a:solidFill>
                  <a:srgbClr val="666666"/>
                </a:solidFill>
                <a:latin typeface="Calibri" pitchFamily="34" charset="0"/>
                <a:ea typeface="Calibri" pitchFamily="34" charset="-122"/>
                <a:cs typeface="Calibri" pitchFamily="34" charset="-120"/>
              </a:rPr>
              <a:t>モニタリング体制構築</a:t>
            </a:r>
            <a:endParaRPr lang="en-US" sz="1100" dirty="0"/>
          </a:p>
          <a:p>
            <a:pPr marL="342900" indent="-342900">
              <a:lnSpc>
                <a:spcPct val="130000"/>
              </a:lnSpc>
              <a:spcAft>
                <a:spcPts val="800"/>
              </a:spcAft>
              <a:buSzPct val="100000"/>
              <a:buChar char="•"/>
            </a:pPr>
            <a:r>
              <a:rPr lang="en-US" sz="1100" dirty="0">
                <a:solidFill>
                  <a:srgbClr val="666666"/>
                </a:solidFill>
                <a:latin typeface="Calibri" pitchFamily="34" charset="0"/>
                <a:ea typeface="Calibri" pitchFamily="34" charset="-122"/>
                <a:cs typeface="Calibri" pitchFamily="34" charset="-120"/>
              </a:rPr>
              <a:t>定着化支援・改善サイクル確立</a:t>
            </a:r>
            <a:endParaRPr lang="en-US" sz="1100" dirty="0"/>
          </a:p>
        </p:txBody>
      </p:sp>
      <p:sp>
        <p:nvSpPr>
          <p:cNvPr id="29" name="Shape 27"/>
          <p:cNvSpPr/>
          <p:nvPr/>
        </p:nvSpPr>
        <p:spPr>
          <a:xfrm>
            <a:off x="457200" y="4800600"/>
            <a:ext cx="8229600" cy="0"/>
          </a:xfrm>
          <a:prstGeom prst="line">
            <a:avLst/>
          </a:prstGeom>
          <a:noFill/>
          <a:ln w="19050">
            <a:solidFill>
              <a:srgbClr val="C4A855"/>
            </a:solidFill>
            <a:prstDash val="solid"/>
          </a:ln>
        </p:spPr>
        <p:txBody>
          <a:bodyPr/>
          <a:lstStyle/>
          <a:p>
            <a:endParaRPr lang="ja-JP" altLang="en-US"/>
          </a:p>
        </p:txBody>
      </p:sp>
      <p:sp>
        <p:nvSpPr>
          <p:cNvPr id="30" name="Text 28"/>
          <p:cNvSpPr/>
          <p:nvPr/>
        </p:nvSpPr>
        <p:spPr>
          <a:xfrm>
            <a:off x="457200" y="4846320"/>
            <a:ext cx="3657600" cy="22860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H A R M O N I C   i n s i g h t</a:t>
            </a:r>
            <a:endParaRPr lang="en-US" sz="900" dirty="0"/>
          </a:p>
        </p:txBody>
      </p:sp>
      <p:sp>
        <p:nvSpPr>
          <p:cNvPr id="31" name="Text 29"/>
          <p:cNvSpPr/>
          <p:nvPr/>
        </p:nvSpPr>
        <p:spPr>
          <a:xfrm>
            <a:off x="7772400" y="4846320"/>
            <a:ext cx="914400" cy="22860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A855"/>
          </a:solidFill>
          <a:ln/>
        </p:spPr>
        <p:txBody>
          <a:bodyPr/>
          <a:lstStyle/>
          <a:p>
            <a:endParaRPr lang="ja-JP" altLang="en-US"/>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33333"/>
                </a:solidFill>
                <a:latin typeface="Calibri" pitchFamily="34" charset="0"/>
                <a:ea typeface="Calibri" pitchFamily="34" charset="-122"/>
                <a:cs typeface="Calibri" pitchFamily="34" charset="-120"/>
              </a:rPr>
              <a:t>まとめ：AI承認がもたらす変革</a:t>
            </a:r>
            <a:endParaRPr lang="en-US" sz="2800" dirty="0"/>
          </a:p>
        </p:txBody>
      </p:sp>
      <p:sp>
        <p:nvSpPr>
          <p:cNvPr id="4" name="Shape 2"/>
          <p:cNvSpPr/>
          <p:nvPr/>
        </p:nvSpPr>
        <p:spPr>
          <a:xfrm>
            <a:off x="457200" y="822960"/>
            <a:ext cx="1828800" cy="0"/>
          </a:xfrm>
          <a:prstGeom prst="line">
            <a:avLst/>
          </a:prstGeom>
          <a:noFill/>
          <a:ln w="38100">
            <a:solidFill>
              <a:srgbClr val="C4A855"/>
            </a:solidFill>
            <a:prstDash val="solid"/>
          </a:ln>
        </p:spPr>
        <p:txBody>
          <a:bodyPr/>
          <a:lstStyle/>
          <a:p>
            <a:endParaRPr lang="ja-JP" altLang="en-US"/>
          </a:p>
        </p:txBody>
      </p:sp>
      <p:sp>
        <p:nvSpPr>
          <p:cNvPr id="5" name="Shape 3"/>
          <p:cNvSpPr/>
          <p:nvPr/>
        </p:nvSpPr>
        <p:spPr>
          <a:xfrm>
            <a:off x="365760" y="1188720"/>
            <a:ext cx="1965960" cy="2103120"/>
          </a:xfrm>
          <a:prstGeom prst="rect">
            <a:avLst/>
          </a:prstGeom>
          <a:solidFill>
            <a:srgbClr val="FFFFFF"/>
          </a:solidFill>
          <a:ln w="12700">
            <a:solidFill>
              <a:srgbClr val="E0D9C8"/>
            </a:solidFill>
            <a:prstDash val="solid"/>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051560" y="1371600"/>
            <a:ext cx="548640" cy="548640"/>
          </a:xfrm>
          <a:prstGeom prst="rect">
            <a:avLst/>
          </a:prstGeom>
        </p:spPr>
      </p:pic>
      <p:sp>
        <p:nvSpPr>
          <p:cNvPr id="7" name="Text 4"/>
          <p:cNvSpPr/>
          <p:nvPr/>
        </p:nvSpPr>
        <p:spPr>
          <a:xfrm>
            <a:off x="457200" y="2057400"/>
            <a:ext cx="1783080" cy="320040"/>
          </a:xfrm>
          <a:prstGeom prst="rect">
            <a:avLst/>
          </a:prstGeom>
          <a:noFill/>
          <a:ln/>
        </p:spPr>
        <p:txBody>
          <a:bodyPr wrap="square" lIns="0" tIns="0" rIns="0" bIns="0" rtlCol="0" anchor="ctr"/>
          <a:lstStyle/>
          <a:p>
            <a:pPr marL="0" indent="0" algn="ctr">
              <a:buNone/>
            </a:pPr>
            <a:r>
              <a:rPr lang="en-US" sz="1500" b="1" dirty="0">
                <a:solidFill>
                  <a:srgbClr val="333333"/>
                </a:solidFill>
                <a:latin typeface="Calibri" pitchFamily="34" charset="0"/>
                <a:ea typeface="Calibri" pitchFamily="34" charset="-122"/>
                <a:cs typeface="Calibri" pitchFamily="34" charset="-120"/>
              </a:rPr>
              <a:t>スピード</a:t>
            </a:r>
            <a:endParaRPr lang="en-US" sz="1500" dirty="0"/>
          </a:p>
        </p:txBody>
      </p:sp>
      <p:sp>
        <p:nvSpPr>
          <p:cNvPr id="8" name="Shape 5"/>
          <p:cNvSpPr/>
          <p:nvPr/>
        </p:nvSpPr>
        <p:spPr>
          <a:xfrm>
            <a:off x="914400" y="2423160"/>
            <a:ext cx="868680" cy="0"/>
          </a:xfrm>
          <a:prstGeom prst="line">
            <a:avLst/>
          </a:prstGeom>
          <a:noFill/>
          <a:ln w="25400">
            <a:solidFill>
              <a:srgbClr val="C4A855"/>
            </a:solidFill>
            <a:prstDash val="solid"/>
          </a:ln>
        </p:spPr>
        <p:txBody>
          <a:bodyPr/>
          <a:lstStyle/>
          <a:p>
            <a:endParaRPr lang="ja-JP" altLang="en-US"/>
          </a:p>
        </p:txBody>
      </p:sp>
      <p:sp>
        <p:nvSpPr>
          <p:cNvPr id="9" name="Text 6"/>
          <p:cNvSpPr/>
          <p:nvPr/>
        </p:nvSpPr>
        <p:spPr>
          <a:xfrm>
            <a:off x="457200" y="2514600"/>
            <a:ext cx="1783080" cy="640080"/>
          </a:xfrm>
          <a:prstGeom prst="rect">
            <a:avLst/>
          </a:prstGeom>
          <a:noFill/>
          <a:ln/>
        </p:spPr>
        <p:txBody>
          <a:bodyPr wrap="square" lIns="0" tIns="0" rIns="0" bIns="0" rtlCol="0" anchor="ctr"/>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定型承認の</a:t>
            </a:r>
            <a:endParaRPr lang="en-US" sz="1100" dirty="0"/>
          </a:p>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リードタイムを大幅短縮</a:t>
            </a:r>
            <a:endParaRPr lang="en-US" sz="1100" dirty="0"/>
          </a:p>
        </p:txBody>
      </p:sp>
      <p:sp>
        <p:nvSpPr>
          <p:cNvPr id="10" name="Shape 7"/>
          <p:cNvSpPr/>
          <p:nvPr/>
        </p:nvSpPr>
        <p:spPr>
          <a:xfrm>
            <a:off x="2560320" y="1188720"/>
            <a:ext cx="1965960" cy="2103120"/>
          </a:xfrm>
          <a:prstGeom prst="rect">
            <a:avLst/>
          </a:prstGeom>
          <a:solidFill>
            <a:srgbClr val="FFFFFF"/>
          </a:solidFill>
          <a:ln w="12700">
            <a:solidFill>
              <a:srgbClr val="E0D9C8"/>
            </a:solidFill>
            <a:prstDash val="solid"/>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3246120" y="1371600"/>
            <a:ext cx="548640" cy="548640"/>
          </a:xfrm>
          <a:prstGeom prst="rect">
            <a:avLst/>
          </a:prstGeom>
        </p:spPr>
      </p:pic>
      <p:sp>
        <p:nvSpPr>
          <p:cNvPr id="12" name="Text 8"/>
          <p:cNvSpPr/>
          <p:nvPr/>
        </p:nvSpPr>
        <p:spPr>
          <a:xfrm>
            <a:off x="2651760" y="2057400"/>
            <a:ext cx="1783080" cy="320040"/>
          </a:xfrm>
          <a:prstGeom prst="rect">
            <a:avLst/>
          </a:prstGeom>
          <a:noFill/>
          <a:ln/>
        </p:spPr>
        <p:txBody>
          <a:bodyPr wrap="square" lIns="0" tIns="0" rIns="0" bIns="0" rtlCol="0" anchor="ctr"/>
          <a:lstStyle/>
          <a:p>
            <a:pPr marL="0" indent="0" algn="ctr">
              <a:buNone/>
            </a:pPr>
            <a:r>
              <a:rPr lang="en-US" sz="1500" b="1" dirty="0">
                <a:solidFill>
                  <a:srgbClr val="333333"/>
                </a:solidFill>
                <a:latin typeface="Calibri" pitchFamily="34" charset="0"/>
                <a:ea typeface="Calibri" pitchFamily="34" charset="-122"/>
                <a:cs typeface="Calibri" pitchFamily="34" charset="-120"/>
              </a:rPr>
              <a:t>正確性</a:t>
            </a:r>
            <a:endParaRPr lang="en-US" sz="1500" dirty="0"/>
          </a:p>
        </p:txBody>
      </p:sp>
      <p:sp>
        <p:nvSpPr>
          <p:cNvPr id="13" name="Shape 9"/>
          <p:cNvSpPr/>
          <p:nvPr/>
        </p:nvSpPr>
        <p:spPr>
          <a:xfrm>
            <a:off x="3108960" y="2423160"/>
            <a:ext cx="868680" cy="0"/>
          </a:xfrm>
          <a:prstGeom prst="line">
            <a:avLst/>
          </a:prstGeom>
          <a:noFill/>
          <a:ln w="25400">
            <a:solidFill>
              <a:srgbClr val="C4A855"/>
            </a:solidFill>
            <a:prstDash val="solid"/>
          </a:ln>
        </p:spPr>
        <p:txBody>
          <a:bodyPr/>
          <a:lstStyle/>
          <a:p>
            <a:endParaRPr lang="ja-JP" altLang="en-US"/>
          </a:p>
        </p:txBody>
      </p:sp>
      <p:sp>
        <p:nvSpPr>
          <p:cNvPr id="14" name="Text 10"/>
          <p:cNvSpPr/>
          <p:nvPr/>
        </p:nvSpPr>
        <p:spPr>
          <a:xfrm>
            <a:off x="2651760" y="2514600"/>
            <a:ext cx="1783080" cy="640080"/>
          </a:xfrm>
          <a:prstGeom prst="rect">
            <a:avLst/>
          </a:prstGeom>
          <a:noFill/>
          <a:ln/>
        </p:spPr>
        <p:txBody>
          <a:bodyPr wrap="square" lIns="0" tIns="0" rIns="0" bIns="0" rtlCol="0" anchor="ctr"/>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ヒューマンエラーを</a:t>
            </a:r>
            <a:endParaRPr lang="en-US" sz="1100" dirty="0"/>
          </a:p>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大幅に削減</a:t>
            </a:r>
            <a:endParaRPr lang="en-US" sz="1100" dirty="0"/>
          </a:p>
        </p:txBody>
      </p:sp>
      <p:sp>
        <p:nvSpPr>
          <p:cNvPr id="15" name="Shape 11"/>
          <p:cNvSpPr/>
          <p:nvPr/>
        </p:nvSpPr>
        <p:spPr>
          <a:xfrm>
            <a:off x="4754880" y="1188720"/>
            <a:ext cx="1965960" cy="2103120"/>
          </a:xfrm>
          <a:prstGeom prst="rect">
            <a:avLst/>
          </a:prstGeom>
          <a:solidFill>
            <a:srgbClr val="FFFFFF"/>
          </a:solidFill>
          <a:ln w="12700">
            <a:solidFill>
              <a:srgbClr val="E0D9C8"/>
            </a:solidFill>
            <a:prstDash val="solid"/>
          </a:ln>
        </p:spPr>
        <p:txBody>
          <a:bodyPr/>
          <a:lstStyle/>
          <a:p>
            <a:endParaRPr lang="ja-JP" altLang="en-US"/>
          </a:p>
        </p:txBody>
      </p:sp>
      <p:pic>
        <p:nvPicPr>
          <p:cNvPr id="16" name="Image 2" descr="preencoded.png"/>
          <p:cNvPicPr>
            <a:picLocks noChangeAspect="1"/>
          </p:cNvPicPr>
          <p:nvPr/>
        </p:nvPicPr>
        <p:blipFill>
          <a:blip r:embed="rId5"/>
          <a:stretch>
            <a:fillRect/>
          </a:stretch>
        </p:blipFill>
        <p:spPr>
          <a:xfrm>
            <a:off x="5440680" y="1371600"/>
            <a:ext cx="548640" cy="548640"/>
          </a:xfrm>
          <a:prstGeom prst="rect">
            <a:avLst/>
          </a:prstGeom>
        </p:spPr>
      </p:pic>
      <p:sp>
        <p:nvSpPr>
          <p:cNvPr id="17" name="Text 12"/>
          <p:cNvSpPr/>
          <p:nvPr/>
        </p:nvSpPr>
        <p:spPr>
          <a:xfrm>
            <a:off x="4846320" y="2057400"/>
            <a:ext cx="1783080" cy="320040"/>
          </a:xfrm>
          <a:prstGeom prst="rect">
            <a:avLst/>
          </a:prstGeom>
          <a:noFill/>
          <a:ln/>
        </p:spPr>
        <p:txBody>
          <a:bodyPr wrap="square" lIns="0" tIns="0" rIns="0" bIns="0" rtlCol="0" anchor="ctr"/>
          <a:lstStyle/>
          <a:p>
            <a:pPr marL="0" indent="0" algn="ctr">
              <a:buNone/>
            </a:pPr>
            <a:r>
              <a:rPr lang="en-US" sz="1500" b="1" dirty="0">
                <a:solidFill>
                  <a:srgbClr val="333333"/>
                </a:solidFill>
                <a:latin typeface="Calibri" pitchFamily="34" charset="0"/>
                <a:ea typeface="Calibri" pitchFamily="34" charset="-122"/>
                <a:cs typeface="Calibri" pitchFamily="34" charset="-120"/>
              </a:rPr>
              <a:t>透明性</a:t>
            </a:r>
            <a:endParaRPr lang="en-US" sz="1500" dirty="0"/>
          </a:p>
        </p:txBody>
      </p:sp>
      <p:sp>
        <p:nvSpPr>
          <p:cNvPr id="18" name="Shape 13"/>
          <p:cNvSpPr/>
          <p:nvPr/>
        </p:nvSpPr>
        <p:spPr>
          <a:xfrm>
            <a:off x="5303520" y="2423160"/>
            <a:ext cx="868680" cy="0"/>
          </a:xfrm>
          <a:prstGeom prst="line">
            <a:avLst/>
          </a:prstGeom>
          <a:noFill/>
          <a:ln w="25400">
            <a:solidFill>
              <a:srgbClr val="C4A855"/>
            </a:solidFill>
            <a:prstDash val="solid"/>
          </a:ln>
        </p:spPr>
        <p:txBody>
          <a:bodyPr/>
          <a:lstStyle/>
          <a:p>
            <a:endParaRPr lang="ja-JP" altLang="en-US"/>
          </a:p>
        </p:txBody>
      </p:sp>
      <p:sp>
        <p:nvSpPr>
          <p:cNvPr id="19" name="Text 14"/>
          <p:cNvSpPr/>
          <p:nvPr/>
        </p:nvSpPr>
        <p:spPr>
          <a:xfrm>
            <a:off x="4846320" y="2514600"/>
            <a:ext cx="1783080" cy="640080"/>
          </a:xfrm>
          <a:prstGeom prst="rect">
            <a:avLst/>
          </a:prstGeom>
          <a:noFill/>
          <a:ln/>
        </p:spPr>
        <p:txBody>
          <a:bodyPr wrap="square" lIns="0" tIns="0" rIns="0" bIns="0" rtlCol="0" anchor="ctr"/>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全判断の根拠が</a:t>
            </a:r>
            <a:endParaRPr lang="en-US" sz="1100" dirty="0"/>
          </a:p>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記録・追跡可能</a:t>
            </a:r>
            <a:endParaRPr lang="en-US" sz="1100" dirty="0"/>
          </a:p>
        </p:txBody>
      </p:sp>
      <p:sp>
        <p:nvSpPr>
          <p:cNvPr id="20" name="Shape 15"/>
          <p:cNvSpPr/>
          <p:nvPr/>
        </p:nvSpPr>
        <p:spPr>
          <a:xfrm>
            <a:off x="6949440" y="1188720"/>
            <a:ext cx="1965960" cy="2103120"/>
          </a:xfrm>
          <a:prstGeom prst="rect">
            <a:avLst/>
          </a:prstGeom>
          <a:solidFill>
            <a:srgbClr val="FFFFFF"/>
          </a:solidFill>
          <a:ln w="12700">
            <a:solidFill>
              <a:srgbClr val="E0D9C8"/>
            </a:solidFill>
            <a:prstDash val="solid"/>
          </a:ln>
        </p:spPr>
        <p:txBody>
          <a:bodyPr/>
          <a:lstStyle/>
          <a:p>
            <a:endParaRPr lang="ja-JP" altLang="en-US"/>
          </a:p>
        </p:txBody>
      </p:sp>
      <p:pic>
        <p:nvPicPr>
          <p:cNvPr id="21" name="Image 3" descr="preencoded.png"/>
          <p:cNvPicPr>
            <a:picLocks noChangeAspect="1"/>
          </p:cNvPicPr>
          <p:nvPr/>
        </p:nvPicPr>
        <p:blipFill>
          <a:blip r:embed="rId6"/>
          <a:stretch>
            <a:fillRect/>
          </a:stretch>
        </p:blipFill>
        <p:spPr>
          <a:xfrm>
            <a:off x="7635240" y="1371600"/>
            <a:ext cx="548640" cy="548640"/>
          </a:xfrm>
          <a:prstGeom prst="rect">
            <a:avLst/>
          </a:prstGeom>
        </p:spPr>
      </p:pic>
      <p:sp>
        <p:nvSpPr>
          <p:cNvPr id="22" name="Text 16"/>
          <p:cNvSpPr/>
          <p:nvPr/>
        </p:nvSpPr>
        <p:spPr>
          <a:xfrm>
            <a:off x="7040880" y="2057400"/>
            <a:ext cx="1783080" cy="320040"/>
          </a:xfrm>
          <a:prstGeom prst="rect">
            <a:avLst/>
          </a:prstGeom>
          <a:noFill/>
          <a:ln/>
        </p:spPr>
        <p:txBody>
          <a:bodyPr wrap="square" lIns="0" tIns="0" rIns="0" bIns="0" rtlCol="0" anchor="ctr"/>
          <a:lstStyle/>
          <a:p>
            <a:pPr marL="0" indent="0" algn="ctr">
              <a:buNone/>
            </a:pPr>
            <a:r>
              <a:rPr lang="en-US" sz="1500" b="1" dirty="0">
                <a:solidFill>
                  <a:srgbClr val="333333"/>
                </a:solidFill>
                <a:latin typeface="Calibri" pitchFamily="34" charset="0"/>
                <a:ea typeface="Calibri" pitchFamily="34" charset="-122"/>
                <a:cs typeface="Calibri" pitchFamily="34" charset="-120"/>
              </a:rPr>
              <a:t>スケーラビリティ</a:t>
            </a:r>
            <a:endParaRPr lang="en-US" sz="1500" dirty="0"/>
          </a:p>
        </p:txBody>
      </p:sp>
      <p:sp>
        <p:nvSpPr>
          <p:cNvPr id="23" name="Shape 17"/>
          <p:cNvSpPr/>
          <p:nvPr/>
        </p:nvSpPr>
        <p:spPr>
          <a:xfrm>
            <a:off x="7498080" y="2423160"/>
            <a:ext cx="868680" cy="0"/>
          </a:xfrm>
          <a:prstGeom prst="line">
            <a:avLst/>
          </a:prstGeom>
          <a:noFill/>
          <a:ln w="25400">
            <a:solidFill>
              <a:srgbClr val="C4A855"/>
            </a:solidFill>
            <a:prstDash val="solid"/>
          </a:ln>
        </p:spPr>
        <p:txBody>
          <a:bodyPr/>
          <a:lstStyle/>
          <a:p>
            <a:endParaRPr lang="ja-JP" altLang="en-US"/>
          </a:p>
        </p:txBody>
      </p:sp>
      <p:sp>
        <p:nvSpPr>
          <p:cNvPr id="24" name="Text 18"/>
          <p:cNvSpPr/>
          <p:nvPr/>
        </p:nvSpPr>
        <p:spPr>
          <a:xfrm>
            <a:off x="7040880" y="2514600"/>
            <a:ext cx="1783080" cy="640080"/>
          </a:xfrm>
          <a:prstGeom prst="rect">
            <a:avLst/>
          </a:prstGeom>
          <a:noFill/>
          <a:ln/>
        </p:spPr>
        <p:txBody>
          <a:bodyPr wrap="square" lIns="0" tIns="0" rIns="0" bIns="0" rtlCol="0" anchor="ctr"/>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件数増加にも</a:t>
            </a:r>
            <a:endParaRPr lang="en-US" sz="1100" dirty="0"/>
          </a:p>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コスト比例せず対応</a:t>
            </a:r>
            <a:endParaRPr lang="en-US" sz="1100" dirty="0"/>
          </a:p>
        </p:txBody>
      </p:sp>
      <p:sp>
        <p:nvSpPr>
          <p:cNvPr id="25" name="Shape 19"/>
          <p:cNvSpPr/>
          <p:nvPr/>
        </p:nvSpPr>
        <p:spPr>
          <a:xfrm>
            <a:off x="457200" y="3657600"/>
            <a:ext cx="8229600" cy="640080"/>
          </a:xfrm>
          <a:prstGeom prst="rect">
            <a:avLst/>
          </a:prstGeom>
          <a:solidFill>
            <a:srgbClr val="8B7536"/>
          </a:solidFill>
          <a:ln/>
        </p:spPr>
        <p:txBody>
          <a:bodyPr/>
          <a:lstStyle/>
          <a:p>
            <a:endParaRPr lang="ja-JP" altLang="en-US"/>
          </a:p>
        </p:txBody>
      </p:sp>
      <p:sp>
        <p:nvSpPr>
          <p:cNvPr id="26" name="Text 20"/>
          <p:cNvSpPr/>
          <p:nvPr/>
        </p:nvSpPr>
        <p:spPr>
          <a:xfrm>
            <a:off x="640080" y="3657600"/>
            <a:ext cx="786384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AIは承認者を置き換えるのではなく、承認者がより価値の高い判断に集中できる環境をつくる</a:t>
            </a:r>
            <a:endParaRPr lang="en-US" sz="1400" dirty="0"/>
          </a:p>
        </p:txBody>
      </p:sp>
      <p:sp>
        <p:nvSpPr>
          <p:cNvPr id="27" name="Text 21"/>
          <p:cNvSpPr/>
          <p:nvPr/>
        </p:nvSpPr>
        <p:spPr>
          <a:xfrm>
            <a:off x="1828800" y="4480560"/>
            <a:ext cx="5486400" cy="274320"/>
          </a:xfrm>
          <a:prstGeom prst="rect">
            <a:avLst/>
          </a:prstGeom>
          <a:noFill/>
          <a:ln/>
        </p:spPr>
        <p:txBody>
          <a:bodyPr wrap="square" lIns="0" tIns="0" rIns="0" bIns="0" rtlCol="0" anchor="ctr"/>
          <a:lstStyle/>
          <a:p>
            <a:pPr marL="0" indent="0" algn="ctr">
              <a:buNone/>
            </a:pPr>
            <a:r>
              <a:rPr lang="en-US" sz="1100" b="1" kern="0" spc="800" dirty="0">
                <a:solidFill>
                  <a:srgbClr val="333333"/>
                </a:solidFill>
                <a:latin typeface="Calibri" pitchFamily="34" charset="0"/>
                <a:ea typeface="Calibri" pitchFamily="34" charset="-122"/>
                <a:cs typeface="Calibri" pitchFamily="34" charset="-120"/>
              </a:rPr>
              <a:t>H A R M O N I C</a:t>
            </a:r>
            <a:r>
              <a:rPr lang="en-US" sz="1100" dirty="0">
                <a:solidFill>
                  <a:srgbClr val="000000"/>
                </a:solidFill>
              </a:rPr>
              <a:t>   </a:t>
            </a:r>
            <a:r>
              <a:rPr lang="en-US" sz="1100" kern="0" spc="400" dirty="0">
                <a:solidFill>
                  <a:srgbClr val="C4A855"/>
                </a:solidFill>
                <a:latin typeface="Calibri" pitchFamily="34" charset="0"/>
                <a:ea typeface="Calibri" pitchFamily="34" charset="-122"/>
                <a:cs typeface="Calibri" pitchFamily="34" charset="-120"/>
              </a:rPr>
              <a:t>i n s i g h t</a:t>
            </a:r>
            <a:endParaRPr lang="en-US" sz="1100" dirty="0"/>
          </a:p>
        </p:txBody>
      </p:sp>
      <p:sp>
        <p:nvSpPr>
          <p:cNvPr id="28" name="Shape 22"/>
          <p:cNvSpPr/>
          <p:nvPr/>
        </p:nvSpPr>
        <p:spPr>
          <a:xfrm>
            <a:off x="0" y="5088636"/>
            <a:ext cx="9144000" cy="54864"/>
          </a:xfrm>
          <a:prstGeom prst="rect">
            <a:avLst/>
          </a:prstGeom>
          <a:solidFill>
            <a:srgbClr val="C4A855"/>
          </a:solidFill>
          <a:ln/>
        </p:spPr>
        <p:txBody>
          <a:bodyPr/>
          <a:lstStyle/>
          <a:p>
            <a:endParaRPr lang="ja-JP"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1467</Words>
  <Application>Microsoft Office PowerPoint</Application>
  <PresentationFormat>画面に合わせる (16:9)</PresentationFormat>
  <Paragraphs>211</Paragraphs>
  <Slides>9</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Arial</vt:lpstr>
      <vt:lpstr>Calibri</vt:lpstr>
      <vt:lpstr>Georgia</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AI時代の承認プロセス</dc:title>
  <dc:subject>PptxGenJS Presentation</dc:subject>
  <dc:creator>Harmonic Insight</dc:creator>
  <cp:lastModifiedBy>博之 瀬田</cp:lastModifiedBy>
  <cp:revision>1</cp:revision>
  <dcterms:created xsi:type="dcterms:W3CDTF">2026-03-23T12:39:02Z</dcterms:created>
  <dcterms:modified xsi:type="dcterms:W3CDTF">2026-03-23T12:41:13Z</dcterms:modified>
</cp:coreProperties>
</file>